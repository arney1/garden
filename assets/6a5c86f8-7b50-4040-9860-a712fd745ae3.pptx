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0"/>
    <p:sldId id="264" r:id="rId11"/>
    <p:sldId id="265"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latin typeface="Arial" panose="020B0604020202020204"/>
                <a:ea typeface="Arial" panose="020B0604020202020204"/>
                <a:cs typeface="Arial" panose="020B0604020202020204"/>
                <a:sym typeface="Arial" panose="020B0604020202020204"/>
              </a:rPr>
              <a:t>Halo=data that accumulates around people, devices, and organizations—data that’s robust, powerful, and continually</a:t>
            </a:r>
          </a:p>
          <a:p>
            <a:pPr marL="0" lvl="0" indent="0" algn="l" rtl="0">
              <a:spcBef>
                <a:spcPts val="0"/>
              </a:spcBef>
              <a:spcAft>
                <a:spcPts val="0"/>
              </a:spcAft>
              <a:buNone/>
            </a:pPr>
            <a:r>
              <a:rPr lang="en-US" sz="1200" b="0" i="0" u="none" strike="noStrike">
                <a:latin typeface="Arial" panose="020B0604020202020204"/>
                <a:ea typeface="Arial" panose="020B0604020202020204"/>
                <a:cs typeface="Arial" panose="020B0604020202020204"/>
                <a:sym typeface="Arial" panose="020B0604020202020204"/>
              </a:rPr>
              <a:t>growing in richness and complexity</a:t>
            </a:r>
          </a:p>
        </p:txBody>
      </p:sp>
      <p:sp>
        <p:nvSpPr>
          <p:cNvPr id="105" name="Google Shape;105;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9"/>
          <p:cNvSpPr>
            <a:spLocks noGrp="1"/>
          </p:cNvSpPr>
          <p:nvPr>
            <p:ph type="pic" idx="2"/>
          </p:nvPr>
        </p:nvSpPr>
        <p:spPr>
          <a:xfrm>
            <a:off x="1792288" y="612775"/>
            <a:ext cx="5486400" cy="4114800"/>
          </a:xfrm>
          <a:prstGeom prst="rect">
            <a:avLst/>
          </a:prstGeom>
          <a:noFill/>
          <a:ln>
            <a:noFill/>
          </a:ln>
        </p:spPr>
      </p:sp>
      <p:sp>
        <p:nvSpPr>
          <p:cNvPr id="68" name="Google Shape;68;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earchenterpriseai.techtarget.com/definition/IBM-Watson-supercomput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searchenterpriseai.techtarget.com/definition/neural-network" TargetMode="External"/><Relationship Id="rId4" Type="http://schemas.openxmlformats.org/officeDocument/2006/relationships/hyperlink" Target="https://searchenterpriseai.techtarget.com/definition/expert-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searchsqlserver.techtarget.com/definition/data-minin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searchbusinessanalytics.techtarget.com/definition/natural-language-processing-NLP"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Komputasi Kognitif</a:t>
            </a:r>
          </a:p>
        </p:txBody>
      </p:sp>
      <p:sp>
        <p:nvSpPr>
          <p:cNvPr id="89" name="Google Shape;89;p1"/>
          <p:cNvSpPr txBox="1">
            <a:spLocks noGrp="1"/>
          </p:cNvSpPr>
          <p:nvPr>
            <p:ph type="subTitle" idx="1"/>
          </p:nvPr>
        </p:nvSpPr>
        <p:spPr>
          <a:xfrm>
            <a:off x="1371600" y="3886200"/>
            <a:ext cx="6400800" cy="990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4400"/>
              <a:buNone/>
            </a:pPr>
            <a:r>
              <a:rPr lang="en-US" sz="4400"/>
              <a:t>21TI1002</a:t>
            </a:r>
            <a:endParaRPr sz="4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4000"/>
              <a:buFont typeface="Calibri" panose="020F0502020204030204"/>
              <a:buNone/>
            </a:pPr>
            <a:r>
              <a:rPr lang="en-US" sz="4000">
                <a:solidFill>
                  <a:srgbClr val="FF0000"/>
                </a:solidFill>
              </a:rPr>
              <a:t>What is Cognitive computing</a:t>
            </a:r>
            <a:endParaRPr sz="4000">
              <a:solidFill>
                <a:srgbClr val="FF0000"/>
              </a:solidFill>
            </a:endParaRPr>
          </a:p>
        </p:txBody>
      </p:sp>
      <p:sp>
        <p:nvSpPr>
          <p:cNvPr id="95" name="Google Shape;95;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Cognitive computing is the use of computerized models to simulate the human thought process in complex situations where the answers may be </a:t>
            </a:r>
            <a:r>
              <a:rPr lang="en-US">
                <a:solidFill>
                  <a:srgbClr val="FF0000"/>
                </a:solidFill>
              </a:rPr>
              <a:t>ambiguous and uncertain</a:t>
            </a:r>
            <a:r>
              <a:rPr lang="en-US"/>
              <a:t>. </a:t>
            </a:r>
          </a:p>
          <a:p>
            <a:pPr marL="342900" lvl="0" indent="-342900" algn="l" rtl="0">
              <a:spcBef>
                <a:spcPts val="590"/>
              </a:spcBef>
              <a:spcAft>
                <a:spcPts val="0"/>
              </a:spcAft>
              <a:buClr>
                <a:schemeClr val="dk1"/>
              </a:buClr>
              <a:buSzPct val="100000"/>
              <a:buChar char="•"/>
            </a:pPr>
            <a:r>
              <a:rPr lang="en-US"/>
              <a:t>The phrase is closely associated with IBM's cognitive computer system, </a:t>
            </a:r>
            <a:r>
              <a:rPr lang="en-US" u="sng">
                <a:solidFill>
                  <a:schemeClr val="hlink"/>
                </a:solidFill>
                <a:hlinkClick r:id="rId3"/>
              </a:rPr>
              <a:t>Watson</a:t>
            </a:r>
            <a:r>
              <a:rPr lang="en-US"/>
              <a:t>. </a:t>
            </a:r>
          </a:p>
          <a:p>
            <a:pPr marL="342900" lvl="0" indent="-342900" algn="l" rtl="0">
              <a:spcBef>
                <a:spcPts val="590"/>
              </a:spcBef>
              <a:spcAft>
                <a:spcPts val="0"/>
              </a:spcAft>
              <a:buClr>
                <a:schemeClr val="dk1"/>
              </a:buClr>
              <a:buSzPct val="100000"/>
              <a:buChar char="•"/>
            </a:pPr>
            <a:r>
              <a:rPr lang="en-US"/>
              <a:t>Cognitive computing overlaps with AI and involves many of the same underlying technologies to power cognitive applications, including </a:t>
            </a:r>
            <a:r>
              <a:rPr lang="en-US" u="sng">
                <a:solidFill>
                  <a:schemeClr val="hlink"/>
                </a:solidFill>
                <a:hlinkClick r:id="rId4"/>
              </a:rPr>
              <a:t>expert systems</a:t>
            </a:r>
            <a:r>
              <a:rPr lang="en-US"/>
              <a:t>, </a:t>
            </a:r>
            <a:r>
              <a:rPr lang="en-US" u="sng">
                <a:solidFill>
                  <a:schemeClr val="hlink"/>
                </a:solidFill>
                <a:hlinkClick r:id="rId5"/>
              </a:rPr>
              <a:t>neural networks</a:t>
            </a:r>
            <a:r>
              <a:rPr lang="en-US"/>
              <a:t>, robotics and virtual reality (VR).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ts val="4400"/>
              <a:buFont typeface="Calibri" panose="020F0502020204030204"/>
              <a:buNone/>
            </a:pPr>
            <a:r>
              <a:rPr lang="en-US" b="1">
                <a:solidFill>
                  <a:srgbClr val="FF0000"/>
                </a:solidFill>
              </a:rPr>
              <a:t>How cognitive computing works</a:t>
            </a:r>
          </a:p>
        </p:txBody>
      </p:sp>
      <p:sp>
        <p:nvSpPr>
          <p:cNvPr id="101" name="Google Shape;10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Cognitive computing systems can </a:t>
            </a:r>
            <a:r>
              <a:rPr lang="en-US">
                <a:solidFill>
                  <a:srgbClr val="FF0000"/>
                </a:solidFill>
              </a:rPr>
              <a:t>synthesize data </a:t>
            </a:r>
            <a:r>
              <a:rPr lang="en-US"/>
              <a:t>from various information sources, while weighing context and conflicting evidence to suggest the </a:t>
            </a:r>
            <a:r>
              <a:rPr lang="en-US">
                <a:solidFill>
                  <a:srgbClr val="FF0000"/>
                </a:solidFill>
              </a:rPr>
              <a:t>best possible answers</a:t>
            </a:r>
            <a:r>
              <a:rPr lang="en-US"/>
              <a:t>. </a:t>
            </a:r>
          </a:p>
          <a:p>
            <a:pPr marL="342900" lvl="0" indent="-342900" algn="l" rtl="0">
              <a:spcBef>
                <a:spcPts val="590"/>
              </a:spcBef>
              <a:spcAft>
                <a:spcPts val="0"/>
              </a:spcAft>
              <a:buClr>
                <a:schemeClr val="dk1"/>
              </a:buClr>
              <a:buSzPct val="100000"/>
              <a:buChar char="•"/>
            </a:pPr>
            <a:r>
              <a:rPr lang="en-US"/>
              <a:t>To achieve this, cognitive systems include self-learning technologies that use </a:t>
            </a:r>
            <a:r>
              <a:rPr lang="en-US" u="sng">
                <a:solidFill>
                  <a:schemeClr val="hlink"/>
                </a:solidFill>
                <a:hlinkClick r:id="rId3"/>
              </a:rPr>
              <a:t>data mining</a:t>
            </a:r>
            <a:r>
              <a:rPr lang="en-US"/>
              <a:t>, pattern recognition and natural language processing (</a:t>
            </a:r>
            <a:r>
              <a:rPr lang="en-US" u="sng">
                <a:solidFill>
                  <a:schemeClr val="hlink"/>
                </a:solidFill>
                <a:hlinkClick r:id="rId4"/>
              </a:rPr>
              <a:t>NLP</a:t>
            </a:r>
            <a:r>
              <a:rPr lang="en-US"/>
              <a:t>) to mimic the way the human brain works.</a:t>
            </a:r>
          </a:p>
          <a:p>
            <a:pPr marL="0" lvl="0" indent="0" algn="l" rtl="0">
              <a:spcBef>
                <a:spcPts val="405"/>
              </a:spcBef>
              <a:spcAft>
                <a:spcPts val="0"/>
              </a:spcAft>
              <a:buClr>
                <a:schemeClr val="dk1"/>
              </a:buClr>
              <a:buSzPct val="100000"/>
              <a:buNone/>
            </a:pPr>
            <a:r>
              <a:rPr lang="en-US" sz="2200"/>
              <a:t>https://searchenterpriseai.techtarget.com/definition/cognitive-computing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New Facts?</a:t>
            </a:r>
          </a:p>
        </p:txBody>
      </p:sp>
      <p:sp>
        <p:nvSpPr>
          <p:cNvPr id="108" name="Google Shape;108;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Internet</a:t>
            </a:r>
          </a:p>
          <a:p>
            <a:pPr marL="342900" lvl="0" indent="-342900" algn="l" rtl="0">
              <a:spcBef>
                <a:spcPts val="640"/>
              </a:spcBef>
              <a:spcAft>
                <a:spcPts val="0"/>
              </a:spcAft>
              <a:buClr>
                <a:schemeClr val="dk1"/>
              </a:buClr>
              <a:buSzPts val="3200"/>
              <a:buChar char="•"/>
            </a:pPr>
            <a:r>
              <a:rPr lang="en-US"/>
              <a:t>The world became smaller</a:t>
            </a:r>
          </a:p>
          <a:p>
            <a:pPr marL="342900" lvl="0" indent="-342900" algn="l" rtl="0">
              <a:spcBef>
                <a:spcPts val="640"/>
              </a:spcBef>
              <a:spcAft>
                <a:spcPts val="0"/>
              </a:spcAft>
              <a:buClr>
                <a:schemeClr val="dk1"/>
              </a:buClr>
              <a:buSzPts val="3200"/>
              <a:buChar char="•"/>
            </a:pPr>
            <a:r>
              <a:rPr lang="en-US"/>
              <a:t>The power of Google/Smart Googling</a:t>
            </a:r>
          </a:p>
          <a:p>
            <a:pPr marL="342900" lvl="0" indent="-342900" algn="l" rtl="0">
              <a:spcBef>
                <a:spcPts val="640"/>
              </a:spcBef>
              <a:spcAft>
                <a:spcPts val="0"/>
              </a:spcAft>
              <a:buClr>
                <a:schemeClr val="dk1"/>
              </a:buClr>
              <a:buSzPts val="3200"/>
              <a:buChar char="•"/>
            </a:pPr>
            <a:r>
              <a:rPr lang="en-US"/>
              <a:t>Code Halos</a:t>
            </a:r>
          </a:p>
          <a:p>
            <a:pPr marL="342900" lvl="0" indent="-342900" algn="l" rtl="0">
              <a:spcBef>
                <a:spcPts val="640"/>
              </a:spcBef>
              <a:spcAft>
                <a:spcPts val="0"/>
              </a:spcAft>
              <a:buClr>
                <a:schemeClr val="dk1"/>
              </a:buClr>
              <a:buSzPts val="3200"/>
              <a:buChar char="•"/>
            </a:pPr>
            <a:r>
              <a:rPr lang="en-US"/>
              <a:t>Social Media</a:t>
            </a:r>
          </a:p>
          <a:p>
            <a:pPr marL="342900" lvl="0" indent="-342900" algn="l" rtl="0">
              <a:spcBef>
                <a:spcPts val="640"/>
              </a:spcBef>
              <a:spcAft>
                <a:spcPts val="0"/>
              </a:spcAft>
              <a:buClr>
                <a:schemeClr val="dk1"/>
              </a:buClr>
              <a:buSzPts val="3200"/>
              <a:buChar char="•"/>
            </a:pPr>
            <a:r>
              <a:rPr lang="en-US"/>
              <a:t>New/obsolete Job</a:t>
            </a:r>
          </a:p>
          <a:p>
            <a:pPr marL="342900" lvl="0" indent="-342900" algn="l" rtl="0">
              <a:spcBef>
                <a:spcPts val="640"/>
              </a:spcBef>
              <a:spcAft>
                <a:spcPts val="0"/>
              </a:spcAft>
              <a:buClr>
                <a:schemeClr val="dk1"/>
              </a:buClr>
              <a:buSzPts val="3200"/>
              <a:buChar char="•"/>
            </a:pPr>
            <a:r>
              <a:rPr lang="en-US"/>
              <a:t>SMAC[Social; Mobile; Analytics; Cloud]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Smac </a:t>
            </a:r>
          </a:p>
        </p:txBody>
      </p:sp>
      <p:sp>
        <p:nvSpPr>
          <p:cNvPr id="114" name="Google Shape;114;p5"/>
          <p:cNvSpPr txBox="1">
            <a:spLocks noGrp="1"/>
          </p:cNvSpPr>
          <p:nvPr>
            <p:ph type="body" idx="1"/>
          </p:nvPr>
        </p:nvSpPr>
        <p:spPr>
          <a:xfrm>
            <a:off x="457200" y="1165950"/>
            <a:ext cx="8392886" cy="5093336"/>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b="1" dirty="0">
                <a:latin typeface="Arial" panose="020B0604020202020204"/>
                <a:ea typeface="Arial" panose="020B0604020202020204"/>
                <a:cs typeface="Arial" panose="020B0604020202020204"/>
                <a:sym typeface="Arial" panose="020B0604020202020204"/>
              </a:rPr>
              <a:t>Social technologies: </a:t>
            </a:r>
            <a:r>
              <a:rPr lang="en-US" dirty="0">
                <a:latin typeface="Arial" panose="020B0604020202020204"/>
                <a:ea typeface="Arial" panose="020B0604020202020204"/>
                <a:cs typeface="Arial" panose="020B0604020202020204"/>
                <a:sym typeface="Arial" panose="020B0604020202020204"/>
              </a:rPr>
              <a:t>Blogs, wikis, email, instant messaging, social network services, and software applications that foster and facilitate interpersonal communications, both personal and business.</a:t>
            </a:r>
          </a:p>
          <a:p>
            <a:pPr marL="342900" lvl="0" indent="-342900" algn="l" rtl="0">
              <a:spcBef>
                <a:spcPts val="400"/>
              </a:spcBef>
              <a:spcAft>
                <a:spcPts val="0"/>
              </a:spcAft>
              <a:buClr>
                <a:schemeClr val="dk1"/>
              </a:buClr>
              <a:buSzPct val="100000"/>
              <a:buChar char="•"/>
            </a:pPr>
            <a:r>
              <a:rPr lang="en-US" b="1" dirty="0">
                <a:latin typeface="Arial" panose="020B0604020202020204"/>
                <a:ea typeface="Arial" panose="020B0604020202020204"/>
                <a:cs typeface="Arial" panose="020B0604020202020204"/>
                <a:sym typeface="Arial" panose="020B0604020202020204"/>
              </a:rPr>
              <a:t>Mobile technologies: </a:t>
            </a:r>
            <a:r>
              <a:rPr lang="en-US" dirty="0">
                <a:latin typeface="Arial" panose="020B0604020202020204"/>
                <a:ea typeface="Arial" panose="020B0604020202020204"/>
                <a:cs typeface="Arial" panose="020B0604020202020204"/>
                <a:sym typeface="Arial" panose="020B0604020202020204"/>
              </a:rPr>
              <a:t>From portable hardware devices—such as smartphones, tablets, wearables, personal digital assistants (PDAs), and global positioning systems (GPS)—to the software, applications, and networks that support and enable robust anywhere/anytime connectivity.</a:t>
            </a:r>
          </a:p>
          <a:p>
            <a:pPr marL="342900" lvl="0" indent="-342900" algn="l" rtl="0">
              <a:spcBef>
                <a:spcPts val="400"/>
              </a:spcBef>
              <a:spcAft>
                <a:spcPts val="0"/>
              </a:spcAft>
              <a:buClr>
                <a:schemeClr val="dk1"/>
              </a:buClr>
              <a:buSzPct val="100000"/>
              <a:buChar char="•"/>
            </a:pPr>
            <a:r>
              <a:rPr lang="en-US" b="1" dirty="0">
                <a:latin typeface="Arial" panose="020B0604020202020204"/>
                <a:ea typeface="Arial" panose="020B0604020202020204"/>
                <a:cs typeface="Arial" panose="020B0604020202020204"/>
                <a:sym typeface="Arial" panose="020B0604020202020204"/>
              </a:rPr>
              <a:t>Analytics technologies: </a:t>
            </a:r>
            <a:r>
              <a:rPr lang="en-US" dirty="0">
                <a:latin typeface="Arial" panose="020B0604020202020204"/>
                <a:ea typeface="Arial" panose="020B0604020202020204"/>
                <a:cs typeface="Arial" panose="020B0604020202020204"/>
                <a:sym typeface="Arial" panose="020B0604020202020204"/>
              </a:rPr>
              <a:t>These provide new levels of empiricism and insight by establishing a software supply chain of collecting, organizing, managing, measuring, analyzing, and reporting large amounts of disparate data on an ongoing basis.</a:t>
            </a:r>
          </a:p>
          <a:p>
            <a:pPr marL="342900" lvl="0" indent="-342900" algn="l" rtl="0">
              <a:spcBef>
                <a:spcPts val="400"/>
              </a:spcBef>
              <a:spcAft>
                <a:spcPts val="0"/>
              </a:spcAft>
              <a:buClr>
                <a:schemeClr val="dk1"/>
              </a:buClr>
              <a:buSzPct val="100000"/>
              <a:buChar char="•"/>
            </a:pPr>
            <a:r>
              <a:rPr lang="en-US" b="1" dirty="0">
                <a:latin typeface="Arial" panose="020B0604020202020204"/>
                <a:ea typeface="Arial" panose="020B0604020202020204"/>
                <a:cs typeface="Arial" panose="020B0604020202020204"/>
                <a:sym typeface="Arial" panose="020B0604020202020204"/>
              </a:rPr>
              <a:t>Cloud computing: </a:t>
            </a:r>
            <a:r>
              <a:rPr lang="en-US" dirty="0">
                <a:latin typeface="Arial" panose="020B0604020202020204"/>
                <a:ea typeface="Arial" panose="020B0604020202020204"/>
                <a:cs typeface="Arial" panose="020B0604020202020204"/>
                <a:sym typeface="Arial" panose="020B0604020202020204"/>
              </a:rPr>
              <a:t>This allows remotely based computing resources—such as servers, databases, and applications—to be delivered via the Internet (instead of being owned and hosted internally), allowing for flexibility of resources and, in many cases, much lower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u="sng"/>
              <a:t>Be aware</a:t>
            </a:r>
            <a:endParaRPr u="sng"/>
          </a:p>
        </p:txBody>
      </p:sp>
      <p:sp>
        <p:nvSpPr>
          <p:cNvPr id="120" name="Google Shape;120;p6"/>
          <p:cNvSpPr txBox="1">
            <a:spLocks noGrp="1"/>
          </p:cNvSpPr>
          <p:nvPr>
            <p:ph type="body" idx="1"/>
          </p:nvPr>
        </p:nvSpPr>
        <p:spPr>
          <a:xfrm>
            <a:off x="457200" y="1600201"/>
            <a:ext cx="8229600" cy="4343400"/>
          </a:xfrm>
          <a:prstGeom prst="rect">
            <a:avLst/>
          </a:prstGeom>
          <a:noFill/>
          <a:ln>
            <a:noFill/>
          </a:ln>
        </p:spPr>
        <p:txBody>
          <a:bodyPr spcFirstLastPara="1" wrap="square" lIns="91425" tIns="45700" rIns="91425" bIns="45700" anchor="t" anchorCtr="0">
            <a:noAutofit/>
          </a:bodyPr>
          <a:lstStyle/>
          <a:p>
            <a:pPr marL="457200" lvl="0" indent="-457200" algn="l" rtl="0">
              <a:lnSpc>
                <a:spcPct val="150000"/>
              </a:lnSpc>
              <a:spcBef>
                <a:spcPts val="0"/>
              </a:spcBef>
              <a:spcAft>
                <a:spcPts val="0"/>
              </a:spcAft>
              <a:buClr>
                <a:schemeClr val="dk1"/>
              </a:buClr>
              <a:buSzPts val="32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Formal education is great. Self-education is better.</a:t>
            </a:r>
          </a:p>
          <a:p>
            <a:pPr marL="457200" lvl="0" indent="-457200" algn="l" rtl="0">
              <a:lnSpc>
                <a:spcPct val="150000"/>
              </a:lnSpc>
              <a:spcBef>
                <a:spcPts val="0"/>
              </a:spcBef>
              <a:spcAft>
                <a:spcPts val="0"/>
              </a:spcAft>
              <a:buClr>
                <a:schemeClr val="dk1"/>
              </a:buClr>
              <a:buSzPts val="32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Good tools are important. Knowing what tool is right for the job is more so.</a:t>
            </a:r>
          </a:p>
          <a:p>
            <a:pPr marL="457200" lvl="0" indent="-457200" algn="l" rtl="0">
              <a:lnSpc>
                <a:spcPct val="150000"/>
              </a:lnSpc>
              <a:spcBef>
                <a:spcPts val="0"/>
              </a:spcBef>
              <a:spcAft>
                <a:spcPts val="0"/>
              </a:spcAft>
              <a:buClr>
                <a:schemeClr val="dk1"/>
              </a:buClr>
              <a:buSzPts val="32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“Just because you can, doesn’t mean you should.”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Be aware</a:t>
            </a:r>
            <a:endParaRPr b="1">
              <a:latin typeface="Palatino"/>
              <a:ea typeface="Palatino"/>
              <a:cs typeface="Palatino"/>
              <a:sym typeface="Palatino"/>
            </a:endParaRPr>
          </a:p>
        </p:txBody>
      </p:sp>
      <p:sp>
        <p:nvSpPr>
          <p:cNvPr id="126" name="Google Shape;126;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457200" algn="l" rtl="0">
              <a:lnSpc>
                <a:spcPct val="150000"/>
              </a:lnSpc>
              <a:spcBef>
                <a:spcPts val="0"/>
              </a:spcBef>
              <a:spcAft>
                <a:spcPts val="0"/>
              </a:spcAft>
              <a:buClr>
                <a:srgbClr val="000000"/>
              </a:buClr>
              <a:buSzPts val="3200"/>
              <a:buChar char="•"/>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Knowing a little bit about almost everything is good. Knowing almost everything about a little bit is better.</a:t>
            </a:r>
            <a:endParaRPr>
              <a:solidFill>
                <a:srgbClr val="000000"/>
              </a:solidFill>
            </a:endParaRPr>
          </a:p>
          <a:p>
            <a:pPr marL="457200" lvl="0" indent="-457200" algn="l" rtl="0">
              <a:lnSpc>
                <a:spcPct val="150000"/>
              </a:lnSpc>
              <a:spcBef>
                <a:spcPts val="0"/>
              </a:spcBef>
              <a:spcAft>
                <a:spcPts val="0"/>
              </a:spcAft>
              <a:buClr>
                <a:srgbClr val="000000"/>
              </a:buClr>
              <a:buSzPts val="3200"/>
              <a:buChar char="•"/>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Learning is good. Sharing what you learn is better.</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panose="020F0502020204030204"/>
              <a:buNone/>
            </a:pPr>
            <a:r>
              <a:rPr lang="en-US"/>
              <a:t>Be aware</a:t>
            </a:r>
            <a:endParaRPr b="1">
              <a:latin typeface="Palatino"/>
              <a:ea typeface="Palatino"/>
              <a:cs typeface="Palatino"/>
              <a:sym typeface="Palatino"/>
            </a:endParaRPr>
          </a:p>
        </p:txBody>
      </p:sp>
      <p:sp>
        <p:nvSpPr>
          <p:cNvPr id="132" name="Google Shape;132;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rgbClr val="000000"/>
              </a:buClr>
              <a:buSzPts val="3200"/>
              <a:buChar char="•"/>
            </a:pPr>
            <a:r>
              <a:rPr lang="en-US">
                <a:solidFill>
                  <a:srgbClr val="000000"/>
                </a:solidFill>
                <a:latin typeface="Times New Roman" panose="02020603050405020304"/>
                <a:ea typeface="Times New Roman" panose="02020603050405020304"/>
                <a:cs typeface="Times New Roman" panose="02020603050405020304"/>
                <a:sym typeface="Times New Roman" panose="02020603050405020304"/>
              </a:rPr>
              <a:t>Becoming better is good. Making others better with you is best.</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take home</a:t>
            </a:r>
          </a:p>
        </p:txBody>
      </p:sp>
      <p:sp>
        <p:nvSpPr>
          <p:cNvPr id="3" name="Text Placeholder 2"/>
          <p:cNvSpPr>
            <a:spLocks noGrp="1"/>
          </p:cNvSpPr>
          <p:nvPr>
            <p:ph type="body" idx="1"/>
          </p:nvPr>
        </p:nvSpPr>
        <p:spPr/>
        <p:txBody>
          <a:bodyPr/>
          <a:lstStyle/>
          <a:p>
            <a:r>
              <a:rPr lang="en-US" dirty="0"/>
              <a:t>Read MP example over and over again until you get the whole idea behind it </a:t>
            </a:r>
          </a:p>
          <a:p>
            <a:r>
              <a:rPr lang="en-US" dirty="0"/>
              <a:t>Write and rewrite your MP until you express your idea as you want it to be</a:t>
            </a:r>
          </a:p>
          <a:p>
            <a:r>
              <a:rPr lang="en-US" dirty="0"/>
              <a:t>Do your assignment because it is good for you not because I told you so  </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Next week</a:t>
            </a:r>
            <a:br>
              <a:rPr lang="en-US"/>
            </a:br>
            <a:endParaRPr lang="en-US"/>
          </a:p>
        </p:txBody>
      </p:sp>
      <p:sp>
        <p:nvSpPr>
          <p:cNvPr id="138" name="Google Shape;138;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000000"/>
              </a:buClr>
              <a:buSzPts val="4000"/>
              <a:buChar char="•"/>
            </a:pPr>
            <a:r>
              <a:rPr lang="en-US" sz="4000">
                <a:solidFill>
                  <a:srgbClr val="000000"/>
                </a:solidFill>
              </a:rPr>
              <a:t>The Foundation of Cognitive Computing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2"/>
          </p:nvPr>
        </p:nvPicPr>
        <p:blipFill>
          <a:blip r:embed="rId2"/>
          <a:stretch>
            <a:fillRect/>
          </a:stretch>
        </p:blipFill>
        <p:spPr>
          <a:xfrm>
            <a:off x="955040" y="694690"/>
            <a:ext cx="7233920" cy="54686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521</Words>
  <Application>Microsoft Office PowerPoint</Application>
  <PresentationFormat>On-screen Show (4:3)</PresentationFormat>
  <Paragraphs>41</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Noto Sans Symbols</vt:lpstr>
      <vt:lpstr>Palatino</vt:lpstr>
      <vt:lpstr>Arial</vt:lpstr>
      <vt:lpstr>Calibri</vt:lpstr>
      <vt:lpstr>Times New Roman</vt:lpstr>
      <vt:lpstr>Office Theme</vt:lpstr>
      <vt:lpstr>Komputasi Kognitif</vt:lpstr>
      <vt:lpstr>What is Cognitive computing</vt:lpstr>
      <vt:lpstr>How cognitive computing works</vt:lpstr>
      <vt:lpstr>New Facts?</vt:lpstr>
      <vt:lpstr>Smac </vt:lpstr>
      <vt:lpstr>Be aware</vt:lpstr>
      <vt:lpstr>Be aware</vt:lpstr>
      <vt:lpstr>Be aware</vt:lpstr>
      <vt:lpstr>To take home</vt:lpstr>
      <vt:lpstr>Next week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Komputasi Kognitif</dc:title>
  <dc:creator>Windows User</dc:creator>
  <cp:lastModifiedBy>Jonner H</cp:lastModifiedBy>
  <cp:revision>4</cp:revision>
  <dcterms:created xsi:type="dcterms:W3CDTF">2024-08-20T01:26:00Z</dcterms:created>
  <dcterms:modified xsi:type="dcterms:W3CDTF">2024-08-21T06:01:00Z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4C642312A0C64B8C81D6BF21E05ABD74_12</vt:lpwstr>
  </property>
  <property fmtid="{D5CDD505-2E9C-101B-9397-08002B2CF9AE}" pid="3" name="KSOProductBuildVer">
    <vt:lpwstr>1033-12.2.0.17562</vt:lpwstr>
  </property>
</Properties>
</file>