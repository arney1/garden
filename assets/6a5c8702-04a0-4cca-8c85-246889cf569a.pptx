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336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15" r:id="rId12"/>
    <p:sldId id="316" r:id="rId13"/>
    <p:sldId id="318" r:id="rId14"/>
    <p:sldId id="330" r:id="rId15"/>
    <p:sldId id="331" r:id="rId16"/>
    <p:sldId id="319" r:id="rId17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U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6784"/>
    <a:srgbClr val="000099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1672B1-5662-40FD-9707-716F4A2E88BE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E1FFB-2F97-479A-B3EE-1B9A5670EF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54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2F9D2-2C30-4100-B8C3-13890B077F2A}" type="datetimeFigureOut">
              <a:rPr lang="id-ID" smtClean="0"/>
              <a:pPr/>
              <a:t>13/08/2024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2D3824-7A03-4E4A-9660-9C0ACA8575F7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62973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7357-9660-463C-B635-98D560B12606}" type="datetime4">
              <a:rPr lang="en-US" smtClean="0"/>
              <a:pPr/>
              <a:t>August 13, 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Kalkulus 1 (MUH1B3)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88055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8C19F-0C23-4EAF-97B0-A3CFDCF85781}" type="datetime4">
              <a:rPr lang="en-US" smtClean="0"/>
              <a:pPr/>
              <a:t>August 13, 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Kalkulus 1 (MUH1B3)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53996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53160-EE06-4E74-A9CF-19BAA5DD49E5}" type="datetime4">
              <a:rPr lang="en-US" smtClean="0"/>
              <a:pPr/>
              <a:t>August 13, 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Kalkulus 1 (MUH1B3)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13587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7B9B3-4471-48DF-875F-AD5C3E76D7C8}" type="datetime4">
              <a:rPr lang="en-US" smtClean="0"/>
              <a:pPr/>
              <a:t>August 13, 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Kalkulus 1 (MUH1B3)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72459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E1EEB-C7D1-411E-AACF-FCB74804CD44}" type="datetime4">
              <a:rPr lang="en-US" smtClean="0"/>
              <a:pPr/>
              <a:t>August 13, 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Kalkulus 1 (MUH1B3)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1925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66D92-BBAD-4EC0-B4E2-5F569BBA8A46}" type="datetime4">
              <a:rPr lang="en-US" smtClean="0"/>
              <a:pPr/>
              <a:t>August 13, 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Kalkulus 1 (MUH1B3)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05338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55017-A9A8-467A-B4B2-A8A5A845F01B}" type="datetime4">
              <a:rPr lang="en-US" smtClean="0"/>
              <a:pPr/>
              <a:t>August 13, 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Kalkulus 1 (MUH1B3)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01121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53015-EC28-4664-A718-A5852E378D38}" type="datetime4">
              <a:rPr lang="en-US" smtClean="0"/>
              <a:pPr/>
              <a:t>August 13, 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Kalkulus 1 (MUH1B3)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03185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80E59-F7FA-471A-8D7E-9E15AD9721A2}" type="datetime4">
              <a:rPr lang="en-US" smtClean="0"/>
              <a:pPr/>
              <a:t>August 13, 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Kalkulus 1 (MUH1B3)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21623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36A3-B88C-4CC2-AEA6-B1A0DAB794DD}" type="datetime4">
              <a:rPr lang="en-US" smtClean="0"/>
              <a:pPr/>
              <a:t>August 13, 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Kalkulus 1 (MUH1B3)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8286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1D66-B63E-4972-83D8-5C1C7AAA3A76}" type="datetime4">
              <a:rPr lang="en-US" smtClean="0"/>
              <a:pPr/>
              <a:t>August 13, 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Kalkulus 1 (MUH1B3)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2726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81337-47D4-4669-AB84-33562C01EEA4}" type="datetime4">
              <a:rPr lang="en-US" smtClean="0"/>
              <a:pPr/>
              <a:t>August 13, 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d-ID"/>
              <a:t>Kalkulus 1 (MUH1B3)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16C44-F711-40D8-933D-5408AFB57C57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1546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openstax.org/details/books/calculus-volume-1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648072" y="1447800"/>
            <a:ext cx="849592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1591816"/>
            <a:ext cx="845941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9144000" cy="12954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52400"/>
            <a:ext cx="4700016" cy="914400"/>
          </a:xfrm>
          <a:prstGeom prst="rect">
            <a:avLst/>
          </a:prstGeom>
        </p:spPr>
      </p:pic>
      <p:sp>
        <p:nvSpPr>
          <p:cNvPr id="14" name="Snip Diagonal Corner Rectangle 13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nip Diagonal Corner Rectangle 14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matematik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2209800"/>
            <a:ext cx="4152900" cy="4152900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0" y="2895600"/>
            <a:ext cx="4824536" cy="2175223"/>
          </a:xfr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>
            <a:noAutofit/>
          </a:bodyPr>
          <a:lstStyle/>
          <a:p>
            <a:br>
              <a:rPr lang="en-US" sz="1600" b="1" dirty="0">
                <a:solidFill>
                  <a:prstClr val="black"/>
                </a:solidFill>
              </a:rPr>
            </a:br>
            <a:r>
              <a:rPr lang="en-US" sz="1600" b="1" dirty="0" err="1">
                <a:solidFill>
                  <a:prstClr val="black"/>
                </a:solidFill>
              </a:rPr>
              <a:t>Jurusan</a:t>
            </a:r>
            <a:r>
              <a:rPr lang="en-US" sz="1600" b="1" dirty="0">
                <a:solidFill>
                  <a:prstClr val="black"/>
                </a:solidFill>
              </a:rPr>
              <a:t> </a:t>
            </a:r>
            <a:r>
              <a:rPr lang="en-US" sz="1600" b="1" dirty="0" err="1">
                <a:solidFill>
                  <a:prstClr val="black"/>
                </a:solidFill>
              </a:rPr>
              <a:t>Teknik</a:t>
            </a:r>
            <a:r>
              <a:rPr lang="en-US" sz="1600" b="1" dirty="0">
                <a:solidFill>
                  <a:prstClr val="black"/>
                </a:solidFill>
              </a:rPr>
              <a:t> </a:t>
            </a:r>
            <a:r>
              <a:rPr lang="en-US" sz="1600" b="1" dirty="0" err="1">
                <a:solidFill>
                  <a:prstClr val="black"/>
                </a:solidFill>
              </a:rPr>
              <a:t>Komputer</a:t>
            </a:r>
            <a:r>
              <a:rPr lang="en-US" sz="1600" b="1" dirty="0">
                <a:solidFill>
                  <a:prstClr val="black"/>
                </a:solidFill>
              </a:rPr>
              <a:t> </a:t>
            </a:r>
            <a:r>
              <a:rPr lang="en-US" sz="1600" b="1" dirty="0" err="1">
                <a:solidFill>
                  <a:prstClr val="black"/>
                </a:solidFill>
              </a:rPr>
              <a:t>dan</a:t>
            </a:r>
            <a:r>
              <a:rPr lang="en-US" sz="1600" b="1" dirty="0">
                <a:solidFill>
                  <a:prstClr val="black"/>
                </a:solidFill>
              </a:rPr>
              <a:t> </a:t>
            </a:r>
            <a:r>
              <a:rPr lang="en-US" sz="1600" b="1" dirty="0" err="1">
                <a:solidFill>
                  <a:prstClr val="black"/>
                </a:solidFill>
              </a:rPr>
              <a:t>Informatika</a:t>
            </a:r>
            <a:br>
              <a:rPr lang="en-US" sz="1600" b="1" dirty="0">
                <a:solidFill>
                  <a:prstClr val="black"/>
                </a:solidFill>
              </a:rPr>
            </a:br>
            <a:r>
              <a:rPr lang="en-US" sz="1600" dirty="0">
                <a:solidFill>
                  <a:prstClr val="black"/>
                </a:solidFill>
              </a:rPr>
              <a:t>(POLBAN)</a:t>
            </a:r>
            <a:endParaRPr lang="id-ID" sz="1600" dirty="0"/>
          </a:p>
        </p:txBody>
      </p:sp>
      <p:sp>
        <p:nvSpPr>
          <p:cNvPr id="19" name="Rectangle 18"/>
          <p:cNvSpPr/>
          <p:nvPr/>
        </p:nvSpPr>
        <p:spPr>
          <a:xfrm>
            <a:off x="0" y="2732782"/>
            <a:ext cx="5029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prstClr val="black"/>
                </a:solidFill>
              </a:rPr>
              <a:t>MATEMATIKA TERAPAN A</a:t>
            </a:r>
          </a:p>
          <a:p>
            <a:pPr algn="ctr"/>
            <a:r>
              <a:rPr lang="en-US" sz="3200" b="1" dirty="0">
                <a:solidFill>
                  <a:prstClr val="black"/>
                </a:solidFill>
              </a:rPr>
              <a:t>21KU1008</a:t>
            </a:r>
          </a:p>
        </p:txBody>
      </p:sp>
    </p:spTree>
    <p:extLst>
      <p:ext uri="{BB962C8B-B14F-4D97-AF65-F5344CB8AC3E}">
        <p14:creationId xmlns:p14="http://schemas.microsoft.com/office/powerpoint/2010/main" val="1820814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11AB3285-9D73-49FE-A2EF-4B02943EC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3300" y="457200"/>
            <a:ext cx="5105400" cy="1143000"/>
          </a:xfrm>
        </p:spPr>
        <p:txBody>
          <a:bodyPr>
            <a:normAutofit/>
          </a:bodyPr>
          <a:lstStyle/>
          <a:p>
            <a:pPr algn="r">
              <a:spcAft>
                <a:spcPts val="0"/>
              </a:spcAft>
            </a:pPr>
            <a:r>
              <a:rPr lang="id-ID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SILABUS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21KU1008</a:t>
            </a:r>
            <a:r>
              <a:rPr lang="id-ID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id-ID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MATEMATIKA TERAPAN 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b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id-ID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SEMESTER 1 202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id-ID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-202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id-ID" sz="2000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6F56689F-0CBD-4959-A719-C9153CC5F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lang="id-ID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Kredit: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SKS</a:t>
            </a:r>
            <a:endParaRPr lang="id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id-ID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Prasyarat: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Matematika SMA</a:t>
            </a:r>
            <a:r>
              <a:rPr lang="id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>
              <a:spcAft>
                <a:spcPts val="0"/>
              </a:spcAft>
              <a:buNone/>
            </a:pPr>
            <a:r>
              <a:rPr lang="id-ID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Pustaka Utama:</a:t>
            </a:r>
            <a:endParaRPr lang="id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  <a:buAutoNum type="arabicPeriod"/>
              <a:tabLst>
                <a:tab pos="215900" algn="l"/>
              </a:tabLst>
            </a:pP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Dale </a:t>
            </a:r>
            <a:r>
              <a:rPr lang="id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Varberg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Edwin </a:t>
            </a:r>
            <a:r>
              <a:rPr lang="id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Purcell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d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d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Steve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d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Rigdon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d-ID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Calculus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Pearson, 2007, 9</a:t>
            </a:r>
            <a:r>
              <a:rPr lang="id-ID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ed.</a:t>
            </a:r>
            <a:endParaRPr lang="id-ID" sz="1800" dirty="0"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Aft>
                <a:spcPts val="0"/>
              </a:spcAft>
              <a:buNone/>
              <a:tabLst>
                <a:tab pos="215900" algn="l"/>
              </a:tabLst>
            </a:pPr>
            <a:endParaRPr lang="id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id-ID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Pustaka Tambahan:</a:t>
            </a:r>
            <a:endParaRPr lang="id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DWINADA, Kalkulus, ITB </a:t>
            </a:r>
            <a:r>
              <a:rPr lang="id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Press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2019</a:t>
            </a:r>
            <a:endParaRPr lang="id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Herman, E.J., </a:t>
            </a:r>
            <a:r>
              <a:rPr lang="id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Strang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G., </a:t>
            </a:r>
            <a:r>
              <a:rPr lang="id-ID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Calculus</a:t>
            </a:r>
            <a:r>
              <a:rPr lang="id-ID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Vol. I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d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Openstax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2016, </a:t>
            </a:r>
            <a:r>
              <a:rPr lang="id-ID" sz="18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https://openstax.org/details/books/calculus-volume-1</a:t>
            </a:r>
            <a:endParaRPr lang="id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950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Joel R. </a:t>
            </a:r>
            <a:r>
              <a:rPr lang="id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Hass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Christopher E. </a:t>
            </a:r>
            <a:r>
              <a:rPr lang="id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Heil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d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Maurice D. </a:t>
            </a:r>
            <a:r>
              <a:rPr lang="id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Weir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d-ID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Thomas’ </a:t>
            </a:r>
            <a:r>
              <a:rPr lang="id-ID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Calculus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Pearson </a:t>
            </a:r>
            <a:r>
              <a:rPr lang="id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2018, 14</a:t>
            </a:r>
            <a:r>
              <a:rPr lang="id-ID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ed.</a:t>
            </a:r>
          </a:p>
          <a:p>
            <a:pPr lvl="0">
              <a:lnSpc>
                <a:spcPct val="95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id-ID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James </a:t>
            </a:r>
            <a:r>
              <a:rPr lang="id-ID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Stewart</a:t>
            </a:r>
            <a:r>
              <a:rPr lang="id-ID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d-ID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id-ID" sz="18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alculus</a:t>
            </a:r>
            <a:r>
              <a:rPr lang="id-ID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d-ID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Brooks</a:t>
            </a:r>
            <a:r>
              <a:rPr lang="id-ID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/Cole </a:t>
            </a:r>
            <a:r>
              <a:rPr lang="id-ID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Publishing</a:t>
            </a:r>
            <a:r>
              <a:rPr lang="id-ID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Company, 2016, 8</a:t>
            </a:r>
            <a:r>
              <a:rPr lang="id-ID" sz="18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id-ID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ed.</a:t>
            </a:r>
            <a:endParaRPr lang="id-ID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Picture 11" descr="jtk-header-v2.png">
            <a:extLst>
              <a:ext uri="{FF2B5EF4-FFF2-40B4-BE49-F238E27FC236}">
                <a16:creationId xmlns:a16="http://schemas.microsoft.com/office/drawing/2014/main" id="{B3914FC5-86E8-4EF3-BB3F-E9D850186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  <p:sp>
        <p:nvSpPr>
          <p:cNvPr id="17" name="Snip Diagonal Corner Rectangle 13">
            <a:extLst>
              <a:ext uri="{FF2B5EF4-FFF2-40B4-BE49-F238E27FC236}">
                <a16:creationId xmlns:a16="http://schemas.microsoft.com/office/drawing/2014/main" id="{7BFE3AE1-A9E7-4F79-9E6B-4579CEE9E8DE}"/>
              </a:ext>
            </a:extLst>
          </p:cNvPr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nip Diagonal Corner Rectangle 14">
            <a:extLst>
              <a:ext uri="{FF2B5EF4-FFF2-40B4-BE49-F238E27FC236}">
                <a16:creationId xmlns:a16="http://schemas.microsoft.com/office/drawing/2014/main" id="{AD19E1A8-B243-478E-A9BB-2275240973DB}"/>
              </a:ext>
            </a:extLst>
          </p:cNvPr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2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C7327D7-9564-4555-B962-D3118FA51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244" y="227013"/>
            <a:ext cx="5172456" cy="1143000"/>
          </a:xfrm>
        </p:spPr>
        <p:txBody>
          <a:bodyPr>
            <a:normAutofit/>
          </a:bodyPr>
          <a:lstStyle/>
          <a:p>
            <a:pPr algn="r"/>
            <a:r>
              <a:rPr lang="id-ID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Tujuan Instruksional Umum (TIU)</a:t>
            </a:r>
            <a:endParaRPr lang="id-ID" sz="2800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6193A79D-6B71-4C2E-B8B1-56CD27E3A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id-ID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Setelah mengikuti kuliah ini, mahasiswa diharapkan memiliki:</a:t>
            </a:r>
            <a:endParaRPr lang="id-ID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ts val="5"/>
              </a:lnSpc>
              <a:spcAft>
                <a:spcPts val="0"/>
              </a:spcAft>
              <a:buNone/>
            </a:pPr>
            <a:endParaRPr lang="id-ID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id-ID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Keterampilan teknis baku yang didukung oleh konsep, rumus, metode, dan penalaran yang sesuai;</a:t>
            </a:r>
            <a:endParaRPr lang="id-ID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id-ID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Pola berpikir yang kritis, logis dan sistematis; serta kreativitas dalam pemecahan masalah yang terkait dengan kalkulus;</a:t>
            </a:r>
            <a:endParaRPr lang="id-ID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id-ID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Kemampuan membaca dan menggunakan informasi secara mandiri dari sumber-sumber belajar, khususnya buku teks, untuk dapat menyelesaikan masalah-masalah terkait.</a:t>
            </a:r>
            <a:endParaRPr lang="id-ID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id-ID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Kemampuan mengkomunikasikan hasil pemikiran dan pekerjaannya baik secara lisan maupun tulisan;</a:t>
            </a:r>
          </a:p>
          <a:p>
            <a:pPr lvl="0">
              <a:buFont typeface="+mj-lt"/>
              <a:buAutoNum type="arabicPeriod"/>
              <a:tabLst>
                <a:tab pos="228600" algn="l"/>
              </a:tabLst>
            </a:pPr>
            <a:r>
              <a:rPr lang="id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Kesiapan untuk mempelajari </a:t>
            </a:r>
            <a:r>
              <a:rPr lang="id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matakuliah</a:t>
            </a:r>
            <a:r>
              <a:rPr lang="id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lain, yang memerlukan kalkulus sebagai prasyarat, secara mandiri.</a:t>
            </a:r>
            <a:endParaRPr lang="id-ID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id-ID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7" name="Picture 11" descr="jtk-header-v2.png">
            <a:extLst>
              <a:ext uri="{FF2B5EF4-FFF2-40B4-BE49-F238E27FC236}">
                <a16:creationId xmlns:a16="http://schemas.microsoft.com/office/drawing/2014/main" id="{0056F1CA-A5F7-4F3D-8069-35C759CC1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  <p:sp>
        <p:nvSpPr>
          <p:cNvPr id="11" name="Snip Diagonal Corner Rectangle 13">
            <a:extLst>
              <a:ext uri="{FF2B5EF4-FFF2-40B4-BE49-F238E27FC236}">
                <a16:creationId xmlns:a16="http://schemas.microsoft.com/office/drawing/2014/main" id="{CC5C8FE4-6454-4921-8CA2-12224C3AD321}"/>
              </a:ext>
            </a:extLst>
          </p:cNvPr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nip Diagonal Corner Rectangle 14">
            <a:extLst>
              <a:ext uri="{FF2B5EF4-FFF2-40B4-BE49-F238E27FC236}">
                <a16:creationId xmlns:a16="http://schemas.microsoft.com/office/drawing/2014/main" id="{4A95BDE6-41E6-4A75-BA1A-031C57654D9A}"/>
              </a:ext>
            </a:extLst>
          </p:cNvPr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31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EA188119-DDE8-421B-BCE5-0CDCC8571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74638"/>
            <a:ext cx="4114800" cy="1143000"/>
          </a:xfrm>
        </p:spPr>
        <p:txBody>
          <a:bodyPr>
            <a:normAutofit/>
          </a:bodyPr>
          <a:lstStyle/>
          <a:p>
            <a:pPr algn="r"/>
            <a:r>
              <a:rPr lang="id-ID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Silabus ringkas</a:t>
            </a:r>
            <a:endParaRPr lang="id-ID" sz="4000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18FAA066-7E90-4A76-BB37-6ADACF90E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27237"/>
            <a:ext cx="8229600" cy="2087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d-ID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 Bilangan Real, </a:t>
            </a:r>
            <a:r>
              <a:rPr lang="id-ID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Pertaksamaan</a:t>
            </a:r>
            <a:r>
              <a:rPr lang="id-ID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Fungsi dan Limit, Turunan dan Penggunaannya, Integral dan Penggunaannya, Fungsi Transenden</a:t>
            </a:r>
            <a:endParaRPr lang="id-ID" dirty="0"/>
          </a:p>
        </p:txBody>
      </p:sp>
      <p:pic>
        <p:nvPicPr>
          <p:cNvPr id="9" name="Picture 11" descr="jtk-header-v2.png">
            <a:extLst>
              <a:ext uri="{FF2B5EF4-FFF2-40B4-BE49-F238E27FC236}">
                <a16:creationId xmlns:a16="http://schemas.microsoft.com/office/drawing/2014/main" id="{473BBAAC-79F1-429A-99E3-A030E9E9B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  <p:sp>
        <p:nvSpPr>
          <p:cNvPr id="13" name="Snip Diagonal Corner Rectangle 13">
            <a:extLst>
              <a:ext uri="{FF2B5EF4-FFF2-40B4-BE49-F238E27FC236}">
                <a16:creationId xmlns:a16="http://schemas.microsoft.com/office/drawing/2014/main" id="{0B0C6989-6F1A-4B5E-98F8-ED200925695E}"/>
              </a:ext>
            </a:extLst>
          </p:cNvPr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nip Diagonal Corner Rectangle 14">
            <a:extLst>
              <a:ext uri="{FF2B5EF4-FFF2-40B4-BE49-F238E27FC236}">
                <a16:creationId xmlns:a16="http://schemas.microsoft.com/office/drawing/2014/main" id="{89D7468A-0639-4DD3-826A-6E9CA6DCA392}"/>
              </a:ext>
            </a:extLst>
          </p:cNvPr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190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24C27AC-D1B9-46CA-B4C2-EE9710CD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id-ID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Evaluasi</a:t>
            </a:r>
            <a:endParaRPr lang="id-ID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4B98FBAC-35C5-4CBD-9140-75CE0737C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id-ID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Nilai Akhir (NA), dengan nilai maksimum 100, ditentukan oleh komponen-komponen berikut:</a:t>
            </a:r>
            <a:endParaRPr lang="id-ID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id-ID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Evaluasi Tengah Semester (ETS) </a:t>
            </a:r>
            <a:r>
              <a:rPr lang="id-ID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id-ID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bobot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id-ID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5 % </a:t>
            </a:r>
            <a:r>
              <a:rPr lang="id-ID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 akan diselenggarakan pada hari</a:t>
            </a:r>
            <a:r>
              <a:rPr lang="id-ID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..., 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Oktober</a:t>
            </a:r>
            <a:r>
              <a:rPr lang="id-ID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</a:t>
            </a: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id-ID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990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id-ID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Evaluasi Akhir Semester (EAS) </a:t>
            </a:r>
            <a:r>
              <a:rPr lang="id-ID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id-ID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bobot 35 % </a:t>
            </a:r>
            <a:r>
              <a:rPr lang="id-ID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 akan diselenggarakan pada hari</a:t>
            </a:r>
            <a:r>
              <a:rPr lang="id-ID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...,</a:t>
            </a: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Desember</a:t>
            </a:r>
            <a:r>
              <a:rPr lang="id-ID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</a:t>
            </a: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id-ID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id-ID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Kuis </a:t>
            </a:r>
            <a:r>
              <a:rPr lang="id-ID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id-ID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bobot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  <a:r>
              <a:rPr lang="id-ID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</a:t>
            </a:r>
          </a:p>
          <a:p>
            <a:pPr>
              <a:buFont typeface="+mj-lt"/>
              <a:buAutoNum type="arabicPeriod"/>
              <a:tabLst>
                <a:tab pos="228600" algn="l"/>
              </a:tabLst>
            </a:pPr>
            <a:r>
              <a:rPr lang="id-ID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 atau komponen penilaian lainnya (</a:t>
            </a:r>
            <a:r>
              <a:rPr lang="id-ID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PK</a:t>
            </a:r>
            <a:r>
              <a:rPr lang="id-ID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dengan </a:t>
            </a:r>
            <a:r>
              <a:rPr lang="id-ID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bobot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id-ID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0%</a:t>
            </a:r>
            <a:r>
              <a:rPr lang="id-ID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id-ID" sz="2400" dirty="0"/>
          </a:p>
        </p:txBody>
      </p:sp>
      <p:pic>
        <p:nvPicPr>
          <p:cNvPr id="7" name="Picture 11" descr="jtk-header-v2.png">
            <a:extLst>
              <a:ext uri="{FF2B5EF4-FFF2-40B4-BE49-F238E27FC236}">
                <a16:creationId xmlns:a16="http://schemas.microsoft.com/office/drawing/2014/main" id="{10F67F0F-5025-48CD-824B-F6FAAB71B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  <p:sp>
        <p:nvSpPr>
          <p:cNvPr id="13" name="Snip Diagonal Corner Rectangle 13">
            <a:extLst>
              <a:ext uri="{FF2B5EF4-FFF2-40B4-BE49-F238E27FC236}">
                <a16:creationId xmlns:a16="http://schemas.microsoft.com/office/drawing/2014/main" id="{386B23B3-FF8F-488D-ADA8-A792D6C0E207}"/>
              </a:ext>
            </a:extLst>
          </p:cNvPr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nip Diagonal Corner Rectangle 14">
            <a:extLst>
              <a:ext uri="{FF2B5EF4-FFF2-40B4-BE49-F238E27FC236}">
                <a16:creationId xmlns:a16="http://schemas.microsoft.com/office/drawing/2014/main" id="{B786E011-17D3-41B1-86E6-CA53066E89EA}"/>
              </a:ext>
            </a:extLst>
          </p:cNvPr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65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7CFFCD6E-0E85-4213-A6A9-8E50A77C8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id-ID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Indeks</a:t>
            </a:r>
            <a:endParaRPr lang="id-ID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97585ED4-BB4C-4564-BE0A-6BFB61573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id-ID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: NA </a:t>
            </a:r>
            <a:r>
              <a:rPr lang="id-ID" dirty="0">
                <a:effectLst/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³ 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80; 			</a:t>
            </a:r>
          </a:p>
          <a:p>
            <a:pPr marL="114300" indent="0">
              <a:buNone/>
            </a:pP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 : 73 </a:t>
            </a:r>
            <a:r>
              <a:rPr lang="id-ID" dirty="0"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£ 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 &lt; 80;</a:t>
            </a:r>
            <a:endParaRPr lang="id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>
              <a:spcAft>
                <a:spcPts val="0"/>
              </a:spcAft>
              <a:buNone/>
            </a:pP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: 65 </a:t>
            </a:r>
            <a:r>
              <a:rPr lang="id-ID" dirty="0"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£ 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 &lt; 73;</a:t>
            </a:r>
          </a:p>
          <a:p>
            <a:pPr marL="114300" indent="0">
              <a:spcAft>
                <a:spcPts val="0"/>
              </a:spcAft>
              <a:buNone/>
            </a:pP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BC : 57 </a:t>
            </a:r>
            <a:r>
              <a:rPr lang="id-ID" dirty="0"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£ 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 &lt; 65</a:t>
            </a:r>
            <a:endParaRPr lang="id-ID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spcAft>
                <a:spcPts val="0"/>
              </a:spcAft>
              <a:buNone/>
            </a:pPr>
            <a:r>
              <a:rPr lang="id-ID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: 50 </a:t>
            </a:r>
            <a:r>
              <a:rPr lang="id-ID" dirty="0">
                <a:effectLst/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£</a:t>
            </a:r>
            <a:r>
              <a:rPr lang="id-ID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 &lt; 57;		</a:t>
            </a:r>
          </a:p>
          <a:p>
            <a:pPr marL="114300" indent="0">
              <a:spcAft>
                <a:spcPts val="0"/>
              </a:spcAft>
              <a:buNone/>
            </a:pPr>
            <a:r>
              <a:rPr lang="id-ID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 : 35 </a:t>
            </a:r>
            <a:r>
              <a:rPr lang="id-ID" dirty="0">
                <a:effectLst/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£</a:t>
            </a:r>
            <a:r>
              <a:rPr lang="id-ID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 &lt; 50;</a:t>
            </a:r>
            <a:r>
              <a:rPr lang="id-ID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id-ID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id-ID" dirty="0"/>
          </a:p>
          <a:p>
            <a:pPr marL="114300" indent="0">
              <a:spcAft>
                <a:spcPts val="0"/>
              </a:spcAft>
              <a:buNone/>
            </a:pPr>
            <a:r>
              <a:rPr lang="id-ID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: NA &lt; 35</a:t>
            </a:r>
            <a:r>
              <a:rPr lang="id-ID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  <p:pic>
        <p:nvPicPr>
          <p:cNvPr id="9" name="Picture 11" descr="jtk-header-v2.png">
            <a:extLst>
              <a:ext uri="{FF2B5EF4-FFF2-40B4-BE49-F238E27FC236}">
                <a16:creationId xmlns:a16="http://schemas.microsoft.com/office/drawing/2014/main" id="{855659BF-7787-4EB6-A845-D1D650844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  <p:sp>
        <p:nvSpPr>
          <p:cNvPr id="13" name="Snip Diagonal Corner Rectangle 13">
            <a:extLst>
              <a:ext uri="{FF2B5EF4-FFF2-40B4-BE49-F238E27FC236}">
                <a16:creationId xmlns:a16="http://schemas.microsoft.com/office/drawing/2014/main" id="{BEFB95A4-9762-405A-8882-3B193BBB576C}"/>
              </a:ext>
            </a:extLst>
          </p:cNvPr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nip Diagonal Corner Rectangle 14">
            <a:extLst>
              <a:ext uri="{FF2B5EF4-FFF2-40B4-BE49-F238E27FC236}">
                <a16:creationId xmlns:a16="http://schemas.microsoft.com/office/drawing/2014/main" id="{7ED3D6C8-92B7-4CDD-B36E-71D3DCFEEBD9}"/>
              </a:ext>
            </a:extLst>
          </p:cNvPr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166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9549B1C6-85C9-4E36-94BA-6F70824FF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id-ID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Catatan</a:t>
            </a:r>
            <a:endParaRPr lang="id-ID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7C8A53F0-99C8-4CC8-A5DA-5F00549A4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355600" lvl="0" indent="-355600">
              <a:spcAft>
                <a:spcPts val="0"/>
              </a:spcAft>
              <a:buFont typeface="+mj-lt"/>
              <a:buAutoNum type="arabicPeriod"/>
            </a:pP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Mahasiswa berhak untuk melihat berkas ujian, PR dan Kuis yang telah diperiksa.</a:t>
            </a:r>
            <a:endParaRPr lang="id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55600" lvl="0" indent="-355600">
              <a:spcAft>
                <a:spcPts val="0"/>
              </a:spcAft>
              <a:buFont typeface="+mj-lt"/>
              <a:buAutoNum type="arabicPeriod"/>
            </a:pP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Pada saat ujian, mahasiswa yang </a:t>
            </a:r>
            <a:r>
              <a:rPr lang="id-ID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terlambat lebih dari 30 menit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tidak diperkenankan ikut ujian.</a:t>
            </a:r>
            <a:endParaRPr lang="id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55600" lvl="0" indent="-355600">
              <a:lnSpc>
                <a:spcPct val="90000"/>
              </a:lnSpc>
              <a:spcAft>
                <a:spcPts val="0"/>
              </a:spcAft>
              <a:buFont typeface="+mj-lt"/>
              <a:buAutoNum type="arabicPeriod"/>
            </a:pP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Mahasiswa yang tidak mengikuti salah satu ujian dengan ijin yang sah, diberi kesempatan untuk </a:t>
            </a:r>
            <a:r>
              <a:rPr lang="id-ID" sz="1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mengikuti ujian pengganti pada hari </a:t>
            </a:r>
            <a:r>
              <a:rPr lang="id-ID" sz="1800" b="1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..., ... 202</a:t>
            </a:r>
            <a:r>
              <a:rPr lang="en-US" sz="1800" b="1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id-ID" sz="1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, dengan perhitungan nilai akhir sbb:</a:t>
            </a:r>
          </a:p>
          <a:p>
            <a:pPr marL="355600" indent="-355600">
              <a:spcAft>
                <a:spcPts val="0"/>
              </a:spcAft>
              <a:buNone/>
            </a:pPr>
            <a:r>
              <a:rPr lang="id-ID" sz="1800" b="1" dirty="0">
                <a:ea typeface="Calibri" panose="020F0502020204030204" pitchFamily="34" charset="0"/>
                <a:cs typeface="Calibri" panose="020F0502020204030204" pitchFamily="34" charset="0"/>
              </a:rPr>
              <a:t>	NA = 0.35*(0.9*UP+UT) + 0.</a:t>
            </a:r>
            <a:r>
              <a:rPr lang="en-US" sz="1800" b="1" dirty="0"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  <a:r>
              <a:rPr lang="id-ID" sz="1800" b="1" dirty="0">
                <a:ea typeface="Calibri" panose="020F0502020204030204" pitchFamily="34" charset="0"/>
                <a:cs typeface="Calibri" panose="020F0502020204030204" pitchFamily="34" charset="0"/>
              </a:rPr>
              <a:t>*K + 0.</a:t>
            </a:r>
            <a:r>
              <a:rPr lang="en-US" sz="1800" b="1" dirty="0"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  <a:r>
              <a:rPr lang="id-ID" sz="1800" b="1" dirty="0">
                <a:ea typeface="Calibri" panose="020F0502020204030204" pitchFamily="34" charset="0"/>
                <a:cs typeface="Calibri" panose="020F0502020204030204" pitchFamily="34" charset="0"/>
              </a:rPr>
              <a:t>*P</a:t>
            </a:r>
            <a:r>
              <a:rPr lang="en-US" sz="1800" b="1" dirty="0"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id-ID" sz="1800" dirty="0"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id-ID" sz="1800" dirty="0">
              <a:ea typeface="Times New Roman" panose="02020603050405020304" pitchFamily="18" charset="0"/>
            </a:endParaRPr>
          </a:p>
          <a:p>
            <a:pPr marL="355600" indent="-355600">
              <a:spcAft>
                <a:spcPts val="0"/>
              </a:spcAft>
              <a:buNone/>
            </a:pPr>
            <a:r>
              <a:rPr lang="id-ID" sz="1800" dirty="0">
                <a:ea typeface="Calibri" panose="020F0502020204030204" pitchFamily="34" charset="0"/>
                <a:cs typeface="Calibri" panose="020F0502020204030204" pitchFamily="34" charset="0"/>
              </a:rPr>
              <a:t>	dengan UP adalah nilai ujian pengganti, UT nilai ujian yang telah diikuti, K nilai kuis dan PR</a:t>
            </a:r>
            <a:r>
              <a:rPr lang="en-US" sz="18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a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18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a typeface="Calibri" panose="020F0502020204030204" pitchFamily="34" charset="0"/>
                <a:cs typeface="Calibri" panose="020F0502020204030204" pitchFamily="34" charset="0"/>
              </a:rPr>
              <a:t>komponen</a:t>
            </a:r>
            <a:r>
              <a:rPr lang="en-US" sz="18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a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id-ID" sz="1800" dirty="0"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id-ID" sz="1800" dirty="0">
              <a:ea typeface="Times New Roman" panose="02020603050405020304" pitchFamily="18" charset="0"/>
            </a:endParaRPr>
          </a:p>
          <a:p>
            <a:pPr marL="355600" lvl="0" indent="-355600">
              <a:spcAft>
                <a:spcPts val="0"/>
              </a:spcAft>
              <a:buNone/>
            </a:pPr>
            <a:r>
              <a:rPr lang="id-ID" sz="1800" dirty="0">
                <a:ea typeface="Calibri" panose="020F0502020204030204" pitchFamily="34" charset="0"/>
              </a:rPr>
              <a:t>4.</a:t>
            </a:r>
            <a:r>
              <a:rPr lang="id-ID" sz="1500" dirty="0">
                <a:ea typeface="Calibri" panose="020F0502020204030204" pitchFamily="34" charset="0"/>
              </a:rPr>
              <a:t>	</a:t>
            </a:r>
            <a:r>
              <a:rPr lang="id-ID" sz="1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Mahasiswa yang mendapatkan nilai D atau E diberi kesempatan untuk mengikuti ujian perbaikan pada hari </a:t>
            </a:r>
            <a:r>
              <a:rPr lang="id-ID" sz="1800" b="1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..., ... 202</a:t>
            </a:r>
            <a:r>
              <a:rPr lang="en-US" sz="1800" b="1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id-ID" sz="1800" b="1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d-ID" sz="1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dengan perhitungan nilai akhir:</a:t>
            </a:r>
            <a:endParaRPr lang="id-ID" sz="1800" dirty="0">
              <a:effectLst/>
              <a:ea typeface="Times New Roman" panose="02020603050405020304" pitchFamily="18" charset="0"/>
            </a:endParaRPr>
          </a:p>
          <a:p>
            <a:pPr marL="355600" indent="-355600">
              <a:lnSpc>
                <a:spcPct val="99000"/>
              </a:lnSpc>
              <a:spcAft>
                <a:spcPts val="0"/>
              </a:spcAft>
              <a:buNone/>
            </a:pPr>
            <a:r>
              <a:rPr lang="id-ID" sz="1800" b="1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	NAP = </a:t>
            </a:r>
            <a:r>
              <a:rPr lang="id-ID" sz="1800" b="1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maks</a:t>
            </a:r>
            <a:r>
              <a:rPr lang="id-ID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{NA, (NA+UR)/2}</a:t>
            </a:r>
            <a:endParaRPr lang="id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55600" indent="-355600">
              <a:spcAft>
                <a:spcPts val="0"/>
              </a:spcAft>
              <a:buNone/>
            </a:pP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dengan UR adalah nilai ujian perbaikan.</a:t>
            </a:r>
            <a:endParaRPr lang="id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55600" indent="-355600">
              <a:spcAft>
                <a:spcPts val="0"/>
              </a:spcAft>
              <a:buNone/>
            </a:pP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Indeks penilaian setelah mengikuti ujian perbaikan adalah:</a:t>
            </a:r>
            <a:endParaRPr lang="id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55600" lvl="0" indent="-355600">
              <a:spcAft>
                <a:spcPts val="0"/>
              </a:spcAft>
              <a:buFont typeface="+mj-lt"/>
              <a:buAutoNum type="arabicPeriod" startAt="5"/>
            </a:pP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Jika mahasiswa hanya mengikuti ETS atau EAS saja, maka mahasiswa tersebut mendapatkan nilai E.</a:t>
            </a:r>
            <a:endParaRPr lang="id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55600" lvl="0" indent="-355600">
              <a:spcAft>
                <a:spcPts val="0"/>
              </a:spcAft>
              <a:buFont typeface="+mj-lt"/>
              <a:buAutoNum type="arabicPeriod" startAt="5"/>
            </a:pPr>
            <a:r>
              <a:rPr lang="id-ID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Tidak ada ujian susulan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bagi mahasiswa yang berhalangan mengikuti Ujian </a:t>
            </a:r>
            <a:r>
              <a:rPr lang="id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Reevaluasi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atau Ujian Pengganti.</a:t>
            </a:r>
            <a:endParaRPr lang="id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55600" lvl="0" indent="-355600">
              <a:spcAft>
                <a:spcPts val="0"/>
              </a:spcAft>
              <a:buFont typeface="+mj-lt"/>
              <a:buAutoNum type="arabicPeriod" startAt="5"/>
            </a:pP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Nilai Akhir mahasiswa hanya diperoleh dari nilai evaluasi seperti tercantum di atas.</a:t>
            </a:r>
            <a:endParaRPr lang="id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55600" lvl="0" indent="-355600">
              <a:spcAft>
                <a:spcPts val="0"/>
              </a:spcAft>
              <a:buFont typeface="+mj-lt"/>
              <a:buAutoNum type="arabicPeriod" startAt="5"/>
            </a:pP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Mahasiswa yang melakukan kecurangan saat ujian akan langsung mendapatkan nilai E.</a:t>
            </a:r>
            <a:endParaRPr lang="id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id-ID" dirty="0"/>
          </a:p>
        </p:txBody>
      </p:sp>
      <p:pic>
        <p:nvPicPr>
          <p:cNvPr id="9" name="Picture 11" descr="jtk-header-v2.png">
            <a:extLst>
              <a:ext uri="{FF2B5EF4-FFF2-40B4-BE49-F238E27FC236}">
                <a16:creationId xmlns:a16="http://schemas.microsoft.com/office/drawing/2014/main" id="{5C1F021A-D6AD-4AC3-9AC8-04B7E2F6F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  <p:sp>
        <p:nvSpPr>
          <p:cNvPr id="13" name="Snip Diagonal Corner Rectangle 13">
            <a:extLst>
              <a:ext uri="{FF2B5EF4-FFF2-40B4-BE49-F238E27FC236}">
                <a16:creationId xmlns:a16="http://schemas.microsoft.com/office/drawing/2014/main" id="{97577E83-C837-4FAB-A3A5-407865210850}"/>
              </a:ext>
            </a:extLst>
          </p:cNvPr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nip Diagonal Corner Rectangle 14">
            <a:extLst>
              <a:ext uri="{FF2B5EF4-FFF2-40B4-BE49-F238E27FC236}">
                <a16:creationId xmlns:a16="http://schemas.microsoft.com/office/drawing/2014/main" id="{B20538E3-FBBD-4E1F-9AE3-2FB069D8B6AE}"/>
              </a:ext>
            </a:extLst>
          </p:cNvPr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07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14E073C3-0742-4941-A4A8-CB3148FC0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id-ID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Uraian Rinci Materi Kuliah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21KU1008</a:t>
            </a:r>
            <a:endParaRPr lang="id-ID" sz="2400" dirty="0"/>
          </a:p>
        </p:txBody>
      </p:sp>
      <p:pic>
        <p:nvPicPr>
          <p:cNvPr id="9" name="Picture 11" descr="jtk-header-v2.png">
            <a:extLst>
              <a:ext uri="{FF2B5EF4-FFF2-40B4-BE49-F238E27FC236}">
                <a16:creationId xmlns:a16="http://schemas.microsoft.com/office/drawing/2014/main" id="{5636ADEA-2C94-4DD4-866F-5D0BBF1FF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  <p:graphicFrame>
        <p:nvGraphicFramePr>
          <p:cNvPr id="16" name="Tabel 16">
            <a:extLst>
              <a:ext uri="{FF2B5EF4-FFF2-40B4-BE49-F238E27FC236}">
                <a16:creationId xmlns:a16="http://schemas.microsoft.com/office/drawing/2014/main" id="{93DDE6EB-4136-4A16-8A36-ECAC51AA4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158658"/>
              </p:ext>
            </p:extLst>
          </p:nvPr>
        </p:nvGraphicFramePr>
        <p:xfrm>
          <a:off x="457200" y="1219200"/>
          <a:ext cx="7992000" cy="530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80126618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767766650"/>
                    </a:ext>
                  </a:extLst>
                </a:gridCol>
                <a:gridCol w="4182000">
                  <a:extLst>
                    <a:ext uri="{9D8B030D-6E8A-4147-A177-3AD203B41FA5}">
                      <a16:colId xmlns:a16="http://schemas.microsoft.com/office/drawing/2014/main" val="2594969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Minggu ke</a:t>
                      </a:r>
                      <a:endParaRPr lang="id-ID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Topik</a:t>
                      </a:r>
                      <a:endParaRPr lang="id-ID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 Topik</a:t>
                      </a:r>
                      <a:endParaRPr lang="id-ID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219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(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19 - 24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/0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/2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4)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Bab 0: Pendahuluan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/>
                        <a:t>0.1 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Bilangan Real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 </a:t>
                      </a:r>
                      <a:r>
                        <a:rPr lang="id-ID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Pertaksamaan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Nilai Mutlak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 Sistem Koordinat</a:t>
                      </a:r>
                      <a:endParaRPr lang="id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(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26 - 31/08/24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Bab 0: Pendahuluan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/>
                        <a:t>0.4 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Grafik persamaan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 Fungsi dan grafiknya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 Operasi pada fungsi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 Fungsi trigonometri</a:t>
                      </a:r>
                      <a:endParaRPr lang="id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652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(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07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09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/2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Bab 1: Limit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/>
                        <a:t>1.1 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Pengantar limit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 Limit fungsi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 </a:t>
                      </a:r>
                      <a:r>
                        <a:rPr lang="id-ID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Teorema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limit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 Limit fungsi trigonometri</a:t>
                      </a:r>
                      <a:endParaRPr lang="id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853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(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09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09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/2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Bab 1: Limit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Bab 2: Turunan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/>
                        <a:t>1.5 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 tak hingga dan limit di tak hingga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 Kekontinuan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 Turunan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 Aturan penentuan turunan</a:t>
                      </a:r>
                      <a:endParaRPr lang="id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912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(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09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/2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Bab 2: Turunan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/>
                        <a:t>2.4 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Turunan fungsi trigonometri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 Aturan rantai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 Turunan tingkat tinggi (</a:t>
                      </a:r>
                      <a:r>
                        <a:rPr lang="id-ID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tidak termasuk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masalah gerak)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 Turunan implisit</a:t>
                      </a:r>
                    </a:p>
                    <a:p>
                      <a:r>
                        <a:rPr lang="id-ID" sz="1400" dirty="0"/>
                        <a:t>2.8 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Laju yang berkaitan</a:t>
                      </a:r>
                      <a:endParaRPr lang="id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421191"/>
                  </a:ext>
                </a:extLst>
              </a:tr>
            </a:tbl>
          </a:graphicData>
        </a:graphic>
      </p:graphicFrame>
      <p:sp>
        <p:nvSpPr>
          <p:cNvPr id="98" name="Snip Diagonal Corner Rectangle 13">
            <a:extLst>
              <a:ext uri="{FF2B5EF4-FFF2-40B4-BE49-F238E27FC236}">
                <a16:creationId xmlns:a16="http://schemas.microsoft.com/office/drawing/2014/main" id="{DD160DF7-22A7-436F-8CB1-C329D9D9063B}"/>
              </a:ext>
            </a:extLst>
          </p:cNvPr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Snip Diagonal Corner Rectangle 14">
            <a:extLst>
              <a:ext uri="{FF2B5EF4-FFF2-40B4-BE49-F238E27FC236}">
                <a16:creationId xmlns:a16="http://schemas.microsoft.com/office/drawing/2014/main" id="{38898F7E-C070-4B2F-9A52-C33025510810}"/>
              </a:ext>
            </a:extLst>
          </p:cNvPr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64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DE359670-EF4A-465B-BFC2-5EC7635BE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635688"/>
              </p:ext>
            </p:extLst>
          </p:nvPr>
        </p:nvGraphicFramePr>
        <p:xfrm>
          <a:off x="457200" y="1600200"/>
          <a:ext cx="7992000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992827304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424377409"/>
                    </a:ext>
                  </a:extLst>
                </a:gridCol>
                <a:gridCol w="3801000">
                  <a:extLst>
                    <a:ext uri="{9D8B030D-6E8A-4147-A177-3AD203B41FA5}">
                      <a16:colId xmlns:a16="http://schemas.microsoft.com/office/drawing/2014/main" val="6904787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Minggu ke</a:t>
                      </a:r>
                      <a:endParaRPr lang="id-ID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Topik</a:t>
                      </a:r>
                      <a:endParaRPr lang="id-ID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 Topik</a:t>
                      </a:r>
                      <a:endParaRPr lang="id-ID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8705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(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23-28/09/24)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Bab 2: Turunan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Bab 3: Penggunaan turunan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/>
                        <a:t>2.9 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Diferensial dan </a:t>
                      </a:r>
                      <a:r>
                        <a:rPr lang="id-ID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hampiran</a:t>
                      </a:r>
                      <a:endParaRPr lang="id-ID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 Maksimum dan minimum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 Kemonotonan dan kecekungan</a:t>
                      </a:r>
                      <a:endParaRPr lang="id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603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 (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09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/2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 – 05/10/24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Bab 3: Penggunaan turunan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/>
                        <a:t>3.3 </a:t>
                      </a:r>
                      <a:r>
                        <a:rPr lang="id-ID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Ekstrim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lokal dan </a:t>
                      </a:r>
                      <a:r>
                        <a:rPr lang="id-ID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ekstrim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pada selang buka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 Grafik fungsi dengan menggunakan kalkulus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 Pemodelan </a:t>
                      </a:r>
                      <a:r>
                        <a:rPr lang="id-ID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matematikaPemodelan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matematika</a:t>
                      </a:r>
                      <a:endParaRPr lang="id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416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 (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07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/1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/2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Bab 3: Penggunaan turunan</a:t>
                      </a:r>
                    </a:p>
                    <a:p>
                      <a:r>
                        <a:rPr lang="id-ID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ETS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Minggu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8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3.6 </a:t>
                      </a:r>
                      <a:r>
                        <a:rPr lang="id-ID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Teorema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Nilai Rata-rata untuk turunan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 Anti turunan</a:t>
                      </a:r>
                      <a:endParaRPr lang="id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91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 (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/1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/2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10. (21-26/10/24)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Bab 3: Penggunaan turunan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Bab 4: Integral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3.9 Pengantar persamaan diferensial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4.1 Luas daerah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 Integral tentu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 </a:t>
                      </a:r>
                      <a:r>
                        <a:rPr lang="id-ID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Teorema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Dasar Kalkulus Pertama</a:t>
                      </a:r>
                      <a:endParaRPr lang="id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23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(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/1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/2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0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/1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/2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12. (04-09/11/24)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Bab 4: Integral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4.4.a </a:t>
                      </a:r>
                      <a:r>
                        <a:rPr lang="id-ID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Teorema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Dasar Kalkulus Kedua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4.4.b Metode Substitusi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 Sifat simetri integral (</a:t>
                      </a:r>
                      <a:r>
                        <a:rPr lang="id-ID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tidak termasuk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d-ID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Teorema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Nilai Rata-rata untuk integral)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 Luas daerah pada bidang</a:t>
                      </a:r>
                      <a:endParaRPr lang="id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124929"/>
                  </a:ext>
                </a:extLst>
              </a:tr>
            </a:tbl>
          </a:graphicData>
        </a:graphic>
      </p:graphicFrame>
      <p:pic>
        <p:nvPicPr>
          <p:cNvPr id="71" name="Picture 11" descr="jtk-header-v2.png">
            <a:extLst>
              <a:ext uri="{FF2B5EF4-FFF2-40B4-BE49-F238E27FC236}">
                <a16:creationId xmlns:a16="http://schemas.microsoft.com/office/drawing/2014/main" id="{43EA86C5-45EA-4B18-9CFA-00A56D322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  <p:sp>
        <p:nvSpPr>
          <p:cNvPr id="73" name="Judul 1">
            <a:extLst>
              <a:ext uri="{FF2B5EF4-FFF2-40B4-BE49-F238E27FC236}">
                <a16:creationId xmlns:a16="http://schemas.microsoft.com/office/drawing/2014/main" id="{6B1026EF-7D98-4E01-8A6D-209026ECA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id-ID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Uraian Rinci Materi Kuliah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21KU</a:t>
            </a:r>
            <a:r>
              <a:rPr lang="id-ID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</a:t>
            </a:r>
            <a:r>
              <a:rPr lang="en-US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08</a:t>
            </a:r>
            <a:endParaRPr lang="id-ID" sz="2400" dirty="0"/>
          </a:p>
        </p:txBody>
      </p:sp>
      <p:sp>
        <p:nvSpPr>
          <p:cNvPr id="75" name="Snip Diagonal Corner Rectangle 13">
            <a:extLst>
              <a:ext uri="{FF2B5EF4-FFF2-40B4-BE49-F238E27FC236}">
                <a16:creationId xmlns:a16="http://schemas.microsoft.com/office/drawing/2014/main" id="{1BA575C7-AF55-4847-A76E-946DD5962742}"/>
              </a:ext>
            </a:extLst>
          </p:cNvPr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Snip Diagonal Corner Rectangle 14">
            <a:extLst>
              <a:ext uri="{FF2B5EF4-FFF2-40B4-BE49-F238E27FC236}">
                <a16:creationId xmlns:a16="http://schemas.microsoft.com/office/drawing/2014/main" id="{DD30FA28-599F-462A-A19D-81EF453421AD}"/>
              </a:ext>
            </a:extLst>
          </p:cNvPr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89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Judul 1">
            <a:extLst>
              <a:ext uri="{FF2B5EF4-FFF2-40B4-BE49-F238E27FC236}">
                <a16:creationId xmlns:a16="http://schemas.microsoft.com/office/drawing/2014/main" id="{0479F86C-CAE4-408C-8563-D0052ADDD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id-ID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Uraian Rinci Materi Kuliah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21KU</a:t>
            </a:r>
            <a:r>
              <a:rPr lang="id-ID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</a:t>
            </a:r>
            <a:r>
              <a:rPr lang="en-US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08</a:t>
            </a:r>
            <a:endParaRPr lang="id-ID" sz="2400" dirty="0"/>
          </a:p>
        </p:txBody>
      </p:sp>
      <p:pic>
        <p:nvPicPr>
          <p:cNvPr id="9" name="Picture 11" descr="jtk-header-v2.png">
            <a:extLst>
              <a:ext uri="{FF2B5EF4-FFF2-40B4-BE49-F238E27FC236}">
                <a16:creationId xmlns:a16="http://schemas.microsoft.com/office/drawing/2014/main" id="{4403C064-249B-4D67-B765-0C369112C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  <p:graphicFrame>
        <p:nvGraphicFramePr>
          <p:cNvPr id="11" name="Tabel 10">
            <a:extLst>
              <a:ext uri="{FF2B5EF4-FFF2-40B4-BE49-F238E27FC236}">
                <a16:creationId xmlns:a16="http://schemas.microsoft.com/office/drawing/2014/main" id="{B6E6CE9C-9FD5-4C94-80A7-644846EBF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157176"/>
              </p:ext>
            </p:extLst>
          </p:nvPr>
        </p:nvGraphicFramePr>
        <p:xfrm>
          <a:off x="457200" y="1600200"/>
          <a:ext cx="7992000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992827304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424377409"/>
                    </a:ext>
                  </a:extLst>
                </a:gridCol>
                <a:gridCol w="3801000">
                  <a:extLst>
                    <a:ext uri="{9D8B030D-6E8A-4147-A177-3AD203B41FA5}">
                      <a16:colId xmlns:a16="http://schemas.microsoft.com/office/drawing/2014/main" val="6904787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Minggu ke</a:t>
                      </a:r>
                      <a:endParaRPr lang="id-ID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Topik</a:t>
                      </a:r>
                      <a:endParaRPr lang="id-ID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 Topik</a:t>
                      </a:r>
                      <a:endParaRPr lang="id-ID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8705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(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/1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/2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Bab 5</a:t>
                      </a:r>
                      <a:r>
                        <a:rPr lang="id-ID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Penggunaan Integral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/>
                        <a:t>5.2 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Volume benda putar: metode cakram, cincin, dan irisan sejajar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5.3 Volume benda putar: metode kulit tabung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5.5 Kerja (</a:t>
                      </a:r>
                      <a:r>
                        <a:rPr lang="id-ID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tidak termasuk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bagian tekanan fluida)</a:t>
                      </a:r>
                      <a:endParaRPr lang="id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603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(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18-23/11/24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Bab 5</a:t>
                      </a:r>
                      <a:r>
                        <a:rPr lang="id-ID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Penggunaan Integral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Bab 6: Fungsi transenden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/>
                        <a:t>6.1 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Fungsi logaritma natural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6.2 Fungsi </a:t>
                      </a:r>
                      <a:r>
                        <a:rPr lang="id-ID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invers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turunannya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 Fungsi eksponen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 Fungsi eksponen dan logaritma umum</a:t>
                      </a:r>
                      <a:endParaRPr lang="id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416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(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25 - 30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/1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/2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16. (02 – 07/12/24)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Bab 6: Fungsi transenden</a:t>
                      </a:r>
                    </a:p>
                    <a:p>
                      <a:r>
                        <a:rPr lang="id-ID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EAS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Minggu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16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6.5 Pertumbuhan dan peluruhan eksponensial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6.7 Persamaan Diferensial Linear Orde Satu</a:t>
                      </a:r>
                    </a:p>
                    <a:p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6.8 Fungsi </a:t>
                      </a:r>
                      <a:r>
                        <a:rPr lang="id-ID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Invers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trigonometri (</a:t>
                      </a:r>
                      <a:r>
                        <a:rPr lang="id-ID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hanya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d-ID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invers</a:t>
                      </a:r>
                      <a:r>
                        <a:rPr lang="id-ID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saja)</a:t>
                      </a:r>
                      <a:endParaRPr lang="id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916626"/>
                  </a:ext>
                </a:extLst>
              </a:tr>
            </a:tbl>
          </a:graphicData>
        </a:graphic>
      </p:graphicFrame>
      <p:sp>
        <p:nvSpPr>
          <p:cNvPr id="53" name="Kotak Teks 52">
            <a:extLst>
              <a:ext uri="{FF2B5EF4-FFF2-40B4-BE49-F238E27FC236}">
                <a16:creationId xmlns:a16="http://schemas.microsoft.com/office/drawing/2014/main" id="{F5340270-7A68-450B-9E1B-35A6F585B2E6}"/>
              </a:ext>
            </a:extLst>
          </p:cNvPr>
          <p:cNvSpPr txBox="1"/>
          <p:nvPr/>
        </p:nvSpPr>
        <p:spPr>
          <a:xfrm>
            <a:off x="368300" y="4690646"/>
            <a:ext cx="7175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Hari Libur Nasional: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Senin</a:t>
            </a:r>
            <a:r>
              <a:rPr lang="id-ID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id-ID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September</a:t>
            </a:r>
            <a:r>
              <a:rPr lang="id-ID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id-ID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d-ID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(Maulid Nabi Muhammad SAW)</a:t>
            </a:r>
            <a:endParaRPr lang="id-ID" sz="1600" dirty="0"/>
          </a:p>
        </p:txBody>
      </p:sp>
      <p:sp>
        <p:nvSpPr>
          <p:cNvPr id="55" name="Snip Diagonal Corner Rectangle 13">
            <a:extLst>
              <a:ext uri="{FF2B5EF4-FFF2-40B4-BE49-F238E27FC236}">
                <a16:creationId xmlns:a16="http://schemas.microsoft.com/office/drawing/2014/main" id="{745D0C2E-FAA8-47FB-B165-5571FFAE56E1}"/>
              </a:ext>
            </a:extLst>
          </p:cNvPr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Snip Diagonal Corner Rectangle 14">
            <a:extLst>
              <a:ext uri="{FF2B5EF4-FFF2-40B4-BE49-F238E27FC236}">
                <a16:creationId xmlns:a16="http://schemas.microsoft.com/office/drawing/2014/main" id="{AB8E0454-A722-4FAC-AC6C-3AE9F63E8B61}"/>
              </a:ext>
            </a:extLst>
          </p:cNvPr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13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7824" y="274638"/>
            <a:ext cx="5698976" cy="1143000"/>
          </a:xfrm>
        </p:spPr>
        <p:txBody>
          <a:bodyPr/>
          <a:lstStyle/>
          <a:p>
            <a:r>
              <a:rPr lang="en-US" b="1" dirty="0" err="1">
                <a:solidFill>
                  <a:prstClr val="black"/>
                </a:solidFill>
              </a:rPr>
              <a:t>Biodata</a:t>
            </a:r>
            <a:r>
              <a:rPr lang="en-US" b="1" dirty="0">
                <a:solidFill>
                  <a:prstClr val="black"/>
                </a:solidFill>
              </a:rPr>
              <a:t> </a:t>
            </a:r>
            <a:r>
              <a:rPr lang="en-US" b="1" dirty="0" err="1">
                <a:solidFill>
                  <a:prstClr val="black"/>
                </a:solidFill>
              </a:rPr>
              <a:t>Dosen</a:t>
            </a:r>
            <a:endParaRPr lang="en-US" b="1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14350" y="2348880"/>
            <a:ext cx="8115300" cy="2736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prstClr val="black"/>
                </a:solidFill>
                <a:latin typeface="Calibri"/>
              </a:rPr>
              <a:t>Nama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		:</a:t>
            </a:r>
            <a:r>
              <a:rPr lang="id-ID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Drs. Eddy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Bambang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Soewono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.,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M.Kom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prstClr val="black"/>
                </a:solidFill>
                <a:latin typeface="Calibri"/>
              </a:rPr>
              <a:t>Kode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Dosen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	: KO-016N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E-mail 		</a:t>
            </a:r>
            <a:r>
              <a:rPr lang="id-ID" sz="2400" dirty="0">
                <a:solidFill>
                  <a:prstClr val="black"/>
                </a:solidFill>
                <a:latin typeface="Calibri"/>
              </a:rPr>
              <a:t>: ebang@polban.ac.id</a:t>
            </a:r>
          </a:p>
          <a:p>
            <a:pPr>
              <a:buFont typeface="Arial" panose="020B0604020202020204" pitchFamily="34" charset="0"/>
              <a:buNone/>
            </a:pPr>
            <a:r>
              <a:rPr lang="id-ID" sz="2400" dirty="0">
                <a:solidFill>
                  <a:prstClr val="black"/>
                </a:solidFill>
                <a:latin typeface="Calibri"/>
              </a:rPr>
              <a:t>No. HP		: 08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11237682</a:t>
            </a:r>
          </a:p>
          <a:p>
            <a:pPr>
              <a:buFont typeface="Arial" panose="020B0604020202020204" pitchFamily="34" charset="0"/>
              <a:buNone/>
            </a:pPr>
            <a:endParaRPr lang="en-US" sz="2400" dirty="0"/>
          </a:p>
        </p:txBody>
      </p:sp>
      <p:pic>
        <p:nvPicPr>
          <p:cNvPr id="10" name="Picture 9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  <p:sp>
        <p:nvSpPr>
          <p:cNvPr id="12" name="Snip Diagonal Corner Rectangle 11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nip Diagonal Corner Rectangle 12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292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228600"/>
            <a:ext cx="5698976" cy="1143000"/>
          </a:xfrm>
        </p:spPr>
        <p:txBody>
          <a:bodyPr/>
          <a:lstStyle/>
          <a:p>
            <a:r>
              <a:rPr lang="id-ID" b="1" dirty="0"/>
              <a:t>Profile Mata Kuliah</a:t>
            </a:r>
            <a:endParaRPr lang="en-US" b="1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14350" y="1772816"/>
            <a:ext cx="81153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id-ID" dirty="0">
                <a:latin typeface="Calibri" pitchFamily="34" charset="0"/>
              </a:rPr>
              <a:t> </a:t>
            </a:r>
            <a:r>
              <a:rPr lang="en-US" dirty="0" err="1">
                <a:latin typeface="Calibri" pitchFamily="34" charset="0"/>
              </a:rPr>
              <a:t>Sistem</a:t>
            </a:r>
            <a:r>
              <a:rPr lang="en-US" dirty="0">
                <a:latin typeface="Calibri" pitchFamily="34" charset="0"/>
              </a:rPr>
              <a:t> </a:t>
            </a:r>
            <a:r>
              <a:rPr lang="id-ID" dirty="0">
                <a:latin typeface="Calibri" pitchFamily="34" charset="0"/>
              </a:rPr>
              <a:t>B</a:t>
            </a:r>
            <a:r>
              <a:rPr lang="en-US" dirty="0" err="1">
                <a:latin typeface="Calibri" pitchFamily="34" charset="0"/>
              </a:rPr>
              <a:t>ilangan</a:t>
            </a:r>
            <a:r>
              <a:rPr lang="en-US" dirty="0">
                <a:latin typeface="Calibri" pitchFamily="34" charset="0"/>
              </a:rPr>
              <a:t> </a:t>
            </a:r>
            <a:r>
              <a:rPr lang="id-ID" dirty="0">
                <a:latin typeface="Calibri" pitchFamily="34" charset="0"/>
              </a:rPr>
              <a:t>R</a:t>
            </a:r>
            <a:r>
              <a:rPr lang="en-US" dirty="0" err="1">
                <a:latin typeface="Calibri" pitchFamily="34" charset="0"/>
              </a:rPr>
              <a:t>eal</a:t>
            </a:r>
            <a:r>
              <a:rPr lang="en-US" dirty="0">
                <a:latin typeface="Calibri" pitchFamily="34" charset="0"/>
              </a:rPr>
              <a:t>, </a:t>
            </a:r>
            <a:r>
              <a:rPr lang="en-US" dirty="0" err="1">
                <a:latin typeface="Calibri" pitchFamily="34" charset="0"/>
              </a:rPr>
              <a:t>Fungsi</a:t>
            </a:r>
            <a:r>
              <a:rPr lang="en-US" dirty="0">
                <a:latin typeface="Calibri" pitchFamily="34" charset="0"/>
              </a:rPr>
              <a:t>, Limit dan </a:t>
            </a:r>
            <a:r>
              <a:rPr lang="en-US" dirty="0" err="1">
                <a:latin typeface="Calibri" pitchFamily="34" charset="0"/>
              </a:rPr>
              <a:t>Kekontinuan</a:t>
            </a:r>
            <a:r>
              <a:rPr lang="en-US" dirty="0">
                <a:latin typeface="Calibri" pitchFamily="34" charset="0"/>
              </a:rPr>
              <a:t>, </a:t>
            </a:r>
            <a:r>
              <a:rPr lang="en-US" dirty="0" err="1">
                <a:latin typeface="Calibri" pitchFamily="34" charset="0"/>
              </a:rPr>
              <a:t>Turunan</a:t>
            </a:r>
            <a:r>
              <a:rPr lang="en-US" dirty="0">
                <a:latin typeface="Calibri" pitchFamily="34" charset="0"/>
              </a:rPr>
              <a:t> dan </a:t>
            </a:r>
            <a:r>
              <a:rPr lang="en-US" dirty="0" err="1">
                <a:latin typeface="Calibri" pitchFamily="34" charset="0"/>
              </a:rPr>
              <a:t>Penggunaannya</a:t>
            </a:r>
            <a:r>
              <a:rPr lang="en-US" dirty="0">
                <a:latin typeface="Calibri" pitchFamily="34" charset="0"/>
              </a:rPr>
              <a:t>, Integral dan </a:t>
            </a:r>
            <a:r>
              <a:rPr lang="en-US" dirty="0" err="1">
                <a:latin typeface="Calibri" pitchFamily="34" charset="0"/>
              </a:rPr>
              <a:t>Penggunaanya</a:t>
            </a:r>
            <a:r>
              <a:rPr lang="en-US" dirty="0">
                <a:latin typeface="Calibri" pitchFamily="34" charset="0"/>
              </a:rPr>
              <a:t>, </a:t>
            </a:r>
            <a:r>
              <a:rPr lang="en-US" dirty="0" err="1">
                <a:latin typeface="Calibri" pitchFamily="34" charset="0"/>
              </a:rPr>
              <a:t>Fungsi</a:t>
            </a:r>
            <a:r>
              <a:rPr lang="en-US" dirty="0">
                <a:latin typeface="Calibri" pitchFamily="34" charset="0"/>
              </a:rPr>
              <a:t> </a:t>
            </a:r>
            <a:r>
              <a:rPr lang="en-US" dirty="0" err="1">
                <a:latin typeface="Calibri" pitchFamily="34" charset="0"/>
              </a:rPr>
              <a:t>Transenden</a:t>
            </a:r>
            <a:r>
              <a:rPr lang="en-US" dirty="0">
                <a:latin typeface="Calibri" pitchFamily="34" charset="0"/>
              </a:rPr>
              <a:t>, Teknik </a:t>
            </a:r>
            <a:r>
              <a:rPr lang="en-US" dirty="0" err="1">
                <a:latin typeface="Calibri" pitchFamily="34" charset="0"/>
              </a:rPr>
              <a:t>Pengintegralan</a:t>
            </a:r>
            <a:r>
              <a:rPr lang="en-US" dirty="0">
                <a:latin typeface="Calibri" pitchFamily="34" charset="0"/>
              </a:rPr>
              <a:t>, Integral </a:t>
            </a:r>
            <a:r>
              <a:rPr lang="en-US" dirty="0" err="1">
                <a:latin typeface="Calibri" pitchFamily="34" charset="0"/>
              </a:rPr>
              <a:t>Tak</a:t>
            </a:r>
            <a:r>
              <a:rPr lang="en-US" dirty="0">
                <a:latin typeface="Calibri" pitchFamily="34" charset="0"/>
              </a:rPr>
              <a:t> </a:t>
            </a:r>
            <a:r>
              <a:rPr lang="en-US" dirty="0" err="1">
                <a:latin typeface="Calibri" pitchFamily="34" charset="0"/>
              </a:rPr>
              <a:t>Wajar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10" name="Snip Diagonal Corner Rectangle 9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Diagonal Corner Rectangle 10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36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304800"/>
            <a:ext cx="5698976" cy="1143000"/>
          </a:xfrm>
        </p:spPr>
        <p:txBody>
          <a:bodyPr/>
          <a:lstStyle/>
          <a:p>
            <a:r>
              <a:rPr lang="en-US" b="1" dirty="0" err="1"/>
              <a:t>Kontrak</a:t>
            </a:r>
            <a:r>
              <a:rPr lang="en-US" b="1" dirty="0"/>
              <a:t> </a:t>
            </a:r>
            <a:r>
              <a:rPr lang="en-US" b="1" dirty="0" err="1"/>
              <a:t>Perkuliahan</a:t>
            </a:r>
            <a:endParaRPr lang="en-US" b="1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94862" y="1628800"/>
            <a:ext cx="81153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Berisi</a:t>
            </a:r>
            <a:r>
              <a:rPr lang="en-US" dirty="0"/>
              <a:t>:</a:t>
            </a:r>
          </a:p>
          <a:p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Selama</a:t>
            </a:r>
            <a:r>
              <a:rPr lang="en-US" dirty="0"/>
              <a:t> </a:t>
            </a:r>
            <a:r>
              <a:rPr lang="en-US" dirty="0" err="1"/>
              <a:t>Perkuliahan</a:t>
            </a:r>
            <a:r>
              <a:rPr lang="id-ID" dirty="0"/>
              <a:t> </a:t>
            </a:r>
            <a:r>
              <a:rPr lang="id-ID" dirty="0" err="1"/>
              <a:t>offline</a:t>
            </a:r>
            <a:r>
              <a:rPr lang="id-ID" dirty="0"/>
              <a:t>:</a:t>
            </a:r>
          </a:p>
          <a:p>
            <a:pPr lvl="1"/>
            <a:r>
              <a:rPr lang="id-ID" dirty="0"/>
              <a:t>Toleransi keterlambatan 15 menit. Dosen akan masuk sebelum mahasiswa masuk. </a:t>
            </a:r>
          </a:p>
          <a:p>
            <a:pPr lvl="1"/>
            <a:r>
              <a:rPr lang="id-ID" dirty="0"/>
              <a:t>Absen kehadiran dilakukan oleh dosen setelah dosen masuk kelas</a:t>
            </a:r>
          </a:p>
          <a:p>
            <a:pPr lvl="1"/>
            <a:r>
              <a:rPr lang="id-ID" dirty="0"/>
              <a:t>Papan tulis sudah bersih sebelum dosen masuk kelas</a:t>
            </a:r>
          </a:p>
          <a:p>
            <a:pPr lvl="1"/>
            <a:r>
              <a:rPr lang="id-ID" dirty="0" err="1"/>
              <a:t>Infocus</a:t>
            </a:r>
            <a:r>
              <a:rPr lang="id-ID" dirty="0"/>
              <a:t> sudah dipersiapkan sebelum dosen masuk kelas</a:t>
            </a:r>
          </a:p>
          <a:p>
            <a:pPr lvl="1"/>
            <a:r>
              <a:rPr lang="id-ID" dirty="0"/>
              <a:t>Perkuliahan dimulai tepat 15 menit dari jadwal perkuliahan diawali dengan </a:t>
            </a:r>
            <a:r>
              <a:rPr lang="id-ID" dirty="0" err="1"/>
              <a:t>do’a</a:t>
            </a:r>
            <a:r>
              <a:rPr lang="id-ID" dirty="0"/>
              <a:t> sebelum belajar</a:t>
            </a:r>
          </a:p>
          <a:p>
            <a:pPr lvl="1"/>
            <a:r>
              <a:rPr lang="id-ID" dirty="0"/>
              <a:t>Selama perkuliahan, kondisi kelas tetap tenang dan tidak mengobrol</a:t>
            </a:r>
          </a:p>
          <a:p>
            <a:pPr lvl="1"/>
            <a:r>
              <a:rPr lang="id-ID" dirty="0"/>
              <a:t>Selama perkuliahan, semua perangkat telekomunikasi dipadamkan</a:t>
            </a:r>
          </a:p>
          <a:p>
            <a:pPr lvl="1"/>
            <a:r>
              <a:rPr lang="id-ID" dirty="0"/>
              <a:t>Selama perkuliahan, semua mahasiswa fokus penuh kepada dosen</a:t>
            </a:r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0" name="Snip Diagonal Corner Rectangle 9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Diagonal Corner Rectangle 10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789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304800"/>
            <a:ext cx="5698976" cy="1143000"/>
          </a:xfrm>
        </p:spPr>
        <p:txBody>
          <a:bodyPr/>
          <a:lstStyle/>
          <a:p>
            <a:r>
              <a:rPr lang="en-US" b="1" dirty="0" err="1"/>
              <a:t>Kontrak</a:t>
            </a:r>
            <a:r>
              <a:rPr lang="en-US" b="1" dirty="0"/>
              <a:t> </a:t>
            </a:r>
            <a:r>
              <a:rPr lang="en-US" b="1" dirty="0" err="1"/>
              <a:t>Perkuliahan</a:t>
            </a:r>
            <a:endParaRPr lang="en-US" b="1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14350" y="1484784"/>
            <a:ext cx="81153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Berisi</a:t>
            </a:r>
            <a:r>
              <a:rPr lang="en-US" dirty="0"/>
              <a:t>:</a:t>
            </a:r>
          </a:p>
          <a:p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Selama</a:t>
            </a:r>
            <a:r>
              <a:rPr lang="en-US" dirty="0"/>
              <a:t> </a:t>
            </a:r>
            <a:r>
              <a:rPr lang="en-US" dirty="0" err="1"/>
              <a:t>Perkuliahan</a:t>
            </a:r>
            <a:r>
              <a:rPr lang="id-ID" dirty="0"/>
              <a:t> </a:t>
            </a:r>
            <a:r>
              <a:rPr lang="id-ID" dirty="0" err="1"/>
              <a:t>offline</a:t>
            </a:r>
            <a:r>
              <a:rPr lang="id-ID" dirty="0"/>
              <a:t>:</a:t>
            </a:r>
          </a:p>
          <a:p>
            <a:pPr lvl="1"/>
            <a:r>
              <a:rPr lang="id-ID" dirty="0"/>
              <a:t>Alat tulis yang wajib dimiliki mahasiswa: Buku Kampus Ukuran A4, Buku Teks Kalkulus, Balpoin Berwarna Hitam, Pensil 2B, Penghapus, Penggaris, Kertas HVS/Kertas Buram</a:t>
            </a:r>
          </a:p>
          <a:p>
            <a:pPr lvl="1"/>
            <a:r>
              <a:rPr lang="id-ID" dirty="0"/>
              <a:t>Pakaian rapi sesuai aturan yang diberikan oleh </a:t>
            </a:r>
            <a:r>
              <a:rPr lang="en-US" dirty="0"/>
              <a:t>POLBAN</a:t>
            </a:r>
            <a:endParaRPr lang="id-ID" dirty="0"/>
          </a:p>
          <a:p>
            <a:pPr lvl="1"/>
            <a:r>
              <a:rPr lang="id-ID" dirty="0"/>
              <a:t>Menggunakan sepatu dan tidak diperkenankan menggunakan sandal</a:t>
            </a:r>
          </a:p>
          <a:p>
            <a:pPr lvl="1"/>
            <a:r>
              <a:rPr lang="id-ID" dirty="0"/>
              <a:t>Penampilan sewajarnya</a:t>
            </a:r>
            <a:r>
              <a:rPr lang="en-US" dirty="0"/>
              <a:t> </a:t>
            </a:r>
            <a:r>
              <a:rPr lang="id-ID" dirty="0"/>
              <a:t>tetapi sopan dan menjaga nilai-nilai agama</a:t>
            </a:r>
          </a:p>
          <a:p>
            <a:pPr lvl="1"/>
            <a:r>
              <a:rPr lang="id-ID" dirty="0"/>
              <a:t>Tidak diperkenankan merokok di lingkungan </a:t>
            </a:r>
            <a:r>
              <a:rPr lang="en-US" dirty="0"/>
              <a:t>POLBAN</a:t>
            </a:r>
            <a:endParaRPr lang="id-ID" dirty="0"/>
          </a:p>
          <a:p>
            <a:pPr lvl="1">
              <a:buFont typeface="Arial" panose="020B0604020202020204" pitchFamily="34" charset="0"/>
              <a:buNone/>
            </a:pPr>
            <a:endParaRPr lang="id-ID" dirty="0"/>
          </a:p>
          <a:p>
            <a:pPr lvl="1"/>
            <a:endParaRPr lang="id-ID" dirty="0"/>
          </a:p>
        </p:txBody>
      </p:sp>
      <p:sp>
        <p:nvSpPr>
          <p:cNvPr id="10" name="Snip Diagonal Corner Rectangle 9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Diagonal Corner Rectangle 10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472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228600"/>
            <a:ext cx="5698976" cy="1143000"/>
          </a:xfrm>
        </p:spPr>
        <p:txBody>
          <a:bodyPr/>
          <a:lstStyle/>
          <a:p>
            <a:r>
              <a:rPr lang="en-US" b="1" dirty="0" err="1"/>
              <a:t>Kontrak</a:t>
            </a:r>
            <a:r>
              <a:rPr lang="en-US" b="1" dirty="0"/>
              <a:t> </a:t>
            </a:r>
            <a:r>
              <a:rPr lang="en-US" b="1" dirty="0" err="1"/>
              <a:t>Perkuliahan</a:t>
            </a:r>
            <a:endParaRPr lang="en-US" b="1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67543" y="1916832"/>
            <a:ext cx="81153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Berisi</a:t>
            </a:r>
            <a:r>
              <a:rPr lang="en-US" dirty="0"/>
              <a:t>:</a:t>
            </a:r>
          </a:p>
          <a:p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Selama</a:t>
            </a:r>
            <a:r>
              <a:rPr lang="en-US" dirty="0"/>
              <a:t> </a:t>
            </a:r>
            <a:r>
              <a:rPr lang="en-US" dirty="0" err="1"/>
              <a:t>Perkuliahan</a:t>
            </a:r>
            <a:r>
              <a:rPr lang="id-ID" dirty="0"/>
              <a:t> </a:t>
            </a:r>
            <a:r>
              <a:rPr lang="id-ID" dirty="0" err="1"/>
              <a:t>offline</a:t>
            </a:r>
            <a:r>
              <a:rPr lang="id-ID" dirty="0"/>
              <a:t>:</a:t>
            </a:r>
          </a:p>
          <a:p>
            <a:pPr lvl="1"/>
            <a:r>
              <a:rPr lang="id-ID" dirty="0"/>
              <a:t>Selama Kuis, ETS, EAS tidak diperkenankan berbuat curang, seperti: </a:t>
            </a:r>
            <a:r>
              <a:rPr lang="id-ID" dirty="0" err="1"/>
              <a:t>mencontek</a:t>
            </a:r>
            <a:r>
              <a:rPr lang="id-ID" dirty="0"/>
              <a:t>, </a:t>
            </a:r>
            <a:r>
              <a:rPr lang="id-ID" dirty="0" err="1"/>
              <a:t>bekerjasama</a:t>
            </a:r>
            <a:r>
              <a:rPr lang="id-ID" dirty="0"/>
              <a:t> dengan teman</a:t>
            </a:r>
          </a:p>
          <a:p>
            <a:pPr lvl="1"/>
            <a:r>
              <a:rPr lang="id-ID" dirty="0"/>
              <a:t>Jika </a:t>
            </a:r>
            <a:r>
              <a:rPr lang="id-ID" dirty="0" err="1"/>
              <a:t>mencontek</a:t>
            </a:r>
            <a:r>
              <a:rPr lang="id-ID" dirty="0"/>
              <a:t>, maka dosen akan mengeluarkan mahasiswa tersebut dan tidak diperkenankan mengikuti ujian kembali</a:t>
            </a:r>
          </a:p>
          <a:p>
            <a:pPr lvl="1"/>
            <a:r>
              <a:rPr lang="id-ID" dirty="0"/>
              <a:t>Tidak menggunakan perangkat telekomunikasi, seperti gadget untuk mendokumentasikan hasil tulisan di papan tulis.</a:t>
            </a:r>
          </a:p>
          <a:p>
            <a:pPr lvl="1"/>
            <a:r>
              <a:rPr lang="id-ID" dirty="0"/>
              <a:t>Mahasiswa harus mencatat secara manual di atas buku catatannya.</a:t>
            </a:r>
          </a:p>
          <a:p>
            <a:pPr lvl="1">
              <a:buFont typeface="Arial" panose="020B0604020202020204" pitchFamily="34" charset="0"/>
              <a:buNone/>
            </a:pPr>
            <a:endParaRPr lang="id-ID" dirty="0"/>
          </a:p>
          <a:p>
            <a:pPr lvl="1"/>
            <a:endParaRPr lang="id-ID" dirty="0"/>
          </a:p>
        </p:txBody>
      </p:sp>
      <p:sp>
        <p:nvSpPr>
          <p:cNvPr id="11" name="Snip Diagonal Corner Rectangle 10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nip Diagonal Corner Rectangle 11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472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228600"/>
            <a:ext cx="5698976" cy="1143000"/>
          </a:xfrm>
        </p:spPr>
        <p:txBody>
          <a:bodyPr>
            <a:normAutofit fontScale="90000"/>
          </a:bodyPr>
          <a:lstStyle/>
          <a:p>
            <a:r>
              <a:rPr lang="id-ID" b="1" dirty="0"/>
              <a:t>SISTEM PEMBELAJARAN</a:t>
            </a:r>
            <a:endParaRPr lang="en-US" b="1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14350" y="2194561"/>
            <a:ext cx="81153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488" lvl="1" indent="0">
              <a:buFont typeface="Arial" panose="020B0604020202020204" pitchFamily="34" charset="0"/>
              <a:buNone/>
            </a:pPr>
            <a:r>
              <a:rPr lang="en-US" dirty="0"/>
              <a:t>MAHASISWA PRESENTASI &amp; </a:t>
            </a:r>
            <a:r>
              <a:rPr lang="id-ID" dirty="0"/>
              <a:t>DOSEN MENYAMPAIKAN KONSEP </a:t>
            </a:r>
            <a:r>
              <a:rPr lang="id-ID" dirty="0">
                <a:sym typeface="Wingdings" pitchFamily="2" charset="2"/>
              </a:rPr>
              <a:t> MAHASISWA MEMAHAMI DAN MENCATAT  MAHASISWA INTERAKTIF  LATIHAN SOAL </a:t>
            </a:r>
            <a:r>
              <a:rPr lang="en-US" dirty="0">
                <a:sym typeface="Wingdings" pitchFamily="2" charset="2"/>
              </a:rPr>
              <a:t> MAHASISWA &amp; </a:t>
            </a:r>
            <a:r>
              <a:rPr lang="id-ID" dirty="0">
                <a:sym typeface="Wingdings" pitchFamily="2" charset="2"/>
              </a:rPr>
              <a:t> DOSEN MELEMPAR PERTANYAAN</a:t>
            </a:r>
            <a:endParaRPr lang="id-ID" dirty="0"/>
          </a:p>
        </p:txBody>
      </p:sp>
      <p:sp>
        <p:nvSpPr>
          <p:cNvPr id="10" name="Snip Diagonal Corner Rectangle 9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Diagonal Corner Rectangle 10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789260"/>
      </p:ext>
    </p:extLst>
  </p:cSld>
  <p:clrMapOvr>
    <a:masterClrMapping/>
  </p:clrMapOvr>
</p:sld>
</file>

<file path=ppt/theme/theme1.xml><?xml version="1.0" encoding="utf-8"?>
<a:theme xmlns:a="http://schemas.openxmlformats.org/drawingml/2006/main" name="BPP Tel-U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BPP Tel-U</Template>
  <TotalTime>2605</TotalTime>
  <Words>1460</Words>
  <Application>Microsoft Office PowerPoint</Application>
  <PresentationFormat>On-screen Show (4:3)</PresentationFormat>
  <Paragraphs>179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Symbol</vt:lpstr>
      <vt:lpstr>Times New Roman</vt:lpstr>
      <vt:lpstr>Wingdings</vt:lpstr>
      <vt:lpstr>BPP Tel-U</vt:lpstr>
      <vt:lpstr> Jurusan Teknik Komputer dan Informatika (POLBAN)</vt:lpstr>
      <vt:lpstr>SILABUS 21KU1008 MATEMATIKA TERAPAN A  SEMESTER 1 2024-2025</vt:lpstr>
      <vt:lpstr>Tujuan Instruksional Umum (TIU)</vt:lpstr>
      <vt:lpstr>Silabus ringkas</vt:lpstr>
      <vt:lpstr>Evaluasi</vt:lpstr>
      <vt:lpstr>Indeks</vt:lpstr>
      <vt:lpstr>Catatan</vt:lpstr>
      <vt:lpstr>Uraian Rinci Materi Kuliah 21KU1008</vt:lpstr>
      <vt:lpstr>Uraian Rinci Materi Kuliah 21KU1008</vt:lpstr>
      <vt:lpstr>Uraian Rinci Materi Kuliah 21KU1008</vt:lpstr>
      <vt:lpstr>Biodata Dosen</vt:lpstr>
      <vt:lpstr>Profile Mata Kuliah</vt:lpstr>
      <vt:lpstr>Kontrak Perkuliahan</vt:lpstr>
      <vt:lpstr>Kontrak Perkuliahan</vt:lpstr>
      <vt:lpstr>Kontrak Perkuliahan</vt:lpstr>
      <vt:lpstr>SISTEM PEMBELAJARAN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Hibah  Buku Ajar  2015</dc:title>
  <dc:creator>Gumi</dc:creator>
  <cp:lastModifiedBy>edhie ghandhu</cp:lastModifiedBy>
  <cp:revision>191</cp:revision>
  <cp:lastPrinted>2015-03-29T21:56:54Z</cp:lastPrinted>
  <dcterms:created xsi:type="dcterms:W3CDTF">2015-02-05T09:27:37Z</dcterms:created>
  <dcterms:modified xsi:type="dcterms:W3CDTF">2024-08-13T01:51:10Z</dcterms:modified>
</cp:coreProperties>
</file>