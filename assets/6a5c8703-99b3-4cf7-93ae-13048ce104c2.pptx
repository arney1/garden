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2" r:id="rId2"/>
  </p:sldMasterIdLst>
  <p:notesMasterIdLst>
    <p:notesMasterId r:id="rId50"/>
  </p:notesMasterIdLst>
  <p:sldIdLst>
    <p:sldId id="305" r:id="rId3"/>
    <p:sldId id="306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5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84.wmf"/><Relationship Id="rId4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85.wmf"/><Relationship Id="rId1" Type="http://schemas.openxmlformats.org/officeDocument/2006/relationships/image" Target="../media/image3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59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6.wmf"/><Relationship Id="rId7" Type="http://schemas.openxmlformats.org/officeDocument/2006/relationships/image" Target="../media/image109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10" Type="http://schemas.openxmlformats.org/officeDocument/2006/relationships/image" Target="../media/image112.wmf"/><Relationship Id="rId4" Type="http://schemas.openxmlformats.org/officeDocument/2006/relationships/image" Target="../media/image101.wmf"/><Relationship Id="rId9" Type="http://schemas.openxmlformats.org/officeDocument/2006/relationships/image" Target="../media/image11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96.wmf"/><Relationship Id="rId4" Type="http://schemas.openxmlformats.org/officeDocument/2006/relationships/image" Target="../media/image121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4" Type="http://schemas.openxmlformats.org/officeDocument/2006/relationships/image" Target="../media/image133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4" Type="http://schemas.openxmlformats.org/officeDocument/2006/relationships/image" Target="../media/image13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4" Type="http://schemas.openxmlformats.org/officeDocument/2006/relationships/image" Target="../media/image144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269AA-8FE9-4668-9C64-46DFE754C436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378CA-6A69-46E1-B1D4-46400C2519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1867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86388"/>
            <a:ext cx="9144000" cy="1571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23B5416C-211E-4E89-B2E4-324E4AEC5D3F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8"/>
            <a:ext cx="4800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9"/>
            <a:ext cx="20574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BAB-8003-4C80-9654-94A314A9E54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753536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CF9B9C90-098C-4561-872B-6AE0E949AB12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4"/>
            <a:ext cx="5243619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2"/>
            <a:ext cx="40005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2"/>
            <a:ext cx="40005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1CD1-AF81-4E45-8035-28728BDF30DD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8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2" y="3132669"/>
            <a:ext cx="3983831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9"/>
            <a:ext cx="40005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FE67-93C9-4402-948E-EE355A8BDED5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474B-D8D5-4B2B-BF59-D43DFCB5C175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8170-C225-4567-A927-E25C2325CB7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2"/>
            <a:ext cx="4882964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1EE84-F8A9-4EB5-AD63-AFB970F2BC02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4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7005-DA46-4E35-8B1D-1FF1F4B4ACA4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3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2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8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817A-12A2-4911-A3EA-75A5ADAB419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5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5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C5787EC-BA88-4206-B7E3-F9C167CEAABB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5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62289FD4-0BFE-4D3F-B987-5C4F28AC3F03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2" y="1124704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648318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6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25566CFC-D234-4381-A739-106666E43A7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8886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2"/>
            <a:ext cx="645794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59E7A-3636-486B-8872-86C64C5E8835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45794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4" y="4191003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4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4" y="4873767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9" y="4191003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700" y="4873766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3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2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4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FD18-9F6F-491F-8BFA-C0C56384C55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2"/>
            <a:ext cx="81153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3C72-163B-4C97-A372-EB6BEF8EB35E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9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1" y="745070"/>
            <a:ext cx="615315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8CC7D7D1-5BBB-492B-9DEC-5FB4372F6DF1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3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9237B-C316-4E3D-A6F3-BEA033419E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78490-823B-4604-8C72-33A3DF8CBE46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9341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3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3A3C3-11D8-4505-AD9F-483B9AF442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03379-7090-4F9A-AE10-DC859C0D1B4B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0535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3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3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8B379-BDEF-4164-8102-D0C09F64E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51ADB-DF8D-4BA3-A803-48A3705DD34C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0007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3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38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18211-44E4-4D1E-813C-05C187000C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B25A2-004C-4346-8C7B-D106C0AC26C5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98728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2AA1-DD25-4DC0-9C3C-CDE790BB0C3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9277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A37A-D7F6-48EC-A718-A59E52455E59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25703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410EB-2C4A-4A6C-BAD8-EB1D0C40118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08932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E117E-BF48-4377-866B-A6F8FD3B927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50067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B857-3290-40F6-B972-BDB85A8BB9E8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66238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D6A94-7BA5-48F0-A96B-794A18F1F93C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5611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6364-9C30-4483-926B-5FADBBBF5B3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90529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57BDE-E11D-4F33-94A6-5ABF3C8DD12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30560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D402-F5A2-4725-8541-04FEEF5B053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12632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7DCC-C230-4312-A844-0921BD45011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19422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4362-7244-43AF-8A77-6BEB52B21A8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364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383D0-536A-48A3-A14A-57888FFD1BB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 descr="C3-HD-BTM.png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43644"/>
            <a:ext cx="9144000" cy="714356"/>
          </a:xfrm>
          <a:prstGeom prst="rect">
            <a:avLst/>
          </a:prstGeom>
        </p:spPr>
      </p:pic>
      <p:pic>
        <p:nvPicPr>
          <p:cNvPr id="10" name="Picture 4" descr="E:\Image\Logo\04.png"/>
          <p:cNvPicPr>
            <a:picLocks noChangeAspect="1" noChangeArrowheads="1"/>
          </p:cNvPicPr>
          <p:nvPr userDrawn="1"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357950" y="27474"/>
            <a:ext cx="1714511" cy="686882"/>
          </a:xfrm>
          <a:prstGeom prst="rect">
            <a:avLst/>
          </a:prstGeom>
          <a:noFill/>
        </p:spPr>
      </p:pic>
      <p:pic>
        <p:nvPicPr>
          <p:cNvPr id="11" name="Picture 3" descr="D:\FRI\Sekprodi\logoFRI_content.jpg"/>
          <p:cNvPicPr>
            <a:picLocks noChangeAspect="1" noChangeArrowheads="1"/>
          </p:cNvPicPr>
          <p:nvPr userDrawn="1"/>
        </p:nvPicPr>
        <p:blipFill>
          <a:blip r:embed="rId26" cstate="print"/>
          <a:srcRect l="9375" r="6249" b="6249"/>
          <a:stretch>
            <a:fillRect/>
          </a:stretch>
        </p:blipFill>
        <p:spPr bwMode="auto">
          <a:xfrm>
            <a:off x="8286744" y="0"/>
            <a:ext cx="857256" cy="71438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8169619" y="0"/>
            <a:ext cx="45719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aseline="-25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CEC70-EF07-49A7-BFF8-5A8B7620165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26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0.bin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2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.png"/><Relationship Id="rId4" Type="http://schemas.openxmlformats.org/officeDocument/2006/relationships/oleObject" Target="../embeddings/oleObject50.bin"/><Relationship Id="rId9" Type="http://schemas.openxmlformats.org/officeDocument/2006/relationships/oleObject" Target="../embeddings/oleObject5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8.bin"/><Relationship Id="rId5" Type="http://schemas.openxmlformats.org/officeDocument/2006/relationships/oleObject" Target="../embeddings/oleObject57.bin"/><Relationship Id="rId4" Type="http://schemas.openxmlformats.org/officeDocument/2006/relationships/oleObject" Target="../embeddings/oleObject5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2.bin"/><Relationship Id="rId5" Type="http://schemas.openxmlformats.org/officeDocument/2006/relationships/oleObject" Target="../embeddings/oleObject61.bin"/><Relationship Id="rId4" Type="http://schemas.openxmlformats.org/officeDocument/2006/relationships/oleObject" Target="../embeddings/oleObject6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6.bin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5.bin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4.bin"/><Relationship Id="rId9" Type="http://schemas.openxmlformats.org/officeDocument/2006/relationships/oleObject" Target="../embeddings/oleObject6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7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7.bin"/><Relationship Id="rId5" Type="http://schemas.openxmlformats.org/officeDocument/2006/relationships/oleObject" Target="../embeddings/oleObject76.bin"/><Relationship Id="rId4" Type="http://schemas.openxmlformats.org/officeDocument/2006/relationships/oleObject" Target="../embeddings/oleObject7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80.bin"/><Relationship Id="rId4" Type="http://schemas.openxmlformats.org/officeDocument/2006/relationships/oleObject" Target="../embeddings/oleObject7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83.bin"/><Relationship Id="rId5" Type="http://schemas.openxmlformats.org/officeDocument/2006/relationships/oleObject" Target="../embeddings/oleObject82.bin"/><Relationship Id="rId4" Type="http://schemas.openxmlformats.org/officeDocument/2006/relationships/oleObject" Target="../embeddings/oleObject8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8.bin"/><Relationship Id="rId5" Type="http://schemas.openxmlformats.org/officeDocument/2006/relationships/oleObject" Target="../embeddings/oleObject87.bin"/><Relationship Id="rId4" Type="http://schemas.openxmlformats.org/officeDocument/2006/relationships/oleObject" Target="../embeddings/oleObject86.bin"/><Relationship Id="rId9" Type="http://schemas.openxmlformats.org/officeDocument/2006/relationships/oleObject" Target="../embeddings/oleObject9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9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96.bin"/><Relationship Id="rId5" Type="http://schemas.openxmlformats.org/officeDocument/2006/relationships/oleObject" Target="../embeddings/oleObject95.bin"/><Relationship Id="rId4" Type="http://schemas.openxmlformats.org/officeDocument/2006/relationships/oleObject" Target="../embeddings/oleObject9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94.jpeg"/><Relationship Id="rId4" Type="http://schemas.openxmlformats.org/officeDocument/2006/relationships/oleObject" Target="../embeddings/oleObject9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oleObject" Target="../embeddings/oleObject10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07.bin"/><Relationship Id="rId5" Type="http://schemas.openxmlformats.org/officeDocument/2006/relationships/oleObject" Target="../embeddings/oleObject106.bin"/><Relationship Id="rId4" Type="http://schemas.openxmlformats.org/officeDocument/2006/relationships/oleObject" Target="../embeddings/oleObject10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oleObject" Target="../embeddings/oleObject119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3.bin"/><Relationship Id="rId12" Type="http://schemas.openxmlformats.org/officeDocument/2006/relationships/oleObject" Target="../embeddings/oleObject118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12.bin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1.bin"/><Relationship Id="rId15" Type="http://schemas.openxmlformats.org/officeDocument/2006/relationships/image" Target="../media/image5.png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0.bin"/><Relationship Id="rId9" Type="http://schemas.openxmlformats.org/officeDocument/2006/relationships/oleObject" Target="../embeddings/oleObject115.bin"/><Relationship Id="rId14" Type="http://schemas.openxmlformats.org/officeDocument/2006/relationships/oleObject" Target="../embeddings/oleObject12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23.bin"/><Relationship Id="rId5" Type="http://schemas.openxmlformats.org/officeDocument/2006/relationships/oleObject" Target="../embeddings/oleObject122.bin"/><Relationship Id="rId4" Type="http://schemas.openxmlformats.org/officeDocument/2006/relationships/oleObject" Target="../embeddings/oleObject121.bin"/><Relationship Id="rId9" Type="http://schemas.openxmlformats.org/officeDocument/2006/relationships/oleObject" Target="../embeddings/oleObject12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29.bin"/><Relationship Id="rId5" Type="http://schemas.openxmlformats.org/officeDocument/2006/relationships/oleObject" Target="../embeddings/oleObject128.bin"/><Relationship Id="rId4" Type="http://schemas.openxmlformats.org/officeDocument/2006/relationships/oleObject" Target="../embeddings/oleObject12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oleObject" Target="../embeddings/oleObject132.bin"/><Relationship Id="rId4" Type="http://schemas.openxmlformats.org/officeDocument/2006/relationships/oleObject" Target="../embeddings/oleObject13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5.png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35.bin"/><Relationship Id="rId5" Type="http://schemas.openxmlformats.org/officeDocument/2006/relationships/oleObject" Target="../embeddings/oleObject134.bin"/><Relationship Id="rId4" Type="http://schemas.openxmlformats.org/officeDocument/2006/relationships/oleObject" Target="../embeddings/oleObject133.bin"/><Relationship Id="rId9" Type="http://schemas.openxmlformats.org/officeDocument/2006/relationships/oleObject" Target="../embeddings/oleObject138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42.bin"/><Relationship Id="rId5" Type="http://schemas.openxmlformats.org/officeDocument/2006/relationships/oleObject" Target="../embeddings/oleObject141.bin"/><Relationship Id="rId4" Type="http://schemas.openxmlformats.org/officeDocument/2006/relationships/oleObject" Target="../embeddings/oleObject14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1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45.bin"/><Relationship Id="rId5" Type="http://schemas.openxmlformats.org/officeDocument/2006/relationships/oleObject" Target="../embeddings/oleObject144.bin"/><Relationship Id="rId4" Type="http://schemas.openxmlformats.org/officeDocument/2006/relationships/oleObject" Target="../embeddings/oleObject14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49.bin"/><Relationship Id="rId5" Type="http://schemas.openxmlformats.org/officeDocument/2006/relationships/oleObject" Target="../embeddings/oleObject148.bin"/><Relationship Id="rId4" Type="http://schemas.openxmlformats.org/officeDocument/2006/relationships/oleObject" Target="../embeddings/oleObject14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4" Type="http://schemas.openxmlformats.org/officeDocument/2006/relationships/oleObject" Target="../embeddings/oleObject15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53.bin"/><Relationship Id="rId5" Type="http://schemas.openxmlformats.org/officeDocument/2006/relationships/oleObject" Target="../embeddings/oleObject152.bin"/><Relationship Id="rId4" Type="http://schemas.openxmlformats.org/officeDocument/2006/relationships/oleObject" Target="../embeddings/oleObject15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5" Type="http://schemas.openxmlformats.org/officeDocument/2006/relationships/oleObject" Target="../embeddings/oleObject156.bin"/><Relationship Id="rId4" Type="http://schemas.openxmlformats.org/officeDocument/2006/relationships/oleObject" Target="../embeddings/oleObject155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7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16C44-F711-40D8-933D-5408AFB57C57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matemati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209800"/>
            <a:ext cx="4152900" cy="41529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0" y="2895600"/>
            <a:ext cx="4824536" cy="2175223"/>
          </a:xfr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r>
              <a:rPr lang="en-US" sz="1600" b="1" dirty="0">
                <a:solidFill>
                  <a:prstClr val="black"/>
                </a:solidFill>
              </a:rPr>
              <a:t/>
            </a:r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b="1" dirty="0" err="1" smtClean="0">
                <a:solidFill>
                  <a:prstClr val="black"/>
                </a:solidFill>
              </a:rPr>
              <a:t>Jurusan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Teknik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Komputer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dan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Informatika</a:t>
            </a:r>
            <a:r>
              <a:rPr lang="en-US" sz="1600" b="1" dirty="0" smtClean="0">
                <a:solidFill>
                  <a:prstClr val="black"/>
                </a:solidFill>
              </a:rPr>
              <a:t/>
            </a:r>
            <a:br>
              <a:rPr lang="en-US" sz="1600" b="1" dirty="0" smtClean="0">
                <a:solidFill>
                  <a:prstClr val="black"/>
                </a:solidFill>
              </a:rPr>
            </a:br>
            <a:r>
              <a:rPr lang="en-US" sz="1600" dirty="0" smtClean="0">
                <a:solidFill>
                  <a:prstClr val="black"/>
                </a:solidFill>
              </a:rPr>
              <a:t>(POLBAN)</a:t>
            </a:r>
            <a:endParaRPr lang="id-ID" sz="1600" dirty="0"/>
          </a:p>
        </p:txBody>
      </p:sp>
      <p:sp>
        <p:nvSpPr>
          <p:cNvPr id="22" name="Rectangle 21"/>
          <p:cNvSpPr/>
          <p:nvPr/>
        </p:nvSpPr>
        <p:spPr>
          <a:xfrm>
            <a:off x="0" y="2732782"/>
            <a:ext cx="5029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prstClr val="black"/>
                </a:solidFill>
              </a:rPr>
              <a:t>MATEMATIKA TERAPAN 1</a:t>
            </a:r>
          </a:p>
          <a:p>
            <a:pPr algn="ctr"/>
            <a:r>
              <a:rPr lang="en-US" sz="3200" b="1" dirty="0" smtClean="0">
                <a:solidFill>
                  <a:prstClr val="black"/>
                </a:solidFill>
              </a:rPr>
              <a:t>16TIN1043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400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7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16C44-F711-40D8-933D-5408AFB57C57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sp>
        <p:nvSpPr>
          <p:cNvPr id="16" name="Snip Diagonal Corner Rectangle 1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ubtitle 4"/>
          <p:cNvSpPr txBox="1">
            <a:spLocks/>
          </p:cNvSpPr>
          <p:nvPr/>
        </p:nvSpPr>
        <p:spPr>
          <a:xfrm>
            <a:off x="609600" y="3124200"/>
            <a:ext cx="7086600" cy="110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 err="1" smtClean="0">
                <a:solidFill>
                  <a:prstClr val="black"/>
                </a:solidFill>
              </a:rPr>
              <a:t>Aplikasi</a:t>
            </a:r>
            <a:r>
              <a:rPr lang="en-US" sz="4000" b="1" dirty="0" smtClean="0">
                <a:solidFill>
                  <a:prstClr val="black"/>
                </a:solidFill>
              </a:rPr>
              <a:t> </a:t>
            </a:r>
            <a:r>
              <a:rPr lang="en-US" sz="4000" b="1" dirty="0" err="1" smtClean="0">
                <a:solidFill>
                  <a:prstClr val="black"/>
                </a:solidFill>
              </a:rPr>
              <a:t>Turunan</a:t>
            </a:r>
            <a:endParaRPr lang="en-US" sz="4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734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Diagonal Corner Rectangle 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nip Diagonal Corner Rectangle 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052735"/>
            <a:ext cx="8090098" cy="100466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Tujuan</a:t>
            </a:r>
            <a:r>
              <a:rPr lang="en-US" sz="3600" b="1" dirty="0" smtClean="0"/>
              <a:t> PEMBELAJARAN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Menggambar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 smtClean="0"/>
              <a:t>selang</a:t>
            </a:r>
            <a:r>
              <a:rPr lang="en-US" dirty="0"/>
              <a:t> </a:t>
            </a:r>
            <a:r>
              <a:rPr lang="en-US" dirty="0" err="1" smtClean="0"/>
              <a:t>kemonotan</a:t>
            </a:r>
            <a:r>
              <a:rPr lang="en-US" dirty="0"/>
              <a:t>, </a:t>
            </a:r>
            <a:r>
              <a:rPr lang="en-US" dirty="0" err="1"/>
              <a:t>ekstrim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,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kecekungan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 smtClean="0"/>
              <a:t>titik</a:t>
            </a:r>
            <a:r>
              <a:rPr lang="en-US" dirty="0"/>
              <a:t> </a:t>
            </a:r>
            <a:r>
              <a:rPr lang="en-US" dirty="0" err="1" smtClean="0"/>
              <a:t>belok</a:t>
            </a:r>
            <a:endParaRPr lang="en-US" dirty="0" smtClean="0"/>
          </a:p>
          <a:p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 smtClean="0"/>
              <a:t>masalah</a:t>
            </a:r>
            <a:r>
              <a:rPr lang="en-US" dirty="0"/>
              <a:t> </a:t>
            </a:r>
            <a:r>
              <a:rPr lang="en-US" dirty="0" err="1" smtClean="0"/>
              <a:t>maksimum</a:t>
            </a:r>
            <a:r>
              <a:rPr lang="en-US" dirty="0" smtClean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smtClean="0"/>
              <a:t>minimum</a:t>
            </a:r>
          </a:p>
          <a:p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smtClean="0"/>
              <a:t>limit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/>
              <a:t>dalil</a:t>
            </a:r>
            <a:r>
              <a:rPr lang="en-US" dirty="0"/>
              <a:t> </a:t>
            </a:r>
            <a:r>
              <a:rPr lang="en-US" dirty="0" err="1"/>
              <a:t>L’Hopital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75226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</p:spPr>
        <p:txBody>
          <a:bodyPr/>
          <a:lstStyle/>
          <a:p>
            <a:pPr algn="ctr">
              <a:defRPr/>
            </a:pPr>
            <a:fld id="{04C4C4D8-6F87-49F0-921C-13794B42DA8C}" type="slidenum">
              <a:rPr lang="en-US"/>
              <a:pPr algn="ctr">
                <a:defRPr/>
              </a:pPr>
              <a:t>4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070" y="1600200"/>
            <a:ext cx="6336323" cy="82391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rgbClr val="3333FF"/>
                </a:solidFill>
              </a:rPr>
              <a:t/>
            </a:r>
            <a:br>
              <a:rPr lang="en-US" sz="3600" b="1" dirty="0" smtClean="0">
                <a:solidFill>
                  <a:srgbClr val="3333FF"/>
                </a:solidFill>
              </a:rPr>
            </a:br>
            <a:r>
              <a:rPr lang="en-US" sz="3200" b="1" dirty="0" smtClean="0"/>
              <a:t>5.1 </a:t>
            </a:r>
            <a:r>
              <a:rPr lang="id-ID" sz="3200" b="1" dirty="0" smtClean="0"/>
              <a:t>Menggambar grafik fungsi</a:t>
            </a:r>
            <a:r>
              <a:rPr lang="id-ID" sz="2800" b="1" dirty="0" smtClean="0"/>
              <a:t/>
            </a:r>
            <a:br>
              <a:rPr lang="id-ID" sz="2800" b="1" dirty="0" smtClean="0"/>
            </a:br>
            <a:endParaRPr lang="id-ID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162" y="2536855"/>
            <a:ext cx="6661638" cy="3073361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id-ID" sz="2400" dirty="0" smtClean="0">
                <a:solidFill>
                  <a:schemeClr val="accent4">
                    <a:lumMod val="10000"/>
                  </a:schemeClr>
                </a:solidFill>
              </a:rPr>
              <a:t>Informasi yang dibutuhkan:</a:t>
            </a:r>
            <a:endParaRPr lang="en-US" sz="2400" dirty="0" smtClean="0">
              <a:solidFill>
                <a:schemeClr val="accent4">
                  <a:lumMod val="10000"/>
                </a:schemeClr>
              </a:solidFill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</a:rPr>
              <a:t>A.</a:t>
            </a:r>
            <a:r>
              <a:rPr lang="en-US" b="1" dirty="0" smtClean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id-ID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Titik potong dengan sumbu </a:t>
            </a:r>
            <a:r>
              <a:rPr lang="id-ID" i="1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x </a:t>
            </a:r>
            <a:r>
              <a:rPr lang="id-ID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dan sumbu </a:t>
            </a:r>
            <a:r>
              <a:rPr lang="id-ID" i="1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y</a:t>
            </a:r>
            <a:endParaRPr lang="en-US" i="1" dirty="0" smtClean="0">
              <a:solidFill>
                <a:schemeClr val="accent4">
                  <a:lumMod val="10000"/>
                </a:schemeClr>
              </a:solidFill>
              <a:effectLst/>
              <a:latin typeface="Arial Narrow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id-ID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B. </a:t>
            </a: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 </a:t>
            </a:r>
            <a:r>
              <a:rPr lang="id-ID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Asimtot fungsi</a:t>
            </a:r>
            <a:endParaRPr lang="en-US" dirty="0" smtClean="0">
              <a:solidFill>
                <a:schemeClr val="accent4">
                  <a:lumMod val="10000"/>
                </a:schemeClr>
              </a:solidFill>
              <a:effectLst/>
              <a:latin typeface="Arial Narrow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C. 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Kemonotonan</a:t>
            </a: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Fungsi</a:t>
            </a:r>
            <a:endParaRPr lang="en-US" dirty="0" smtClean="0">
              <a:solidFill>
                <a:schemeClr val="accent4">
                  <a:lumMod val="10000"/>
                </a:schemeClr>
              </a:solidFill>
              <a:effectLst/>
              <a:latin typeface="Arial Narrow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D. 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Ekstrim</a:t>
            </a: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Fungsi</a:t>
            </a:r>
            <a:endParaRPr lang="en-US" dirty="0" smtClean="0">
              <a:solidFill>
                <a:schemeClr val="accent4">
                  <a:lumMod val="10000"/>
                </a:schemeClr>
              </a:solidFill>
              <a:effectLst/>
              <a:latin typeface="Arial Narrow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E. 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Kecekungan</a:t>
            </a: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Fungsi</a:t>
            </a:r>
            <a:endParaRPr lang="en-US" dirty="0" smtClean="0">
              <a:solidFill>
                <a:schemeClr val="accent4">
                  <a:lumMod val="10000"/>
                </a:schemeClr>
              </a:solidFill>
              <a:effectLst/>
              <a:latin typeface="Arial Narrow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F. 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Titik</a:t>
            </a:r>
            <a:r>
              <a:rPr lang="en-US" dirty="0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 </a:t>
            </a:r>
            <a:r>
              <a:rPr lang="en-US" dirty="0" err="1" smtClean="0">
                <a:solidFill>
                  <a:schemeClr val="accent4">
                    <a:lumMod val="10000"/>
                  </a:schemeClr>
                </a:solidFill>
                <a:effectLst/>
                <a:latin typeface="Arial Narrow" pitchFamily="34" charset="0"/>
              </a:rPr>
              <a:t>Belok</a:t>
            </a:r>
            <a:endParaRPr lang="id-ID" dirty="0" smtClean="0">
              <a:solidFill>
                <a:schemeClr val="accent4">
                  <a:lumMod val="10000"/>
                </a:schemeClr>
              </a:solidFill>
              <a:effectLst/>
              <a:latin typeface="Arial Narrow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chemeClr val="accent4">
                    <a:lumMod val="10000"/>
                  </a:schemeClr>
                </a:solidFill>
              </a:rPr>
              <a:t>      </a:t>
            </a:r>
            <a:endParaRPr lang="id-ID" sz="2400" dirty="0" smtClean="0"/>
          </a:p>
          <a:p>
            <a:pPr marL="609600" indent="-609600" eaLnBrk="1" hangingPunct="1">
              <a:lnSpc>
                <a:spcPct val="80000"/>
              </a:lnSpc>
              <a:defRPr/>
            </a:pPr>
            <a:endParaRPr lang="id-ID" sz="2400" dirty="0" smtClean="0"/>
          </a:p>
        </p:txBody>
      </p:sp>
      <p:sp>
        <p:nvSpPr>
          <p:cNvPr id="45062" name="Rectangle 5"/>
          <p:cNvSpPr>
            <a:spLocks noChangeArrowheads="1"/>
          </p:cNvSpPr>
          <p:nvPr/>
        </p:nvSpPr>
        <p:spPr bwMode="auto">
          <a:xfrm>
            <a:off x="4479638" y="40682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3" name="Rectangle 6"/>
          <p:cNvSpPr>
            <a:spLocks noChangeArrowheads="1"/>
          </p:cNvSpPr>
          <p:nvPr/>
        </p:nvSpPr>
        <p:spPr bwMode="auto">
          <a:xfrm>
            <a:off x="4479638" y="43444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4479638" y="40682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4479638" y="43444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6" name="Rectangle 11"/>
          <p:cNvSpPr>
            <a:spLocks noChangeArrowheads="1"/>
          </p:cNvSpPr>
          <p:nvPr/>
        </p:nvSpPr>
        <p:spPr bwMode="auto">
          <a:xfrm>
            <a:off x="4479638" y="40110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7" name="Rectangle 12"/>
          <p:cNvSpPr>
            <a:spLocks noChangeArrowheads="1"/>
          </p:cNvSpPr>
          <p:nvPr/>
        </p:nvSpPr>
        <p:spPr bwMode="auto">
          <a:xfrm>
            <a:off x="4479638" y="440161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8" name="Rectangle 14"/>
          <p:cNvSpPr>
            <a:spLocks noChangeArrowheads="1"/>
          </p:cNvSpPr>
          <p:nvPr/>
        </p:nvSpPr>
        <p:spPr bwMode="auto">
          <a:xfrm>
            <a:off x="4479638" y="40682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5069" name="Rectangle 15"/>
          <p:cNvSpPr>
            <a:spLocks noChangeArrowheads="1"/>
          </p:cNvSpPr>
          <p:nvPr/>
        </p:nvSpPr>
        <p:spPr bwMode="auto">
          <a:xfrm>
            <a:off x="4479638" y="43444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244408" y="0"/>
            <a:ext cx="899592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11081157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nip Diagonal Corner Rectangle 1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nip Diagonal Corner Rectangle 1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10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0B498535-F50F-40C5-A723-3527C9908084}" type="slidenum">
              <a:rPr lang="en-US" sz="1200" smtClean="0">
                <a:latin typeface="Arial Black" pitchFamily="34" charset="0"/>
              </a:rPr>
              <a:pPr algn="r" eaLnBrk="1" hangingPunct="1"/>
              <a:t>5</a:t>
            </a:fld>
            <a:endParaRPr lang="en-US" sz="1200" dirty="0" smtClean="0">
              <a:latin typeface="Arial Black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50" y="1371600"/>
            <a:ext cx="8642838" cy="5257800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3333FF"/>
                </a:solidFill>
              </a:rPr>
              <a:t>A. </a:t>
            </a:r>
            <a:r>
              <a:rPr lang="id-ID" sz="2000" b="1" dirty="0" smtClean="0">
                <a:solidFill>
                  <a:srgbClr val="3333FF"/>
                </a:solidFill>
              </a:rPr>
              <a:t>Titik potong dengan sumbu </a:t>
            </a:r>
            <a:r>
              <a:rPr lang="id-ID" sz="2000" b="1" i="1" dirty="0" smtClean="0">
                <a:solidFill>
                  <a:srgbClr val="3333FF"/>
                </a:solidFill>
              </a:rPr>
              <a:t>x </a:t>
            </a:r>
            <a:r>
              <a:rPr lang="id-ID" sz="2000" b="1" dirty="0" smtClean="0">
                <a:solidFill>
                  <a:srgbClr val="3333FF"/>
                </a:solidFill>
              </a:rPr>
              <a:t>dan sumbu </a:t>
            </a:r>
            <a:r>
              <a:rPr lang="id-ID" sz="2000" b="1" i="1" dirty="0" smtClean="0">
                <a:solidFill>
                  <a:srgbClr val="3333FF"/>
                </a:solidFill>
              </a:rPr>
              <a:t>y</a:t>
            </a:r>
            <a:endParaRPr lang="en-US" sz="2000" b="1" i="1" dirty="0" smtClean="0">
              <a:solidFill>
                <a:srgbClr val="3333FF"/>
              </a:solidFill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b="1" dirty="0" smtClean="0">
                <a:solidFill>
                  <a:srgbClr val="3333FF"/>
                </a:solidFill>
              </a:rPr>
              <a:t>B. Asimtot fungsi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FF3399"/>
                </a:solidFill>
              </a:rPr>
              <a:t>      </a:t>
            </a:r>
            <a:r>
              <a:rPr lang="id-ID" sz="2000" b="1" dirty="0" smtClean="0">
                <a:solidFill>
                  <a:srgbClr val="FF3399"/>
                </a:solidFill>
              </a:rPr>
              <a:t>Definisi 5.1:</a:t>
            </a:r>
            <a:r>
              <a:rPr lang="id-ID" sz="2000" b="1" dirty="0" smtClean="0"/>
              <a:t> </a:t>
            </a:r>
            <a:r>
              <a:rPr lang="id-ID" sz="2000" dirty="0" smtClean="0"/>
              <a:t>Asimtot fungsi adalah garis lurus yang didekati oleh</a:t>
            </a:r>
            <a:endParaRPr lang="en-US" sz="2000" dirty="0" smtClean="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</a:t>
            </a:r>
            <a:r>
              <a:rPr lang="id-ID" sz="2000" dirty="0" smtClean="0"/>
              <a:t> grafik</a:t>
            </a:r>
            <a:r>
              <a:rPr lang="en-US" sz="2000" dirty="0" smtClean="0"/>
              <a:t> </a:t>
            </a:r>
            <a:r>
              <a:rPr lang="id-ID" sz="2000" dirty="0" smtClean="0"/>
              <a:t>fungsi. Ada Tiga</a:t>
            </a:r>
            <a:r>
              <a:rPr lang="en-US" sz="2000" dirty="0" smtClean="0"/>
              <a:t> </a:t>
            </a:r>
            <a:r>
              <a:rPr lang="en-US" sz="2000" dirty="0" err="1" smtClean="0"/>
              <a:t>jenis</a:t>
            </a:r>
            <a:r>
              <a:rPr lang="id-ID" sz="2000" dirty="0" smtClean="0"/>
              <a:t> asimtot fungsi, yakni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(i) </a:t>
            </a:r>
            <a:r>
              <a:rPr lang="id-ID" sz="2000" dirty="0" smtClean="0"/>
              <a:t>Asimtot Tegak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/>
              <a:t>     </a:t>
            </a:r>
            <a:r>
              <a:rPr lang="en-US" sz="2000" dirty="0" smtClean="0"/>
              <a:t>     </a:t>
            </a:r>
            <a:r>
              <a:rPr lang="id-ID" sz="2000" dirty="0" smtClean="0"/>
              <a:t>Garis </a:t>
            </a:r>
            <a:r>
              <a:rPr lang="id-ID" sz="2000" b="1" i="1" dirty="0" smtClean="0"/>
              <a:t>x = c</a:t>
            </a:r>
            <a:r>
              <a:rPr lang="id-ID" sz="2000" dirty="0" smtClean="0"/>
              <a:t> disebut asimtot tegak dari </a:t>
            </a:r>
            <a:r>
              <a:rPr lang="id-ID" sz="2000" i="1" dirty="0" smtClean="0"/>
              <a:t>y</a:t>
            </a:r>
            <a:r>
              <a:rPr lang="id-ID" sz="2000" dirty="0" smtClean="0"/>
              <a:t> = </a:t>
            </a:r>
            <a:r>
              <a:rPr lang="id-ID" sz="2000" i="1" dirty="0" smtClean="0"/>
              <a:t>f</a:t>
            </a:r>
            <a:r>
              <a:rPr lang="id-ID" sz="2000" dirty="0" smtClean="0"/>
              <a:t>(</a:t>
            </a:r>
            <a:r>
              <a:rPr lang="id-ID" sz="2000" i="1" dirty="0" smtClean="0"/>
              <a:t>x</a:t>
            </a:r>
            <a:r>
              <a:rPr lang="id-ID" sz="2000" dirty="0" smtClean="0"/>
              <a:t>) jika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(ii) </a:t>
            </a:r>
            <a:r>
              <a:rPr lang="id-ID" sz="2000" dirty="0" smtClean="0"/>
              <a:t>Asimtot Datar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/>
              <a:t>    </a:t>
            </a:r>
            <a:r>
              <a:rPr lang="en-US" sz="2000" dirty="0" smtClean="0"/>
              <a:t>       </a:t>
            </a:r>
            <a:r>
              <a:rPr lang="id-ID" sz="2000" dirty="0" smtClean="0"/>
              <a:t>Garis </a:t>
            </a:r>
            <a:r>
              <a:rPr lang="id-ID" sz="2000" b="1" i="1" dirty="0" smtClean="0"/>
              <a:t>y = b</a:t>
            </a:r>
            <a:r>
              <a:rPr lang="id-ID" sz="2000" b="1" dirty="0" smtClean="0"/>
              <a:t> </a:t>
            </a:r>
            <a:r>
              <a:rPr lang="id-ID" sz="2000" dirty="0" smtClean="0"/>
              <a:t>disebut asimtot datar dari </a:t>
            </a:r>
            <a:r>
              <a:rPr lang="id-ID" sz="2000" i="1" dirty="0" smtClean="0"/>
              <a:t>y</a:t>
            </a:r>
            <a:r>
              <a:rPr lang="id-ID" sz="2000" dirty="0" smtClean="0"/>
              <a:t> = </a:t>
            </a:r>
            <a:r>
              <a:rPr lang="id-ID" sz="2000" i="1" dirty="0" smtClean="0"/>
              <a:t>f</a:t>
            </a:r>
            <a:r>
              <a:rPr lang="id-ID" sz="2000" dirty="0" smtClean="0"/>
              <a:t>(</a:t>
            </a:r>
            <a:r>
              <a:rPr lang="id-ID" sz="2000" i="1" dirty="0" smtClean="0"/>
              <a:t>x</a:t>
            </a:r>
            <a:r>
              <a:rPr lang="id-ID" sz="2000" dirty="0" smtClean="0"/>
              <a:t>) jika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(iii) </a:t>
            </a:r>
            <a:r>
              <a:rPr lang="id-ID" sz="2000" dirty="0" smtClean="0"/>
              <a:t>Asimtot Miring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/>
              <a:t>    </a:t>
            </a:r>
            <a:r>
              <a:rPr lang="en-US" sz="2000" dirty="0" smtClean="0"/>
              <a:t>        </a:t>
            </a:r>
            <a:r>
              <a:rPr lang="id-ID" sz="2000" dirty="0" smtClean="0"/>
              <a:t>Garis </a:t>
            </a:r>
            <a:r>
              <a:rPr lang="id-ID" sz="2000" b="1" i="1" dirty="0" smtClean="0"/>
              <a:t>y </a:t>
            </a:r>
            <a:r>
              <a:rPr lang="id-ID" sz="2000" b="1" dirty="0" smtClean="0"/>
              <a:t>= </a:t>
            </a:r>
            <a:r>
              <a:rPr lang="id-ID" sz="2000" b="1" i="1" dirty="0" smtClean="0"/>
              <a:t>ax</a:t>
            </a:r>
            <a:r>
              <a:rPr lang="id-ID" sz="2000" b="1" dirty="0" smtClean="0"/>
              <a:t> + </a:t>
            </a:r>
            <a:r>
              <a:rPr lang="id-ID" sz="2000" b="1" i="1" dirty="0" smtClean="0"/>
              <a:t>b</a:t>
            </a:r>
            <a:r>
              <a:rPr lang="id-ID" sz="2000" dirty="0" smtClean="0"/>
              <a:t> disebut asimtot miring jika</a:t>
            </a:r>
            <a:endParaRPr lang="en-US" sz="2000" dirty="0" smtClean="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400" dirty="0" smtClean="0"/>
              <a:t>		      </a:t>
            </a:r>
            <a:endParaRPr lang="en-US" sz="2400" dirty="0" smtClean="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/>
              <a:t>				 </a:t>
            </a:r>
            <a:r>
              <a:rPr lang="id-ID" sz="2000" dirty="0" smtClean="0"/>
              <a:t>dan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id-ID" sz="2400" dirty="0" smtClean="0"/>
          </a:p>
        </p:txBody>
      </p:sp>
      <p:sp>
        <p:nvSpPr>
          <p:cNvPr id="1033" name="Rectangle 5"/>
          <p:cNvSpPr>
            <a:spLocks noChangeArrowheads="1"/>
          </p:cNvSpPr>
          <p:nvPr/>
        </p:nvSpPr>
        <p:spPr bwMode="auto">
          <a:xfrm>
            <a:off x="4479638" y="34824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63979717"/>
              </p:ext>
            </p:extLst>
          </p:nvPr>
        </p:nvGraphicFramePr>
        <p:xfrm>
          <a:off x="7092280" y="3114675"/>
          <a:ext cx="1846385" cy="552450"/>
        </p:xfrm>
        <a:graphic>
          <a:graphicData uri="http://schemas.openxmlformats.org/presentationml/2006/ole">
            <p:oleObj spid="_x0000_s2122" name="Equation" r:id="rId4" imgW="927100" imgH="279400" progId="Equation.3">
              <p:embed/>
            </p:oleObj>
          </a:graphicData>
        </a:graphic>
      </p:graphicFrame>
      <p:sp>
        <p:nvSpPr>
          <p:cNvPr id="1034" name="Rectangle 6"/>
          <p:cNvSpPr>
            <a:spLocks noChangeArrowheads="1"/>
          </p:cNvSpPr>
          <p:nvPr/>
        </p:nvSpPr>
        <p:spPr bwMode="auto">
          <a:xfrm>
            <a:off x="4479638" y="37586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35" name="Rectangle 8"/>
          <p:cNvSpPr>
            <a:spLocks noChangeArrowheads="1"/>
          </p:cNvSpPr>
          <p:nvPr/>
        </p:nvSpPr>
        <p:spPr bwMode="auto">
          <a:xfrm>
            <a:off x="4479638" y="34824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4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00212555"/>
              </p:ext>
            </p:extLst>
          </p:nvPr>
        </p:nvGraphicFramePr>
        <p:xfrm>
          <a:off x="7092280" y="3832741"/>
          <a:ext cx="1846385" cy="590550"/>
        </p:xfrm>
        <a:graphic>
          <a:graphicData uri="http://schemas.openxmlformats.org/presentationml/2006/ole">
            <p:oleObj spid="_x0000_s2123" name="Equation" r:id="rId5" imgW="863225" imgH="279279" progId="Equation.3">
              <p:embed/>
            </p:oleObj>
          </a:graphicData>
        </a:graphic>
      </p:graphicFrame>
      <p:sp>
        <p:nvSpPr>
          <p:cNvPr id="1036" name="Rectangle 9"/>
          <p:cNvSpPr>
            <a:spLocks noChangeArrowheads="1"/>
          </p:cNvSpPr>
          <p:nvPr/>
        </p:nvSpPr>
        <p:spPr bwMode="auto">
          <a:xfrm>
            <a:off x="4479638" y="37586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37" name="Rectangle 11"/>
          <p:cNvSpPr>
            <a:spLocks noChangeArrowheads="1"/>
          </p:cNvSpPr>
          <p:nvPr/>
        </p:nvSpPr>
        <p:spPr bwMode="auto">
          <a:xfrm>
            <a:off x="4479638" y="34253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98191179"/>
              </p:ext>
            </p:extLst>
          </p:nvPr>
        </p:nvGraphicFramePr>
        <p:xfrm>
          <a:off x="1043608" y="5245397"/>
          <a:ext cx="1855177" cy="768350"/>
        </p:xfrm>
        <a:graphic>
          <a:graphicData uri="http://schemas.openxmlformats.org/presentationml/2006/ole">
            <p:oleObj spid="_x0000_s2124" name="Equation" r:id="rId6" imgW="939392" imgH="393529" progId="Equation.3">
              <p:embed/>
            </p:oleObj>
          </a:graphicData>
        </a:graphic>
      </p:graphicFrame>
      <p:sp>
        <p:nvSpPr>
          <p:cNvPr id="1038" name="Rectangle 12"/>
          <p:cNvSpPr>
            <a:spLocks noChangeArrowheads="1"/>
          </p:cNvSpPr>
          <p:nvPr/>
        </p:nvSpPr>
        <p:spPr bwMode="auto">
          <a:xfrm>
            <a:off x="4479638" y="38158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39" name="Rectangle 14"/>
          <p:cNvSpPr>
            <a:spLocks noChangeArrowheads="1"/>
          </p:cNvSpPr>
          <p:nvPr/>
        </p:nvSpPr>
        <p:spPr bwMode="auto">
          <a:xfrm>
            <a:off x="4479638" y="34824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43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18521393"/>
              </p:ext>
            </p:extLst>
          </p:nvPr>
        </p:nvGraphicFramePr>
        <p:xfrm>
          <a:off x="4067944" y="5317405"/>
          <a:ext cx="2460380" cy="588963"/>
        </p:xfrm>
        <a:graphic>
          <a:graphicData uri="http://schemas.openxmlformats.org/presentationml/2006/ole">
            <p:oleObj spid="_x0000_s2125" name="Equation" r:id="rId7" imgW="1155700" imgH="279400" progId="Equation.3">
              <p:embed/>
            </p:oleObj>
          </a:graphicData>
        </a:graphic>
      </p:graphicFrame>
      <p:sp>
        <p:nvSpPr>
          <p:cNvPr id="1040" name="Rectangle 15"/>
          <p:cNvSpPr>
            <a:spLocks noChangeArrowheads="1"/>
          </p:cNvSpPr>
          <p:nvPr/>
        </p:nvSpPr>
        <p:spPr bwMode="auto">
          <a:xfrm>
            <a:off x="4479638" y="37586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7190253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nip Diagonal Corner Rectangle 3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nip Diagonal Corner Rectangle 3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20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71230C5A-A536-45A4-AC1B-DCA63607EE7D}" type="slidenum">
              <a:rPr lang="en-US" sz="1200" smtClean="0">
                <a:latin typeface="Arial Black" pitchFamily="34" charset="0"/>
              </a:rPr>
              <a:pPr algn="r" eaLnBrk="1" hangingPunct="1"/>
              <a:t>6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76490" name="Text Box 10"/>
          <p:cNvSpPr txBox="1">
            <a:spLocks noChangeArrowheads="1"/>
          </p:cNvSpPr>
          <p:nvPr/>
        </p:nvSpPr>
        <p:spPr bwMode="auto">
          <a:xfrm>
            <a:off x="1248508" y="3937001"/>
            <a:ext cx="2252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x=a asimtot tegak</a:t>
            </a:r>
          </a:p>
        </p:txBody>
      </p:sp>
      <p:sp>
        <p:nvSpPr>
          <p:cNvPr id="276484" name="Line 4"/>
          <p:cNvSpPr>
            <a:spLocks noChangeShapeType="1"/>
          </p:cNvSpPr>
          <p:nvPr/>
        </p:nvSpPr>
        <p:spPr bwMode="auto">
          <a:xfrm>
            <a:off x="1581150" y="1560513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485" name="Line 5"/>
          <p:cNvSpPr>
            <a:spLocks noChangeShapeType="1"/>
          </p:cNvSpPr>
          <p:nvPr/>
        </p:nvSpPr>
        <p:spPr bwMode="auto">
          <a:xfrm>
            <a:off x="584689" y="2713038"/>
            <a:ext cx="31901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486" name="Line 6"/>
          <p:cNvSpPr>
            <a:spLocks noChangeShapeType="1"/>
          </p:cNvSpPr>
          <p:nvPr/>
        </p:nvSpPr>
        <p:spPr bwMode="auto">
          <a:xfrm>
            <a:off x="2445727" y="1776422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487" name="Freeform 7"/>
          <p:cNvSpPr>
            <a:spLocks/>
          </p:cNvSpPr>
          <p:nvPr/>
        </p:nvSpPr>
        <p:spPr bwMode="auto">
          <a:xfrm>
            <a:off x="1714504" y="1920875"/>
            <a:ext cx="665285" cy="719138"/>
          </a:xfrm>
          <a:custGeom>
            <a:avLst/>
            <a:gdLst>
              <a:gd name="T0" fmla="*/ 0 w 454"/>
              <a:gd name="T1" fmla="*/ 2147483647 h 453"/>
              <a:gd name="T2" fmla="*/ 2147483647 w 454"/>
              <a:gd name="T3" fmla="*/ 2147483647 h 453"/>
              <a:gd name="T4" fmla="*/ 2147483647 w 454"/>
              <a:gd name="T5" fmla="*/ 0 h 453"/>
              <a:gd name="T6" fmla="*/ 0 60000 65536"/>
              <a:gd name="T7" fmla="*/ 0 60000 65536"/>
              <a:gd name="T8" fmla="*/ 0 60000 65536"/>
              <a:gd name="T9" fmla="*/ 0 w 454"/>
              <a:gd name="T10" fmla="*/ 0 h 453"/>
              <a:gd name="T11" fmla="*/ 454 w 454"/>
              <a:gd name="T12" fmla="*/ 453 h 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" h="453">
                <a:moveTo>
                  <a:pt x="0" y="453"/>
                </a:moveTo>
                <a:cubicBezTo>
                  <a:pt x="143" y="445"/>
                  <a:pt x="287" y="438"/>
                  <a:pt x="363" y="363"/>
                </a:cubicBezTo>
                <a:cubicBezTo>
                  <a:pt x="439" y="288"/>
                  <a:pt x="446" y="144"/>
                  <a:pt x="45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489" name="Freeform 9"/>
          <p:cNvSpPr>
            <a:spLocks/>
          </p:cNvSpPr>
          <p:nvPr/>
        </p:nvSpPr>
        <p:spPr bwMode="auto">
          <a:xfrm>
            <a:off x="2491154" y="1920875"/>
            <a:ext cx="552450" cy="719138"/>
          </a:xfrm>
          <a:custGeom>
            <a:avLst/>
            <a:gdLst>
              <a:gd name="T0" fmla="*/ 2147483647 w 377"/>
              <a:gd name="T1" fmla="*/ 2147483647 h 453"/>
              <a:gd name="T2" fmla="*/ 2147483647 w 377"/>
              <a:gd name="T3" fmla="*/ 2147483647 h 453"/>
              <a:gd name="T4" fmla="*/ 2147483647 w 377"/>
              <a:gd name="T5" fmla="*/ 0 h 453"/>
              <a:gd name="T6" fmla="*/ 0 60000 65536"/>
              <a:gd name="T7" fmla="*/ 0 60000 65536"/>
              <a:gd name="T8" fmla="*/ 0 60000 65536"/>
              <a:gd name="T9" fmla="*/ 0 w 377"/>
              <a:gd name="T10" fmla="*/ 0 h 453"/>
              <a:gd name="T11" fmla="*/ 377 w 377"/>
              <a:gd name="T12" fmla="*/ 453 h 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7" h="453">
                <a:moveTo>
                  <a:pt x="377" y="453"/>
                </a:moveTo>
                <a:cubicBezTo>
                  <a:pt x="248" y="445"/>
                  <a:pt x="120" y="438"/>
                  <a:pt x="60" y="363"/>
                </a:cubicBezTo>
                <a:cubicBezTo>
                  <a:pt x="0" y="288"/>
                  <a:pt x="22" y="68"/>
                  <a:pt x="1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491" name="Text Box 11"/>
          <p:cNvSpPr txBox="1">
            <a:spLocks noChangeArrowheads="1"/>
          </p:cNvSpPr>
          <p:nvPr/>
        </p:nvSpPr>
        <p:spPr bwMode="auto">
          <a:xfrm>
            <a:off x="2378320" y="2603501"/>
            <a:ext cx="3193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a</a:t>
            </a:r>
          </a:p>
        </p:txBody>
      </p:sp>
      <p:sp>
        <p:nvSpPr>
          <p:cNvPr id="2063" name="Rectangle 14"/>
          <p:cNvSpPr>
            <a:spLocks noChangeArrowheads="1"/>
          </p:cNvSpPr>
          <p:nvPr/>
        </p:nvSpPr>
        <p:spPr bwMode="auto">
          <a:xfrm>
            <a:off x="4479638" y="3614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76493" name="Object 13"/>
          <p:cNvGraphicFramePr>
            <a:graphicFrameLocks noChangeAspect="1"/>
          </p:cNvGraphicFramePr>
          <p:nvPr/>
        </p:nvGraphicFramePr>
        <p:xfrm>
          <a:off x="783986" y="4622800"/>
          <a:ext cx="2060331" cy="704850"/>
        </p:xfrm>
        <a:graphic>
          <a:graphicData uri="http://schemas.openxmlformats.org/presentationml/2006/ole">
            <p:oleObj spid="_x0000_s3146" name="Equation" r:id="rId4" imgW="876300" imgH="279400" progId="Equation.3">
              <p:embed/>
            </p:oleObj>
          </a:graphicData>
        </a:graphic>
      </p:graphicFrame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4479638" y="3614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76495" name="Object 15"/>
          <p:cNvGraphicFramePr>
            <a:graphicFrameLocks noChangeAspect="1"/>
          </p:cNvGraphicFramePr>
          <p:nvPr/>
        </p:nvGraphicFramePr>
        <p:xfrm>
          <a:off x="849927" y="5619759"/>
          <a:ext cx="2060331" cy="701675"/>
        </p:xfrm>
        <a:graphic>
          <a:graphicData uri="http://schemas.openxmlformats.org/presentationml/2006/ole">
            <p:oleObj spid="_x0000_s3147" name="Equation" r:id="rId5" imgW="876300" imgH="279400" progId="Equation.3">
              <p:embed/>
            </p:oleObj>
          </a:graphicData>
        </a:graphic>
      </p:graphicFrame>
      <p:sp>
        <p:nvSpPr>
          <p:cNvPr id="276497" name="Text Box 17"/>
          <p:cNvSpPr txBox="1">
            <a:spLocks noChangeArrowheads="1"/>
          </p:cNvSpPr>
          <p:nvPr/>
        </p:nvSpPr>
        <p:spPr bwMode="auto">
          <a:xfrm>
            <a:off x="565638" y="4241800"/>
            <a:ext cx="1616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Dalam kasus</a:t>
            </a:r>
          </a:p>
        </p:txBody>
      </p:sp>
      <p:sp>
        <p:nvSpPr>
          <p:cNvPr id="276498" name="Text Box 18"/>
          <p:cNvSpPr txBox="1">
            <a:spLocks noChangeArrowheads="1"/>
          </p:cNvSpPr>
          <p:nvPr/>
        </p:nvSpPr>
        <p:spPr bwMode="auto">
          <a:xfrm>
            <a:off x="517281" y="5222876"/>
            <a:ext cx="60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dan</a:t>
            </a:r>
          </a:p>
        </p:txBody>
      </p:sp>
      <p:sp>
        <p:nvSpPr>
          <p:cNvPr id="276504" name="Text Box 24"/>
          <p:cNvSpPr txBox="1">
            <a:spLocks noChangeArrowheads="1"/>
          </p:cNvSpPr>
          <p:nvPr/>
        </p:nvSpPr>
        <p:spPr bwMode="auto">
          <a:xfrm>
            <a:off x="5037993" y="3900489"/>
            <a:ext cx="2252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x=a asimtot tegak</a:t>
            </a:r>
          </a:p>
        </p:txBody>
      </p:sp>
      <p:sp>
        <p:nvSpPr>
          <p:cNvPr id="276505" name="Text Box 25"/>
          <p:cNvSpPr txBox="1">
            <a:spLocks noChangeArrowheads="1"/>
          </p:cNvSpPr>
          <p:nvPr/>
        </p:nvSpPr>
        <p:spPr bwMode="auto">
          <a:xfrm>
            <a:off x="5153758" y="4287836"/>
            <a:ext cx="1616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Dalam kasus</a:t>
            </a:r>
          </a:p>
        </p:txBody>
      </p:sp>
      <p:sp>
        <p:nvSpPr>
          <p:cNvPr id="2069" name="Rectangle 27"/>
          <p:cNvSpPr>
            <a:spLocks noChangeArrowheads="1"/>
          </p:cNvSpPr>
          <p:nvPr/>
        </p:nvSpPr>
        <p:spPr bwMode="auto">
          <a:xfrm>
            <a:off x="4479638" y="3614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76506" name="Object 26"/>
          <p:cNvGraphicFramePr>
            <a:graphicFrameLocks noChangeAspect="1"/>
          </p:cNvGraphicFramePr>
          <p:nvPr/>
        </p:nvGraphicFramePr>
        <p:xfrm>
          <a:off x="5369174" y="4643437"/>
          <a:ext cx="2060331" cy="647700"/>
        </p:xfrm>
        <a:graphic>
          <a:graphicData uri="http://schemas.openxmlformats.org/presentationml/2006/ole">
            <p:oleObj spid="_x0000_s3148" name="Equation" r:id="rId6" imgW="952087" imgH="279279" progId="Equation.3">
              <p:embed/>
            </p:oleObj>
          </a:graphicData>
        </a:graphic>
      </p:graphicFrame>
      <p:sp>
        <p:nvSpPr>
          <p:cNvPr id="2070" name="Rectangle 29"/>
          <p:cNvSpPr>
            <a:spLocks noChangeArrowheads="1"/>
          </p:cNvSpPr>
          <p:nvPr/>
        </p:nvSpPr>
        <p:spPr bwMode="auto">
          <a:xfrm>
            <a:off x="4479638" y="3614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76508" name="Object 28"/>
          <p:cNvGraphicFramePr>
            <a:graphicFrameLocks noChangeAspect="1"/>
          </p:cNvGraphicFramePr>
          <p:nvPr/>
        </p:nvGraphicFramePr>
        <p:xfrm>
          <a:off x="5369174" y="5619750"/>
          <a:ext cx="2060331" cy="704850"/>
        </p:xfrm>
        <a:graphic>
          <a:graphicData uri="http://schemas.openxmlformats.org/presentationml/2006/ole">
            <p:oleObj spid="_x0000_s3149" name="Equation" r:id="rId7" imgW="876300" imgH="279400" progId="Equation.3">
              <p:embed/>
            </p:oleObj>
          </a:graphicData>
        </a:graphic>
      </p:graphicFrame>
      <p:sp>
        <p:nvSpPr>
          <p:cNvPr id="276510" name="Text Box 30"/>
          <p:cNvSpPr txBox="1">
            <a:spLocks noChangeArrowheads="1"/>
          </p:cNvSpPr>
          <p:nvPr/>
        </p:nvSpPr>
        <p:spPr bwMode="auto">
          <a:xfrm>
            <a:off x="5037993" y="5295901"/>
            <a:ext cx="60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dan</a:t>
            </a:r>
          </a:p>
        </p:txBody>
      </p:sp>
      <p:sp>
        <p:nvSpPr>
          <p:cNvPr id="276499" name="Line 19"/>
          <p:cNvSpPr>
            <a:spLocks noChangeShapeType="1"/>
          </p:cNvSpPr>
          <p:nvPr/>
        </p:nvSpPr>
        <p:spPr bwMode="auto">
          <a:xfrm>
            <a:off x="5436577" y="1704984"/>
            <a:ext cx="0" cy="208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00" name="Line 20"/>
          <p:cNvSpPr>
            <a:spLocks noChangeShapeType="1"/>
          </p:cNvSpPr>
          <p:nvPr/>
        </p:nvSpPr>
        <p:spPr bwMode="auto">
          <a:xfrm>
            <a:off x="4372708" y="2713038"/>
            <a:ext cx="299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01" name="Line 21"/>
          <p:cNvSpPr>
            <a:spLocks noChangeShapeType="1"/>
          </p:cNvSpPr>
          <p:nvPr/>
        </p:nvSpPr>
        <p:spPr bwMode="auto">
          <a:xfrm>
            <a:off x="6233746" y="1560516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02" name="Freeform 22"/>
          <p:cNvSpPr>
            <a:spLocks/>
          </p:cNvSpPr>
          <p:nvPr/>
        </p:nvSpPr>
        <p:spPr bwMode="auto">
          <a:xfrm>
            <a:off x="5635874" y="2773372"/>
            <a:ext cx="553915" cy="515937"/>
          </a:xfrm>
          <a:custGeom>
            <a:avLst/>
            <a:gdLst>
              <a:gd name="T0" fmla="*/ 0 w 378"/>
              <a:gd name="T1" fmla="*/ 2147483647 h 325"/>
              <a:gd name="T2" fmla="*/ 2147483647 w 378"/>
              <a:gd name="T3" fmla="*/ 2147483647 h 325"/>
              <a:gd name="T4" fmla="*/ 2147483647 w 378"/>
              <a:gd name="T5" fmla="*/ 2147483647 h 325"/>
              <a:gd name="T6" fmla="*/ 0 60000 65536"/>
              <a:gd name="T7" fmla="*/ 0 60000 65536"/>
              <a:gd name="T8" fmla="*/ 0 60000 65536"/>
              <a:gd name="T9" fmla="*/ 0 w 378"/>
              <a:gd name="T10" fmla="*/ 0 h 325"/>
              <a:gd name="T11" fmla="*/ 378 w 378"/>
              <a:gd name="T12" fmla="*/ 325 h 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" h="325">
                <a:moveTo>
                  <a:pt x="0" y="7"/>
                </a:moveTo>
                <a:cubicBezTo>
                  <a:pt x="129" y="3"/>
                  <a:pt x="258" y="0"/>
                  <a:pt x="318" y="53"/>
                </a:cubicBezTo>
                <a:cubicBezTo>
                  <a:pt x="378" y="106"/>
                  <a:pt x="370" y="215"/>
                  <a:pt x="363" y="32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03" name="Freeform 23"/>
          <p:cNvSpPr>
            <a:spLocks/>
          </p:cNvSpPr>
          <p:nvPr/>
        </p:nvSpPr>
        <p:spPr bwMode="auto">
          <a:xfrm>
            <a:off x="6301158" y="1992316"/>
            <a:ext cx="597877" cy="649287"/>
          </a:xfrm>
          <a:custGeom>
            <a:avLst/>
            <a:gdLst>
              <a:gd name="T0" fmla="*/ 2147483647 w 408"/>
              <a:gd name="T1" fmla="*/ 2147483647 h 409"/>
              <a:gd name="T2" fmla="*/ 2147483647 w 408"/>
              <a:gd name="T3" fmla="*/ 2147483647 h 409"/>
              <a:gd name="T4" fmla="*/ 0 w 408"/>
              <a:gd name="T5" fmla="*/ 0 h 409"/>
              <a:gd name="T6" fmla="*/ 0 60000 65536"/>
              <a:gd name="T7" fmla="*/ 0 60000 65536"/>
              <a:gd name="T8" fmla="*/ 0 60000 65536"/>
              <a:gd name="T9" fmla="*/ 0 w 408"/>
              <a:gd name="T10" fmla="*/ 0 h 409"/>
              <a:gd name="T11" fmla="*/ 408 w 408"/>
              <a:gd name="T12" fmla="*/ 409 h 4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409">
                <a:moveTo>
                  <a:pt x="408" y="409"/>
                </a:moveTo>
                <a:cubicBezTo>
                  <a:pt x="283" y="397"/>
                  <a:pt x="159" y="386"/>
                  <a:pt x="91" y="318"/>
                </a:cubicBezTo>
                <a:cubicBezTo>
                  <a:pt x="23" y="250"/>
                  <a:pt x="11" y="125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11" name="Text Box 31"/>
          <p:cNvSpPr txBox="1">
            <a:spLocks noChangeArrowheads="1"/>
          </p:cNvSpPr>
          <p:nvPr/>
        </p:nvSpPr>
        <p:spPr bwMode="auto">
          <a:xfrm>
            <a:off x="6194181" y="2568576"/>
            <a:ext cx="3193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a</a:t>
            </a:r>
          </a:p>
        </p:txBody>
      </p:sp>
      <p:sp>
        <p:nvSpPr>
          <p:cNvPr id="276513" name="Text Box 33"/>
          <p:cNvSpPr txBox="1">
            <a:spLocks noChangeArrowheads="1"/>
          </p:cNvSpPr>
          <p:nvPr/>
        </p:nvSpPr>
        <p:spPr bwMode="auto">
          <a:xfrm>
            <a:off x="948854" y="974726"/>
            <a:ext cx="1744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dirty="0" err="1"/>
              <a:t>Asimtot</a:t>
            </a:r>
            <a:r>
              <a:rPr lang="en-US" dirty="0"/>
              <a:t> </a:t>
            </a:r>
            <a:r>
              <a:rPr lang="en-US" dirty="0" err="1"/>
              <a:t>tegak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4224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7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7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7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30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7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7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27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7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7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27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7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3000"/>
                                        <p:tgtEl>
                                          <p:spTgt spid="27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7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6" dur="3000"/>
                                        <p:tgtEl>
                                          <p:spTgt spid="27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27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27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27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27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0" grpId="0"/>
      <p:bldP spid="276484" grpId="0" animBg="1"/>
      <p:bldP spid="276485" grpId="0" animBg="1"/>
      <p:bldP spid="276486" grpId="0" animBg="1"/>
      <p:bldP spid="276487" grpId="0" animBg="1"/>
      <p:bldP spid="276489" grpId="0" animBg="1"/>
      <p:bldP spid="276491" grpId="0"/>
      <p:bldP spid="276497" grpId="0"/>
      <p:bldP spid="276498" grpId="0"/>
      <p:bldP spid="276504" grpId="0"/>
      <p:bldP spid="276505" grpId="0"/>
      <p:bldP spid="276510" grpId="0"/>
      <p:bldP spid="276499" grpId="0" animBg="1"/>
      <p:bldP spid="276500" grpId="0" animBg="1"/>
      <p:bldP spid="276501" grpId="0" animBg="1"/>
      <p:bldP spid="276502" grpId="0" animBg="1"/>
      <p:bldP spid="276503" grpId="0" animBg="1"/>
      <p:bldP spid="276511" grpId="0"/>
      <p:bldP spid="2765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nip Diagonal Corner Rectangle 1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307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075A1065-1D74-48F4-96BC-138EBCC89F6F}" type="slidenum">
              <a:rPr lang="en-US" sz="1200" smtClean="0">
                <a:latin typeface="Arial Black" pitchFamily="34" charset="0"/>
              </a:rPr>
              <a:pPr algn="r" eaLnBrk="1" hangingPunct="1"/>
              <a:t>7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77508" name="Line 4"/>
          <p:cNvSpPr>
            <a:spLocks noChangeShapeType="1"/>
          </p:cNvSpPr>
          <p:nvPr/>
        </p:nvSpPr>
        <p:spPr bwMode="auto">
          <a:xfrm>
            <a:off x="1647092" y="1268422"/>
            <a:ext cx="0" cy="2376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09" name="Line 5"/>
          <p:cNvSpPr>
            <a:spLocks noChangeShapeType="1"/>
          </p:cNvSpPr>
          <p:nvPr/>
        </p:nvSpPr>
        <p:spPr bwMode="auto">
          <a:xfrm>
            <a:off x="517281" y="2565400"/>
            <a:ext cx="43199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10" name="Line 6"/>
          <p:cNvSpPr>
            <a:spLocks noChangeShapeType="1"/>
          </p:cNvSpPr>
          <p:nvPr/>
        </p:nvSpPr>
        <p:spPr bwMode="auto">
          <a:xfrm>
            <a:off x="783986" y="1844675"/>
            <a:ext cx="378801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11" name="Freeform 7"/>
          <p:cNvSpPr>
            <a:spLocks/>
          </p:cNvSpPr>
          <p:nvPr/>
        </p:nvSpPr>
        <p:spPr bwMode="auto">
          <a:xfrm>
            <a:off x="849923" y="1604963"/>
            <a:ext cx="3389435" cy="839787"/>
          </a:xfrm>
          <a:custGeom>
            <a:avLst/>
            <a:gdLst>
              <a:gd name="T0" fmla="*/ 0 w 2313"/>
              <a:gd name="T1" fmla="*/ 2147483647 h 529"/>
              <a:gd name="T2" fmla="*/ 2147483647 w 2313"/>
              <a:gd name="T3" fmla="*/ 2147483647 h 529"/>
              <a:gd name="T4" fmla="*/ 2147483647 w 2313"/>
              <a:gd name="T5" fmla="*/ 2147483647 h 529"/>
              <a:gd name="T6" fmla="*/ 2147483647 w 2313"/>
              <a:gd name="T7" fmla="*/ 2147483647 h 529"/>
              <a:gd name="T8" fmla="*/ 2147483647 w 2313"/>
              <a:gd name="T9" fmla="*/ 2147483647 h 529"/>
              <a:gd name="T10" fmla="*/ 2147483647 w 2313"/>
              <a:gd name="T11" fmla="*/ 2147483647 h 529"/>
              <a:gd name="T12" fmla="*/ 2147483647 w 2313"/>
              <a:gd name="T13" fmla="*/ 2147483647 h 5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3"/>
              <a:gd name="T22" fmla="*/ 0 h 529"/>
              <a:gd name="T23" fmla="*/ 2313 w 2313"/>
              <a:gd name="T24" fmla="*/ 529 h 5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3" h="529">
                <a:moveTo>
                  <a:pt x="0" y="514"/>
                </a:moveTo>
                <a:cubicBezTo>
                  <a:pt x="151" y="487"/>
                  <a:pt x="302" y="461"/>
                  <a:pt x="408" y="378"/>
                </a:cubicBezTo>
                <a:cubicBezTo>
                  <a:pt x="514" y="295"/>
                  <a:pt x="552" y="0"/>
                  <a:pt x="635" y="15"/>
                </a:cubicBezTo>
                <a:cubicBezTo>
                  <a:pt x="718" y="30"/>
                  <a:pt x="794" y="409"/>
                  <a:pt x="907" y="469"/>
                </a:cubicBezTo>
                <a:cubicBezTo>
                  <a:pt x="1020" y="529"/>
                  <a:pt x="1179" y="423"/>
                  <a:pt x="1315" y="378"/>
                </a:cubicBezTo>
                <a:cubicBezTo>
                  <a:pt x="1451" y="333"/>
                  <a:pt x="1558" y="226"/>
                  <a:pt x="1724" y="196"/>
                </a:cubicBezTo>
                <a:cubicBezTo>
                  <a:pt x="1890" y="166"/>
                  <a:pt x="2215" y="196"/>
                  <a:pt x="2313" y="1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4819655" y="1617664"/>
            <a:ext cx="7200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y= b</a:t>
            </a:r>
          </a:p>
        </p:txBody>
      </p:sp>
      <p:sp>
        <p:nvSpPr>
          <p:cNvPr id="277514" name="Text Box 10"/>
          <p:cNvSpPr txBox="1">
            <a:spLocks noChangeArrowheads="1"/>
          </p:cNvSpPr>
          <p:nvPr/>
        </p:nvSpPr>
        <p:spPr bwMode="auto">
          <a:xfrm>
            <a:off x="783982" y="3667127"/>
            <a:ext cx="46235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Garis y = b asimtot datar karena</a:t>
            </a:r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583223" y="4305308"/>
            <a:ext cx="714926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Asimtot</a:t>
            </a:r>
            <a:r>
              <a:rPr lang="en-US" sz="2400" dirty="0"/>
              <a:t> </a:t>
            </a:r>
            <a:r>
              <a:rPr lang="en-US" sz="2400" dirty="0" err="1"/>
              <a:t>datar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dipotong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 smtClean="0"/>
              <a:t>fungsi</a:t>
            </a:r>
            <a:endParaRPr lang="en-US" sz="2400" dirty="0" smtClean="0"/>
          </a:p>
          <a:p>
            <a:pPr algn="l"/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/>
              <a:t>x </a:t>
            </a:r>
            <a:r>
              <a:rPr lang="en-US" sz="2400" dirty="0" err="1" smtClean="0"/>
              <a:t>hingga</a:t>
            </a:r>
            <a:r>
              <a:rPr lang="en-US" sz="2400" dirty="0" smtClean="0"/>
              <a:t> </a:t>
            </a:r>
          </a:p>
          <a:p>
            <a:pPr algn="l"/>
            <a:r>
              <a:rPr lang="en-US" sz="2400" dirty="0" err="1" smtClean="0"/>
              <a:t>Tapi</a:t>
            </a:r>
            <a:r>
              <a:rPr lang="en-US" sz="2400" dirty="0"/>
              <a:t>,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x </a:t>
            </a:r>
            <a:r>
              <a:rPr lang="en-US" sz="2400" dirty="0" err="1"/>
              <a:t>menuju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hingga</a:t>
            </a:r>
            <a:r>
              <a:rPr lang="en-US" sz="2400" dirty="0"/>
              <a:t> </a:t>
            </a:r>
            <a:r>
              <a:rPr lang="en-US" sz="2400" dirty="0" err="1"/>
              <a:t>asimtot</a:t>
            </a:r>
            <a:r>
              <a:rPr lang="en-US" sz="2400" dirty="0"/>
              <a:t> </a:t>
            </a:r>
            <a:r>
              <a:rPr lang="en-US" sz="2400" dirty="0" err="1"/>
              <a:t>datar</a:t>
            </a:r>
            <a:r>
              <a:rPr lang="en-US" sz="2400" dirty="0"/>
              <a:t> </a:t>
            </a:r>
            <a:endParaRPr lang="en-US" sz="2400" dirty="0" smtClean="0"/>
          </a:p>
          <a:p>
            <a:pPr algn="l"/>
            <a:r>
              <a:rPr lang="en-US" sz="2400" dirty="0" err="1" smtClean="0"/>
              <a:t>dihampiri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dirty="0" err="1" smtClean="0"/>
              <a:t>grafik</a:t>
            </a:r>
            <a:r>
              <a:rPr lang="en-US" sz="2400" dirty="0" smtClean="0"/>
              <a:t> </a:t>
            </a:r>
            <a:r>
              <a:rPr lang="en-US" sz="2400" dirty="0" err="1" smtClean="0"/>
              <a:t>fungsi</a:t>
            </a:r>
            <a:r>
              <a:rPr lang="en-US" sz="2400" dirty="0" smtClean="0"/>
              <a:t> (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dipotong</a:t>
            </a:r>
            <a:r>
              <a:rPr lang="en-US" sz="2400" dirty="0"/>
              <a:t> </a:t>
            </a:r>
            <a:r>
              <a:rPr lang="en-US" sz="2400" dirty="0" err="1"/>
              <a:t>lagi</a:t>
            </a:r>
            <a:r>
              <a:rPr lang="en-US" sz="2400" dirty="0"/>
              <a:t>)</a:t>
            </a:r>
          </a:p>
        </p:txBody>
      </p:sp>
      <p:sp>
        <p:nvSpPr>
          <p:cNvPr id="3084" name="Rectangle 13"/>
          <p:cNvSpPr>
            <a:spLocks noChangeArrowheads="1"/>
          </p:cNvSpPr>
          <p:nvPr/>
        </p:nvSpPr>
        <p:spPr bwMode="auto">
          <a:xfrm>
            <a:off x="4479638" y="3106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77516" name="Object 12"/>
          <p:cNvGraphicFramePr>
            <a:graphicFrameLocks noChangeAspect="1"/>
          </p:cNvGraphicFramePr>
          <p:nvPr/>
        </p:nvGraphicFramePr>
        <p:xfrm>
          <a:off x="5102469" y="3681413"/>
          <a:ext cx="1729154" cy="611187"/>
        </p:xfrm>
        <a:graphic>
          <a:graphicData uri="http://schemas.openxmlformats.org/presentationml/2006/ole">
            <p:oleObj spid="_x0000_s4116" name="Equation" r:id="rId4" imgW="850531" imgH="279279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280632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30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7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7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nimBg="1"/>
      <p:bldP spid="277509" grpId="0" animBg="1"/>
      <p:bldP spid="277510" grpId="0" animBg="1"/>
      <p:bldP spid="277511" grpId="0" animBg="1"/>
      <p:bldP spid="277512" grpId="0"/>
      <p:bldP spid="277514" grpId="0"/>
      <p:bldP spid="2775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B44FC2EA-98B3-4FDC-98C1-E5C98FC56EEB}" type="slidenum">
              <a:rPr lang="en-US" sz="1200" smtClean="0">
                <a:latin typeface="Arial Black" pitchFamily="34" charset="0"/>
              </a:rPr>
              <a:pPr algn="r" eaLnBrk="1" hangingPunct="1"/>
              <a:t>8</a:t>
            </a:fld>
            <a:endParaRPr lang="en-US" sz="1200" smtClean="0">
              <a:latin typeface="Arial Black" pitchFamily="34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647097" y="1320613"/>
            <a:ext cx="5383823" cy="2808288"/>
            <a:chOff x="1124" y="436"/>
            <a:chExt cx="3674" cy="1769"/>
          </a:xfrm>
        </p:grpSpPr>
        <p:sp>
          <p:nvSpPr>
            <p:cNvPr id="4108" name="Line 4"/>
            <p:cNvSpPr>
              <a:spLocks noChangeShapeType="1"/>
            </p:cNvSpPr>
            <p:nvPr/>
          </p:nvSpPr>
          <p:spPr bwMode="auto">
            <a:xfrm>
              <a:off x="2530" y="436"/>
              <a:ext cx="0" cy="17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5"/>
            <p:cNvSpPr>
              <a:spLocks noChangeShapeType="1"/>
            </p:cNvSpPr>
            <p:nvPr/>
          </p:nvSpPr>
          <p:spPr bwMode="auto">
            <a:xfrm>
              <a:off x="1124" y="1661"/>
              <a:ext cx="36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0583" name="Line 7"/>
          <p:cNvSpPr>
            <a:spLocks noChangeShapeType="1"/>
          </p:cNvSpPr>
          <p:nvPr/>
        </p:nvSpPr>
        <p:spPr bwMode="auto">
          <a:xfrm flipV="1">
            <a:off x="1913792" y="1320613"/>
            <a:ext cx="3788020" cy="2665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584" name="Freeform 8"/>
          <p:cNvSpPr>
            <a:spLocks/>
          </p:cNvSpPr>
          <p:nvPr/>
        </p:nvSpPr>
        <p:spPr bwMode="auto">
          <a:xfrm>
            <a:off x="2179027" y="1392051"/>
            <a:ext cx="3522785" cy="2520950"/>
          </a:xfrm>
          <a:custGeom>
            <a:avLst/>
            <a:gdLst>
              <a:gd name="T0" fmla="*/ 0 w 2404"/>
              <a:gd name="T1" fmla="*/ 2147483647 h 1588"/>
              <a:gd name="T2" fmla="*/ 2147483647 w 2404"/>
              <a:gd name="T3" fmla="*/ 2147483647 h 1588"/>
              <a:gd name="T4" fmla="*/ 2147483647 w 2404"/>
              <a:gd name="T5" fmla="*/ 2147483647 h 1588"/>
              <a:gd name="T6" fmla="*/ 2147483647 w 2404"/>
              <a:gd name="T7" fmla="*/ 2147483647 h 1588"/>
              <a:gd name="T8" fmla="*/ 2147483647 w 2404"/>
              <a:gd name="T9" fmla="*/ 2147483647 h 1588"/>
              <a:gd name="T10" fmla="*/ 2147483647 w 2404"/>
              <a:gd name="T11" fmla="*/ 2147483647 h 1588"/>
              <a:gd name="T12" fmla="*/ 2147483647 w 2404"/>
              <a:gd name="T13" fmla="*/ 2147483647 h 1588"/>
              <a:gd name="T14" fmla="*/ 2147483647 w 2404"/>
              <a:gd name="T15" fmla="*/ 0 h 15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04"/>
              <a:gd name="T25" fmla="*/ 0 h 1588"/>
              <a:gd name="T26" fmla="*/ 2404 w 2404"/>
              <a:gd name="T27" fmla="*/ 1588 h 15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04" h="1588">
                <a:moveTo>
                  <a:pt x="0" y="1588"/>
                </a:moveTo>
                <a:cubicBezTo>
                  <a:pt x="113" y="1497"/>
                  <a:pt x="227" y="1406"/>
                  <a:pt x="363" y="1361"/>
                </a:cubicBezTo>
                <a:cubicBezTo>
                  <a:pt x="499" y="1316"/>
                  <a:pt x="719" y="1422"/>
                  <a:pt x="817" y="1316"/>
                </a:cubicBezTo>
                <a:cubicBezTo>
                  <a:pt x="915" y="1210"/>
                  <a:pt x="878" y="839"/>
                  <a:pt x="953" y="726"/>
                </a:cubicBezTo>
                <a:cubicBezTo>
                  <a:pt x="1028" y="613"/>
                  <a:pt x="1119" y="642"/>
                  <a:pt x="1270" y="635"/>
                </a:cubicBezTo>
                <a:cubicBezTo>
                  <a:pt x="1421" y="628"/>
                  <a:pt x="1724" y="741"/>
                  <a:pt x="1860" y="681"/>
                </a:cubicBezTo>
                <a:cubicBezTo>
                  <a:pt x="1996" y="621"/>
                  <a:pt x="1996" y="385"/>
                  <a:pt x="2087" y="272"/>
                </a:cubicBezTo>
                <a:cubicBezTo>
                  <a:pt x="2178" y="159"/>
                  <a:pt x="2351" y="45"/>
                  <a:pt x="24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0585" name="Object 9"/>
          <p:cNvGraphicFramePr>
            <a:graphicFrameLocks noGrp="1" noChangeAspect="1"/>
          </p:cNvGraphicFramePr>
          <p:nvPr>
            <p:ph/>
          </p:nvPr>
        </p:nvGraphicFramePr>
        <p:xfrm>
          <a:off x="772258" y="3465335"/>
          <a:ext cx="1340826" cy="447675"/>
        </p:xfrm>
        <a:graphic>
          <a:graphicData uri="http://schemas.openxmlformats.org/presentationml/2006/ole">
            <p:oleObj spid="_x0000_s5140" name="Equation" r:id="rId3" imgW="660113" imgH="203112" progId="Equation.3">
              <p:embed/>
            </p:oleObj>
          </a:graphicData>
        </a:graphic>
      </p:graphicFrame>
      <p:sp>
        <p:nvSpPr>
          <p:cNvPr id="280587" name="Text Box 11"/>
          <p:cNvSpPr txBox="1">
            <a:spLocks noChangeArrowheads="1"/>
          </p:cNvSpPr>
          <p:nvPr/>
        </p:nvSpPr>
        <p:spPr bwMode="auto">
          <a:xfrm>
            <a:off x="2948358" y="2041339"/>
            <a:ext cx="9028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y=f(x)</a:t>
            </a:r>
          </a:p>
        </p:txBody>
      </p:sp>
      <p:sp>
        <p:nvSpPr>
          <p:cNvPr id="280588" name="Text Box 12"/>
          <p:cNvSpPr txBox="1">
            <a:spLocks noChangeArrowheads="1"/>
          </p:cNvSpPr>
          <p:nvPr/>
        </p:nvSpPr>
        <p:spPr bwMode="auto">
          <a:xfrm>
            <a:off x="2192215" y="4344801"/>
            <a:ext cx="37657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Garis y = ax + b asimtot miring</a:t>
            </a:r>
          </a:p>
        </p:txBody>
      </p:sp>
      <p:sp>
        <p:nvSpPr>
          <p:cNvPr id="280589" name="Text Box 13"/>
          <p:cNvSpPr txBox="1">
            <a:spLocks noChangeArrowheads="1"/>
          </p:cNvSpPr>
          <p:nvPr/>
        </p:nvSpPr>
        <p:spPr bwMode="auto">
          <a:xfrm>
            <a:off x="849923" y="5124271"/>
            <a:ext cx="850476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Asimtot miring bisa dipotong oleh kurva untuk nilai x hingga.</a:t>
            </a:r>
          </a:p>
          <a:p>
            <a:pPr algn="l"/>
            <a:r>
              <a:rPr lang="en-US" sz="2400"/>
              <a:t>Untuk satu fungsi tidak mungkin ada sekaligus asimtot datar </a:t>
            </a:r>
          </a:p>
          <a:p>
            <a:pPr algn="l"/>
            <a:r>
              <a:rPr lang="en-US" sz="2400"/>
              <a:t>dan asimtot miring 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jtk-header-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63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8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8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8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3" grpId="0" animBg="1"/>
      <p:bldP spid="280584" grpId="0" animBg="1"/>
      <p:bldP spid="280587" grpId="0"/>
      <p:bldP spid="280588" grpId="0"/>
      <p:bldP spid="2805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D828FF01-E58E-4210-99B2-2AA32DE7A6C2}" type="slidenum">
              <a:rPr lang="en-US" sz="1200" smtClean="0">
                <a:latin typeface="Arial Black" pitchFamily="34" charset="0"/>
              </a:rPr>
              <a:pPr algn="r" eaLnBrk="1" hangingPunct="1"/>
              <a:t>9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3" y="981076"/>
            <a:ext cx="8235462" cy="54006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z="1800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0066"/>
                </a:solidFill>
              </a:rPr>
              <a:t>	</a:t>
            </a:r>
            <a:r>
              <a:rPr lang="id-ID" sz="1800" b="1" dirty="0" smtClean="0">
                <a:solidFill>
                  <a:srgbClr val="FF0066"/>
                </a:solidFill>
              </a:rPr>
              <a:t>Contoh</a:t>
            </a:r>
            <a:r>
              <a:rPr lang="id-ID" sz="1800" b="1" dirty="0" smtClean="0"/>
              <a:t> </a:t>
            </a:r>
            <a:r>
              <a:rPr lang="id-ID" sz="1800" dirty="0" smtClean="0"/>
              <a:t> </a:t>
            </a:r>
            <a:r>
              <a:rPr lang="id-ID" sz="2400" dirty="0" smtClean="0">
                <a:latin typeface="Tahoma" pitchFamily="34" charset="0"/>
              </a:rPr>
              <a:t>Tentukan semua asimtot dari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b="1" dirty="0" smtClean="0">
                <a:latin typeface="Tahoma" pitchFamily="34" charset="0"/>
              </a:rPr>
              <a:t>	</a:t>
            </a:r>
            <a:r>
              <a:rPr lang="id-ID" sz="2000" b="1" dirty="0" smtClean="0">
                <a:latin typeface="Tahoma" pitchFamily="34" charset="0"/>
              </a:rPr>
              <a:t>Jawab :</a:t>
            </a:r>
            <a:r>
              <a:rPr lang="id-ID" sz="2000" dirty="0" smtClean="0">
                <a:latin typeface="Tahoma" pitchFamily="34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	</a:t>
            </a:r>
            <a:r>
              <a:rPr lang="id-ID" sz="2400" dirty="0" smtClean="0">
                <a:latin typeface="Tahoma" pitchFamily="34" charset="0"/>
              </a:rPr>
              <a:t>(i) </a:t>
            </a:r>
            <a:r>
              <a:rPr lang="en-US" sz="2400" dirty="0" smtClean="0">
                <a:latin typeface="Tahoma" pitchFamily="34" charset="0"/>
              </a:rPr>
              <a:t>A</a:t>
            </a:r>
            <a:r>
              <a:rPr lang="id-ID" sz="2400" dirty="0" smtClean="0">
                <a:latin typeface="Tahoma" pitchFamily="34" charset="0"/>
              </a:rPr>
              <a:t>simtot tegak : </a:t>
            </a:r>
            <a:r>
              <a:rPr lang="id-ID" sz="2400" i="1" dirty="0" smtClean="0">
                <a:latin typeface="Tahoma" pitchFamily="34" charset="0"/>
              </a:rPr>
              <a:t>x</a:t>
            </a:r>
            <a:r>
              <a:rPr lang="id-ID" sz="2400" dirty="0" smtClean="0">
                <a:latin typeface="Tahoma" pitchFamily="34" charset="0"/>
              </a:rPr>
              <a:t> = </a:t>
            </a:r>
            <a:r>
              <a:rPr lang="en-US" sz="2400" dirty="0" smtClean="0">
                <a:latin typeface="Tahoma" pitchFamily="34" charset="0"/>
              </a:rPr>
              <a:t>2</a:t>
            </a:r>
            <a:r>
              <a:rPr lang="id-ID" sz="2400" dirty="0" smtClean="0">
                <a:latin typeface="Tahoma" pitchFamily="34" charset="0"/>
              </a:rPr>
              <a:t>, karena</a:t>
            </a:r>
            <a:r>
              <a:rPr lang="id-ID" sz="2000" dirty="0" smtClean="0">
                <a:latin typeface="Tahoma" pitchFamily="34" charset="0"/>
              </a:rPr>
              <a:t> 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   </a:t>
            </a:r>
            <a:r>
              <a:rPr lang="en-US" sz="2000" dirty="0" smtClean="0">
                <a:latin typeface="Tahoma" pitchFamily="34" charset="0"/>
              </a:rPr>
              <a:t>                           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000" dirty="0" smtClean="0">
                <a:latin typeface="Tahoma" pitchFamily="34" charset="0"/>
              </a:rPr>
              <a:t>			 		</a:t>
            </a:r>
            <a:r>
              <a:rPr lang="en-US" sz="2400" dirty="0" err="1" smtClean="0">
                <a:latin typeface="Tahoma" pitchFamily="34" charset="0"/>
              </a:rPr>
              <a:t>dan</a:t>
            </a:r>
            <a:r>
              <a:rPr lang="en-US" sz="2400" dirty="0" smtClean="0">
                <a:latin typeface="Tahoma" pitchFamily="34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 dirty="0" smtClean="0">
                <a:latin typeface="Tahoma" pitchFamily="34" charset="0"/>
              </a:rPr>
              <a:t>  (</a:t>
            </a:r>
            <a:r>
              <a:rPr lang="id-ID" sz="2400" dirty="0" smtClean="0">
                <a:latin typeface="Tahoma" pitchFamily="34" charset="0"/>
              </a:rPr>
              <a:t>ii) </a:t>
            </a:r>
            <a:r>
              <a:rPr lang="en-US" sz="2400" dirty="0" err="1" smtClean="0">
                <a:latin typeface="Tahoma" pitchFamily="34" charset="0"/>
              </a:rPr>
              <a:t>Asimtot</a:t>
            </a:r>
            <a:r>
              <a:rPr lang="en-US" sz="2400" dirty="0" smtClean="0">
                <a:latin typeface="Tahoma" pitchFamily="34" charset="0"/>
              </a:rPr>
              <a:t> </a:t>
            </a:r>
            <a:r>
              <a:rPr lang="id-ID" sz="2400" dirty="0" smtClean="0">
                <a:latin typeface="Tahoma" pitchFamily="34" charset="0"/>
              </a:rPr>
              <a:t>datar :</a:t>
            </a:r>
            <a:endParaRPr lang="id-ID" sz="2000" dirty="0" smtClean="0">
              <a:latin typeface="Tahoma" pitchFamily="34" charset="0"/>
            </a:endParaRPr>
          </a:p>
        </p:txBody>
      </p:sp>
      <p:graphicFrame>
        <p:nvGraphicFramePr>
          <p:cNvPr id="15384" name="Object 2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xmlns="" val="2072686498"/>
              </p:ext>
            </p:extLst>
          </p:nvPr>
        </p:nvGraphicFramePr>
        <p:xfrm>
          <a:off x="5004048" y="2418875"/>
          <a:ext cx="2327031" cy="822325"/>
        </p:xfrm>
        <a:graphic>
          <a:graphicData uri="http://schemas.openxmlformats.org/presentationml/2006/ole">
            <p:oleObj spid="_x0000_s6236" name="Equation" r:id="rId3" imgW="1282700" imgH="419100" progId="Equation.3">
              <p:embed/>
            </p:oleObj>
          </a:graphicData>
        </a:graphic>
      </p:graphicFrame>
      <p:sp>
        <p:nvSpPr>
          <p:cNvPr id="5131" name="Rectangle 5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132" name="Rectangle 7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133" name="Rectangle 9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134" name="Rectangle 11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135" name="Rectangle 13"/>
          <p:cNvSpPr>
            <a:spLocks noChangeArrowheads="1"/>
          </p:cNvSpPr>
          <p:nvPr/>
        </p:nvSpPr>
        <p:spPr bwMode="auto">
          <a:xfrm>
            <a:off x="4479638" y="3049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1085855" y="5789621"/>
            <a:ext cx="42146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>
                <a:latin typeface="Arial" charset="0"/>
              </a:rPr>
              <a:t> </a:t>
            </a:r>
            <a:r>
              <a:rPr lang="en-US" sz="2400"/>
              <a:t>Maka </a:t>
            </a:r>
            <a:r>
              <a:rPr lang="id-ID" sz="2400"/>
              <a:t>asimtot </a:t>
            </a:r>
            <a:r>
              <a:rPr lang="en-US" sz="2400"/>
              <a:t>datar tidak ada</a:t>
            </a:r>
            <a:endParaRPr lang="id-ID" sz="2400"/>
          </a:p>
        </p:txBody>
      </p:sp>
      <p:sp>
        <p:nvSpPr>
          <p:cNvPr id="5137" name="Rectangle 16"/>
          <p:cNvSpPr>
            <a:spLocks noChangeArrowheads="1"/>
          </p:cNvSpPr>
          <p:nvPr/>
        </p:nvSpPr>
        <p:spPr bwMode="auto">
          <a:xfrm>
            <a:off x="4479638" y="28982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5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42126306"/>
              </p:ext>
            </p:extLst>
          </p:nvPr>
        </p:nvGraphicFramePr>
        <p:xfrm>
          <a:off x="5724128" y="1196752"/>
          <a:ext cx="1926980" cy="725487"/>
        </p:xfrm>
        <a:graphic>
          <a:graphicData uri="http://schemas.openxmlformats.org/presentationml/2006/ole">
            <p:oleObj spid="_x0000_s6237" name="Equation" r:id="rId4" imgW="1206500" imgH="419100" progId="Equation.3">
              <p:embed/>
            </p:oleObj>
          </a:graphicData>
        </a:graphic>
      </p:graphicFrame>
      <p:sp>
        <p:nvSpPr>
          <p:cNvPr id="5138" name="Rectangle 17"/>
          <p:cNvSpPr>
            <a:spLocks noChangeArrowheads="1"/>
          </p:cNvSpPr>
          <p:nvPr/>
        </p:nvSpPr>
        <p:spPr bwMode="auto">
          <a:xfrm>
            <a:off x="1" y="3500851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2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5378" name="Object 18"/>
          <p:cNvGraphicFramePr>
            <a:graphicFrameLocks noChangeAspect="1"/>
          </p:cNvGraphicFramePr>
          <p:nvPr/>
        </p:nvGraphicFramePr>
        <p:xfrm>
          <a:off x="1647097" y="2565409"/>
          <a:ext cx="2060331" cy="708025"/>
        </p:xfrm>
        <a:graphic>
          <a:graphicData uri="http://schemas.openxmlformats.org/presentationml/2006/ole">
            <p:oleObj spid="_x0000_s6238" name="Equation" r:id="rId5" imgW="1320227" imgH="418918" progId="Equation.3">
              <p:embed/>
            </p:oleObj>
          </a:graphicData>
        </a:graphic>
      </p:graphicFrame>
      <p:sp>
        <p:nvSpPr>
          <p:cNvPr id="5140" name="Rectangle 21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141" name="Rectangle 23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5387" name="Object 2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581151" y="3789363"/>
          <a:ext cx="5317880" cy="1047750"/>
        </p:xfrm>
        <a:graphic>
          <a:graphicData uri="http://schemas.openxmlformats.org/presentationml/2006/ole">
            <p:oleObj spid="_x0000_s6239" name="Equation" r:id="rId6" imgW="2794000" imgH="508000" progId="Equation.3">
              <p:embed/>
            </p:oleObj>
          </a:graphicData>
        </a:graphic>
      </p:graphicFrame>
      <p:sp>
        <p:nvSpPr>
          <p:cNvPr id="5142" name="Rectangle 31"/>
          <p:cNvSpPr>
            <a:spLocks noChangeArrowheads="1"/>
          </p:cNvSpPr>
          <p:nvPr/>
        </p:nvSpPr>
        <p:spPr bwMode="auto">
          <a:xfrm>
            <a:off x="4479638" y="29966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5390" name="Object 30"/>
          <p:cNvGraphicFramePr>
            <a:graphicFrameLocks noChangeAspect="1"/>
          </p:cNvGraphicFramePr>
          <p:nvPr/>
        </p:nvGraphicFramePr>
        <p:xfrm>
          <a:off x="2643558" y="4662488"/>
          <a:ext cx="2725615" cy="1098550"/>
        </p:xfrm>
        <a:graphic>
          <a:graphicData uri="http://schemas.openxmlformats.org/presentationml/2006/ole">
            <p:oleObj spid="_x0000_s6240" name="Equation" r:id="rId7" imgW="1295400" imgH="482600" progId="Equation.3">
              <p:embed/>
            </p:oleObj>
          </a:graphicData>
        </a:graphic>
      </p:graphicFrame>
      <p:sp>
        <p:nvSpPr>
          <p:cNvPr id="24" name="Snip Diagonal Corner Rectangle 2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nip Diagonal Corner Rectangle 2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61290017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FD7C257A-70DA-4C4B-BBCA-9AAEEF9BFB06}" type="slidenum">
              <a:rPr lang="en-US" sz="1200" smtClean="0">
                <a:latin typeface="Arial Black" pitchFamily="34" charset="0"/>
              </a:rPr>
              <a:pPr algn="r" eaLnBrk="1" hangingPunct="1"/>
              <a:t>10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260108" name="Object 1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17331" y="1590675"/>
          <a:ext cx="4120662" cy="871538"/>
        </p:xfrm>
        <a:graphic>
          <a:graphicData uri="http://schemas.openxmlformats.org/presentationml/2006/ole">
            <p:oleObj spid="_x0000_s7314" name="Equation" r:id="rId3" imgW="2146300" imgH="419100" progId="Equation.3">
              <p:embed/>
            </p:oleObj>
          </a:graphicData>
        </a:graphic>
      </p:graphicFrame>
      <p:graphicFrame>
        <p:nvGraphicFramePr>
          <p:cNvPr id="260111" name="Object 1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237289" y="1628777"/>
          <a:ext cx="2060331" cy="836613"/>
        </p:xfrm>
        <a:graphic>
          <a:graphicData uri="http://schemas.openxmlformats.org/presentationml/2006/ole">
            <p:oleObj spid="_x0000_s7315" name="Equation" r:id="rId4" imgW="1117600" imgH="419100" progId="Equation.3">
              <p:embed/>
            </p:oleObj>
          </a:graphicData>
        </a:graphic>
      </p:graphicFrame>
      <p:graphicFrame>
        <p:nvGraphicFramePr>
          <p:cNvPr id="260114" name="Object 1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513140" y="2451109"/>
          <a:ext cx="4186603" cy="874713"/>
        </p:xfrm>
        <a:graphic>
          <a:graphicData uri="http://schemas.openxmlformats.org/presentationml/2006/ole">
            <p:oleObj spid="_x0000_s7316" name="Equation" r:id="rId5" imgW="2501900" imgH="482600" progId="Equation.3">
              <p:embed/>
            </p:oleObj>
          </a:graphicData>
        </a:graphic>
      </p:graphicFrame>
      <p:sp>
        <p:nvSpPr>
          <p:cNvPr id="260106" name="Text Box 10"/>
          <p:cNvSpPr txBox="1">
            <a:spLocks noChangeArrowheads="1"/>
          </p:cNvSpPr>
          <p:nvPr/>
        </p:nvSpPr>
        <p:spPr bwMode="auto">
          <a:xfrm>
            <a:off x="317993" y="1136658"/>
            <a:ext cx="2796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(iii)  Asimtot miring</a:t>
            </a:r>
          </a:p>
        </p:txBody>
      </p:sp>
      <p:graphicFrame>
        <p:nvGraphicFramePr>
          <p:cNvPr id="260118" name="Object 22"/>
          <p:cNvGraphicFramePr>
            <a:graphicFrameLocks noChangeAspect="1"/>
          </p:cNvGraphicFramePr>
          <p:nvPr/>
        </p:nvGraphicFramePr>
        <p:xfrm>
          <a:off x="1050681" y="4652972"/>
          <a:ext cx="1992923" cy="847725"/>
        </p:xfrm>
        <a:graphic>
          <a:graphicData uri="http://schemas.openxmlformats.org/presentationml/2006/ole">
            <p:oleObj spid="_x0000_s7317" name="Equation" r:id="rId6" imgW="1002865" imgH="393529" progId="Equation.3">
              <p:embed/>
            </p:oleObj>
          </a:graphicData>
        </a:graphic>
      </p:graphicFrame>
      <p:graphicFrame>
        <p:nvGraphicFramePr>
          <p:cNvPr id="260119" name="Object 23"/>
          <p:cNvGraphicFramePr>
            <a:graphicFrameLocks noChangeAspect="1"/>
          </p:cNvGraphicFramePr>
          <p:nvPr/>
        </p:nvGraphicFramePr>
        <p:xfrm>
          <a:off x="1115158" y="3948113"/>
          <a:ext cx="3229708" cy="849312"/>
        </p:xfrm>
        <a:graphic>
          <a:graphicData uri="http://schemas.openxmlformats.org/presentationml/2006/ole">
            <p:oleObj spid="_x0000_s7318" name="Equation" r:id="rId7" imgW="1727200" imgH="419100" progId="Equation.3">
              <p:embed/>
            </p:oleObj>
          </a:graphicData>
        </a:graphic>
      </p:graphicFrame>
      <p:graphicFrame>
        <p:nvGraphicFramePr>
          <p:cNvPr id="260120" name="Object 24"/>
          <p:cNvGraphicFramePr>
            <a:graphicFrameLocks noChangeAspect="1"/>
          </p:cNvGraphicFramePr>
          <p:nvPr/>
        </p:nvGraphicFramePr>
        <p:xfrm>
          <a:off x="3575538" y="3241675"/>
          <a:ext cx="2392974" cy="793750"/>
        </p:xfrm>
        <a:graphic>
          <a:graphicData uri="http://schemas.openxmlformats.org/presentationml/2006/ole">
            <p:oleObj spid="_x0000_s7319" name="Equation" r:id="rId8" imgW="1371600" imgH="419100" progId="Equation.3">
              <p:embed/>
            </p:oleObj>
          </a:graphicData>
        </a:graphic>
      </p:graphicFrame>
      <p:graphicFrame>
        <p:nvGraphicFramePr>
          <p:cNvPr id="260121" name="Object 25"/>
          <p:cNvGraphicFramePr>
            <a:graphicFrameLocks noChangeAspect="1"/>
          </p:cNvGraphicFramePr>
          <p:nvPr/>
        </p:nvGraphicFramePr>
        <p:xfrm>
          <a:off x="849923" y="3357567"/>
          <a:ext cx="2526323" cy="668337"/>
        </p:xfrm>
        <a:graphic>
          <a:graphicData uri="http://schemas.openxmlformats.org/presentationml/2006/ole">
            <p:oleObj spid="_x0000_s7320" name="Equation" r:id="rId9" imgW="1143000" imgH="279400" progId="Equation.3">
              <p:embed/>
            </p:oleObj>
          </a:graphicData>
        </a:graphic>
      </p:graphicFrame>
      <p:sp>
        <p:nvSpPr>
          <p:cNvPr id="260122" name="Text Box 26"/>
          <p:cNvSpPr txBox="1">
            <a:spLocks noChangeArrowheads="1"/>
          </p:cNvSpPr>
          <p:nvPr/>
        </p:nvSpPr>
        <p:spPr bwMode="auto">
          <a:xfrm>
            <a:off x="1049220" y="5564196"/>
            <a:ext cx="29738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Asimtot miring </a:t>
            </a:r>
            <a:r>
              <a:rPr lang="en-US" sz="2400" i="1"/>
              <a:t>y</a:t>
            </a:r>
            <a:r>
              <a:rPr lang="en-US" sz="2400"/>
              <a:t> = </a:t>
            </a:r>
            <a:r>
              <a:rPr lang="en-US" sz="2400" i="1"/>
              <a:t>x</a:t>
            </a:r>
          </a:p>
        </p:txBody>
      </p:sp>
      <p:graphicFrame>
        <p:nvGraphicFramePr>
          <p:cNvPr id="260123" name="Object 2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06058" y="3933825"/>
          <a:ext cx="3124200" cy="839788"/>
        </p:xfrm>
        <a:graphic>
          <a:graphicData uri="http://schemas.openxmlformats.org/presentationml/2006/ole">
            <p:oleObj spid="_x0000_s7321" name="Equation" r:id="rId10" imgW="1689100" imgH="419100" progId="Equation.3">
              <p:embed/>
            </p:oleObj>
          </a:graphicData>
        </a:graphic>
      </p:graphicFrame>
      <p:sp>
        <p:nvSpPr>
          <p:cNvPr id="16" name="Snip Diagonal Corner Rectangle 1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653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6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6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6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6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6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6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6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6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6" grpId="0"/>
      <p:bldP spid="2601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F6B0B111-3E8E-443B-B49C-28A46B474466}" type="slidenum">
              <a:rPr lang="en-US" sz="1200" smtClean="0">
                <a:latin typeface="Arial Black" pitchFamily="34" charset="0"/>
              </a:rPr>
              <a:pPr algn="r" eaLnBrk="1" hangingPunct="1"/>
              <a:t>11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326663" name="Object 7"/>
          <p:cNvGraphicFramePr>
            <a:graphicFrameLocks noChangeAspect="1"/>
          </p:cNvGraphicFramePr>
          <p:nvPr/>
        </p:nvGraphicFramePr>
        <p:xfrm>
          <a:off x="1913792" y="2282816"/>
          <a:ext cx="1283677" cy="679450"/>
        </p:xfrm>
        <a:graphic>
          <a:graphicData uri="http://schemas.openxmlformats.org/presentationml/2006/ole">
            <p:oleObj spid="_x0000_s8289" name="Equation" r:id="rId3" imgW="799753" imgH="393529" progId="Equation.3">
              <p:embed/>
            </p:oleObj>
          </a:graphicData>
        </a:graphic>
      </p:graphicFrame>
      <p:graphicFrame>
        <p:nvGraphicFramePr>
          <p:cNvPr id="326662" name="Object 6"/>
          <p:cNvGraphicFramePr>
            <a:graphicFrameLocks noChangeAspect="1"/>
          </p:cNvGraphicFramePr>
          <p:nvPr/>
        </p:nvGraphicFramePr>
        <p:xfrm>
          <a:off x="1893279" y="3003541"/>
          <a:ext cx="1682262" cy="685800"/>
        </p:xfrm>
        <a:graphic>
          <a:graphicData uri="http://schemas.openxmlformats.org/presentationml/2006/ole">
            <p:oleObj spid="_x0000_s8290" name="Equation" r:id="rId4" imgW="1040948" imgH="393529" progId="Equation.3">
              <p:embed/>
            </p:oleObj>
          </a:graphicData>
        </a:graphic>
      </p:graphicFrame>
      <p:graphicFrame>
        <p:nvGraphicFramePr>
          <p:cNvPr id="326661" name="Object 5"/>
          <p:cNvGraphicFramePr>
            <a:graphicFrameLocks noChangeAspect="1"/>
          </p:cNvGraphicFramePr>
          <p:nvPr/>
        </p:nvGraphicFramePr>
        <p:xfrm>
          <a:off x="1846385" y="3795703"/>
          <a:ext cx="1548912" cy="717550"/>
        </p:xfrm>
        <a:graphic>
          <a:graphicData uri="http://schemas.openxmlformats.org/presentationml/2006/ole">
            <p:oleObj spid="_x0000_s8291" name="Equation" r:id="rId5" imgW="977900" imgH="419100" progId="Equation.3">
              <p:embed/>
            </p:oleObj>
          </a:graphicData>
        </a:graphic>
      </p:graphicFrame>
      <p:graphicFrame>
        <p:nvGraphicFramePr>
          <p:cNvPr id="326660" name="Object 4"/>
          <p:cNvGraphicFramePr>
            <a:graphicFrameLocks noChangeAspect="1"/>
          </p:cNvGraphicFramePr>
          <p:nvPr/>
        </p:nvGraphicFramePr>
        <p:xfrm>
          <a:off x="1827335" y="4587866"/>
          <a:ext cx="1415562" cy="722312"/>
        </p:xfrm>
        <a:graphic>
          <a:graphicData uri="http://schemas.openxmlformats.org/presentationml/2006/ole">
            <p:oleObj spid="_x0000_s8292" name="Equation" r:id="rId6" imgW="825500" imgH="393700" progId="Equation.3">
              <p:embed/>
            </p:oleObj>
          </a:graphicData>
        </a:graphic>
      </p:graphicFrame>
      <p:sp>
        <p:nvSpPr>
          <p:cNvPr id="326664" name="Rectangle 8"/>
          <p:cNvSpPr>
            <a:spLocks noChangeArrowheads="1"/>
          </p:cNvSpPr>
          <p:nvPr/>
        </p:nvSpPr>
        <p:spPr bwMode="auto">
          <a:xfrm>
            <a:off x="983278" y="1864925"/>
            <a:ext cx="5107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/>
          <a:p>
            <a:r>
              <a:rPr lang="en-US" dirty="0" err="1">
                <a:cs typeface="Times New Roman" pitchFamily="18" charset="0"/>
              </a:rPr>
              <a:t>Tentukan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semua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asimtot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dari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berikut</a:t>
            </a:r>
            <a:r>
              <a:rPr lang="en-US" dirty="0">
                <a:cs typeface="Times New Roman" pitchFamily="18" charset="0"/>
              </a:rPr>
              <a:t> :</a:t>
            </a:r>
            <a:r>
              <a:rPr lang="en-US" sz="1200" dirty="0">
                <a:latin typeface="Arial" charset="0"/>
                <a:cs typeface="Times New Roman" pitchFamily="18" charset="0"/>
              </a:rPr>
              <a:t> </a:t>
            </a:r>
            <a:endParaRPr lang="en-US" sz="1800" dirty="0">
              <a:latin typeface="Arial" charset="0"/>
            </a:endParaRPr>
          </a:p>
        </p:txBody>
      </p:sp>
      <p:sp>
        <p:nvSpPr>
          <p:cNvPr id="326668" name="Text Box 12"/>
          <p:cNvSpPr txBox="1">
            <a:spLocks noChangeArrowheads="1"/>
          </p:cNvSpPr>
          <p:nvPr/>
        </p:nvSpPr>
        <p:spPr bwMode="auto">
          <a:xfrm>
            <a:off x="1049219" y="1336667"/>
            <a:ext cx="17764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 dirty="0" err="1"/>
              <a:t>Soal</a:t>
            </a:r>
            <a:r>
              <a:rPr lang="en-US" b="1" dirty="0"/>
              <a:t> </a:t>
            </a:r>
            <a:r>
              <a:rPr lang="en-US" b="1" dirty="0" err="1"/>
              <a:t>Latihan</a:t>
            </a:r>
            <a:endParaRPr lang="en-US" b="1" dirty="0"/>
          </a:p>
        </p:txBody>
      </p:sp>
      <p:graphicFrame>
        <p:nvGraphicFramePr>
          <p:cNvPr id="326669" name="Object 13"/>
          <p:cNvGraphicFramePr>
            <a:graphicFrameLocks noGrp="1" noChangeAspect="1"/>
          </p:cNvGraphicFramePr>
          <p:nvPr>
            <p:ph/>
          </p:nvPr>
        </p:nvGraphicFramePr>
        <p:xfrm>
          <a:off x="1798027" y="5451475"/>
          <a:ext cx="1510811" cy="720725"/>
        </p:xfrm>
        <a:graphic>
          <a:graphicData uri="http://schemas.openxmlformats.org/presentationml/2006/ole">
            <p:oleObj spid="_x0000_s8293" name="Equation" r:id="rId7" imgW="952087" imgH="418918" progId="Equation.3">
              <p:embed/>
            </p:oleObj>
          </a:graphicData>
        </a:graphic>
      </p:graphicFrame>
      <p:sp>
        <p:nvSpPr>
          <p:cNvPr id="326671" name="Text Box 15"/>
          <p:cNvSpPr txBox="1">
            <a:spLocks noChangeArrowheads="1"/>
          </p:cNvSpPr>
          <p:nvPr/>
        </p:nvSpPr>
        <p:spPr bwMode="auto">
          <a:xfrm>
            <a:off x="1330063" y="2417754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</a:t>
            </a:r>
          </a:p>
        </p:txBody>
      </p:sp>
      <p:sp>
        <p:nvSpPr>
          <p:cNvPr id="326672" name="Text Box 16"/>
          <p:cNvSpPr txBox="1">
            <a:spLocks noChangeArrowheads="1"/>
          </p:cNvSpPr>
          <p:nvPr/>
        </p:nvSpPr>
        <p:spPr bwMode="auto">
          <a:xfrm>
            <a:off x="1297825" y="3136892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2.</a:t>
            </a:r>
          </a:p>
        </p:txBody>
      </p:sp>
      <p:sp>
        <p:nvSpPr>
          <p:cNvPr id="326673" name="Text Box 17"/>
          <p:cNvSpPr txBox="1">
            <a:spLocks noChangeArrowheads="1"/>
          </p:cNvSpPr>
          <p:nvPr/>
        </p:nvSpPr>
        <p:spPr bwMode="auto">
          <a:xfrm>
            <a:off x="1297825" y="3929054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3.</a:t>
            </a:r>
          </a:p>
        </p:txBody>
      </p:sp>
      <p:sp>
        <p:nvSpPr>
          <p:cNvPr id="326674" name="Text Box 18"/>
          <p:cNvSpPr txBox="1">
            <a:spLocks noChangeArrowheads="1"/>
          </p:cNvSpPr>
          <p:nvPr/>
        </p:nvSpPr>
        <p:spPr bwMode="auto">
          <a:xfrm>
            <a:off x="1263907" y="4732329"/>
            <a:ext cx="398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4.</a:t>
            </a:r>
          </a:p>
        </p:txBody>
      </p:sp>
      <p:sp>
        <p:nvSpPr>
          <p:cNvPr id="326675" name="Text Box 19"/>
          <p:cNvSpPr txBox="1">
            <a:spLocks noChangeArrowheads="1"/>
          </p:cNvSpPr>
          <p:nvPr/>
        </p:nvSpPr>
        <p:spPr bwMode="auto">
          <a:xfrm>
            <a:off x="1262655" y="5595929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5.</a:t>
            </a:r>
          </a:p>
        </p:txBody>
      </p:sp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2227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2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2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32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4" grpId="0"/>
      <p:bldP spid="326668" grpId="0"/>
      <p:bldP spid="326671" grpId="0"/>
      <p:bldP spid="326672" grpId="0"/>
      <p:bldP spid="326673" grpId="0"/>
      <p:bldP spid="326674" grpId="0"/>
      <p:bldP spid="3266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2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nip Diagonal Corner Rectangle 2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  <p:sp>
        <p:nvSpPr>
          <p:cNvPr id="819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CBD59E1B-9055-4705-8003-D2E1810D8EDC}" type="slidenum">
              <a:rPr lang="en-US" sz="1200" smtClean="0">
                <a:latin typeface="Arial Black" pitchFamily="34" charset="0"/>
              </a:rPr>
              <a:pPr algn="r" eaLnBrk="1" hangingPunct="1"/>
              <a:t>12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898286" y="118421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sp>
        <p:nvSpPr>
          <p:cNvPr id="284677" name="Text Box 5"/>
          <p:cNvSpPr txBox="1">
            <a:spLocks noChangeArrowheads="1"/>
          </p:cNvSpPr>
          <p:nvPr/>
        </p:nvSpPr>
        <p:spPr bwMode="auto">
          <a:xfrm>
            <a:off x="583228" y="1131093"/>
            <a:ext cx="445666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b="1" dirty="0">
                <a:solidFill>
                  <a:srgbClr val="3333FF"/>
                </a:solidFill>
              </a:rPr>
              <a:t>C. </a:t>
            </a:r>
            <a:r>
              <a:rPr lang="id-ID" sz="2800" b="1" dirty="0">
                <a:solidFill>
                  <a:srgbClr val="3333FF"/>
                </a:solidFill>
              </a:rPr>
              <a:t>Kemonotonan Fungsi</a:t>
            </a:r>
          </a:p>
          <a:p>
            <a:pPr algn="l"/>
            <a:endParaRPr lang="en-US" dirty="0"/>
          </a:p>
        </p:txBody>
      </p:sp>
      <p:sp>
        <p:nvSpPr>
          <p:cNvPr id="284678" name="Text Box 6"/>
          <p:cNvSpPr txBox="1">
            <a:spLocks noChangeArrowheads="1"/>
          </p:cNvSpPr>
          <p:nvPr/>
        </p:nvSpPr>
        <p:spPr bwMode="auto">
          <a:xfrm>
            <a:off x="830879" y="1638248"/>
            <a:ext cx="48942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id-ID" sz="2400" b="1">
                <a:solidFill>
                  <a:srgbClr val="FF3399"/>
                </a:solidFill>
              </a:rPr>
              <a:t>Definisi 5.2</a:t>
            </a:r>
            <a:r>
              <a:rPr lang="id-ID" sz="2400"/>
              <a:t> </a:t>
            </a:r>
            <a:r>
              <a:rPr lang="en-US" sz="2400"/>
              <a:t>F</a:t>
            </a:r>
            <a:r>
              <a:rPr lang="id-ID" sz="2400"/>
              <a:t>ungsi </a:t>
            </a:r>
            <a:r>
              <a:rPr lang="id-ID" sz="2400" i="1"/>
              <a:t>f</a:t>
            </a:r>
            <a:r>
              <a:rPr lang="id-ID" sz="2400"/>
              <a:t>(</a:t>
            </a:r>
            <a:r>
              <a:rPr lang="id-ID" sz="2400" i="1"/>
              <a:t>x</a:t>
            </a:r>
            <a:r>
              <a:rPr lang="id-ID" sz="2400"/>
              <a:t>) dikatakan</a:t>
            </a:r>
            <a:endParaRPr lang="en-US" sz="2400"/>
          </a:p>
        </p:txBody>
      </p:sp>
      <p:sp>
        <p:nvSpPr>
          <p:cNvPr id="284679" name="Text Box 7"/>
          <p:cNvSpPr txBox="1">
            <a:spLocks noChangeArrowheads="1"/>
          </p:cNvSpPr>
          <p:nvPr/>
        </p:nvSpPr>
        <p:spPr bwMode="auto">
          <a:xfrm>
            <a:off x="383935" y="2130373"/>
            <a:ext cx="63696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id-ID" sz="2400" b="1" u="sng"/>
              <a:t>monoton naik</a:t>
            </a:r>
            <a:r>
              <a:rPr lang="id-ID" sz="2400" b="1"/>
              <a:t>  </a:t>
            </a:r>
            <a:r>
              <a:rPr lang="id-ID" sz="2400"/>
              <a:t>pada interval I jika untuk</a:t>
            </a:r>
          </a:p>
          <a:p>
            <a:pPr algn="l"/>
            <a:endParaRPr lang="en-US"/>
          </a:p>
        </p:txBody>
      </p:sp>
      <p:sp>
        <p:nvSpPr>
          <p:cNvPr id="8201" name="Text Box 8"/>
          <p:cNvSpPr txBox="1">
            <a:spLocks noChangeArrowheads="1"/>
          </p:cNvSpPr>
          <p:nvPr/>
        </p:nvSpPr>
        <p:spPr bwMode="auto">
          <a:xfrm>
            <a:off x="1163520" y="3128904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graphicFrame>
        <p:nvGraphicFramePr>
          <p:cNvPr id="284681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1913794" y="2674887"/>
          <a:ext cx="5782408" cy="600075"/>
        </p:xfrm>
        <a:graphic>
          <a:graphicData uri="http://schemas.openxmlformats.org/presentationml/2006/ole">
            <p:oleObj spid="_x0000_s9236" name="Equation" r:id="rId4" imgW="2260600" imgH="215900" progId="Equation.3">
              <p:embed/>
            </p:oleObj>
          </a:graphicData>
        </a:graphic>
      </p:graphicFrame>
      <p:sp>
        <p:nvSpPr>
          <p:cNvPr id="8202" name="Text Box 15"/>
          <p:cNvSpPr txBox="1">
            <a:spLocks noChangeArrowheads="1"/>
          </p:cNvSpPr>
          <p:nvPr/>
        </p:nvSpPr>
        <p:spPr bwMode="auto">
          <a:xfrm>
            <a:off x="1097577" y="406394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045681" y="3498790"/>
            <a:ext cx="5184531" cy="2376488"/>
            <a:chOff x="1396" y="2024"/>
            <a:chExt cx="3538" cy="1497"/>
          </a:xfrm>
        </p:grpSpPr>
        <p:sp>
          <p:nvSpPr>
            <p:cNvPr id="8217" name="Line 24"/>
            <p:cNvSpPr>
              <a:spLocks noChangeShapeType="1"/>
            </p:cNvSpPr>
            <p:nvPr/>
          </p:nvSpPr>
          <p:spPr bwMode="auto">
            <a:xfrm>
              <a:off x="2757" y="2024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Line 25"/>
            <p:cNvSpPr>
              <a:spLocks noChangeShapeType="1"/>
            </p:cNvSpPr>
            <p:nvPr/>
          </p:nvSpPr>
          <p:spPr bwMode="auto">
            <a:xfrm>
              <a:off x="1396" y="3113"/>
              <a:ext cx="35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4698" name="Freeform 26"/>
          <p:cNvSpPr>
            <a:spLocks/>
          </p:cNvSpPr>
          <p:nvPr/>
        </p:nvSpPr>
        <p:spPr bwMode="auto">
          <a:xfrm>
            <a:off x="4306766" y="3714693"/>
            <a:ext cx="2261088" cy="1439863"/>
          </a:xfrm>
          <a:custGeom>
            <a:avLst/>
            <a:gdLst>
              <a:gd name="T0" fmla="*/ 0 w 1543"/>
              <a:gd name="T1" fmla="*/ 2147483647 h 907"/>
              <a:gd name="T2" fmla="*/ 2147483647 w 1543"/>
              <a:gd name="T3" fmla="*/ 2147483647 h 907"/>
              <a:gd name="T4" fmla="*/ 2147483647 w 1543"/>
              <a:gd name="T5" fmla="*/ 0 h 907"/>
              <a:gd name="T6" fmla="*/ 0 60000 65536"/>
              <a:gd name="T7" fmla="*/ 0 60000 65536"/>
              <a:gd name="T8" fmla="*/ 0 60000 65536"/>
              <a:gd name="T9" fmla="*/ 0 w 1543"/>
              <a:gd name="T10" fmla="*/ 0 h 907"/>
              <a:gd name="T11" fmla="*/ 1543 w 1543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3" h="907">
                <a:moveTo>
                  <a:pt x="0" y="907"/>
                </a:moveTo>
                <a:cubicBezTo>
                  <a:pt x="98" y="710"/>
                  <a:pt x="197" y="514"/>
                  <a:pt x="454" y="363"/>
                </a:cubicBezTo>
                <a:cubicBezTo>
                  <a:pt x="711" y="212"/>
                  <a:pt x="1127" y="106"/>
                  <a:pt x="154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700" name="Line 28"/>
          <p:cNvSpPr>
            <a:spLocks noChangeShapeType="1"/>
          </p:cNvSpPr>
          <p:nvPr/>
        </p:nvSpPr>
        <p:spPr bwMode="auto">
          <a:xfrm>
            <a:off x="4837235" y="4363978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701" name="Line 29"/>
          <p:cNvSpPr>
            <a:spLocks noChangeShapeType="1"/>
          </p:cNvSpPr>
          <p:nvPr/>
        </p:nvSpPr>
        <p:spPr bwMode="auto">
          <a:xfrm flipH="1">
            <a:off x="4040070" y="4362390"/>
            <a:ext cx="79716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702" name="Line 30"/>
          <p:cNvSpPr>
            <a:spLocks noChangeShapeType="1"/>
          </p:cNvSpPr>
          <p:nvPr/>
        </p:nvSpPr>
        <p:spPr bwMode="auto">
          <a:xfrm>
            <a:off x="4306770" y="5370453"/>
            <a:ext cx="232556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728" name="Text Box 56"/>
          <p:cNvSpPr txBox="1">
            <a:spLocks noChangeArrowheads="1"/>
          </p:cNvSpPr>
          <p:nvPr/>
        </p:nvSpPr>
        <p:spPr bwMode="auto">
          <a:xfrm>
            <a:off x="4591053" y="5083116"/>
            <a:ext cx="3850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x</a:t>
            </a:r>
            <a:r>
              <a:rPr lang="en-US" sz="1800" baseline="-25000">
                <a:latin typeface="Arial" charset="0"/>
              </a:rPr>
              <a:t>1</a:t>
            </a:r>
            <a:endParaRPr lang="id-ID" sz="1800">
              <a:latin typeface="Arial" charset="0"/>
            </a:endParaRPr>
          </a:p>
        </p:txBody>
      </p:sp>
      <p:sp>
        <p:nvSpPr>
          <p:cNvPr id="284729" name="Text Box 57"/>
          <p:cNvSpPr txBox="1">
            <a:spLocks noChangeArrowheads="1"/>
          </p:cNvSpPr>
          <p:nvPr/>
        </p:nvSpPr>
        <p:spPr bwMode="auto">
          <a:xfrm>
            <a:off x="3508131" y="4146491"/>
            <a:ext cx="603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f(x</a:t>
            </a:r>
            <a:r>
              <a:rPr lang="en-US" sz="1800" baseline="-25000">
                <a:latin typeface="Arial" charset="0"/>
              </a:rPr>
              <a:t>1</a:t>
            </a:r>
            <a:r>
              <a:rPr lang="en-US" sz="1800">
                <a:latin typeface="Arial" charset="0"/>
              </a:rPr>
              <a:t>)</a:t>
            </a:r>
            <a:endParaRPr lang="id-ID" sz="1800">
              <a:latin typeface="Arial" charset="0"/>
            </a:endParaRPr>
          </a:p>
        </p:txBody>
      </p:sp>
      <p:sp>
        <p:nvSpPr>
          <p:cNvPr id="284730" name="Line 58"/>
          <p:cNvSpPr>
            <a:spLocks noChangeShapeType="1"/>
          </p:cNvSpPr>
          <p:nvPr/>
        </p:nvSpPr>
        <p:spPr bwMode="auto">
          <a:xfrm>
            <a:off x="5835162" y="3930590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731" name="Line 59"/>
          <p:cNvSpPr>
            <a:spLocks noChangeShapeType="1"/>
          </p:cNvSpPr>
          <p:nvPr/>
        </p:nvSpPr>
        <p:spPr bwMode="auto">
          <a:xfrm flipH="1">
            <a:off x="4040066" y="3930590"/>
            <a:ext cx="179509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732" name="Text Box 60"/>
          <p:cNvSpPr txBox="1">
            <a:spLocks noChangeArrowheads="1"/>
          </p:cNvSpPr>
          <p:nvPr/>
        </p:nvSpPr>
        <p:spPr bwMode="auto">
          <a:xfrm>
            <a:off x="5767754" y="5076766"/>
            <a:ext cx="3850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x</a:t>
            </a:r>
            <a:r>
              <a:rPr lang="en-US" sz="1800" baseline="-25000">
                <a:latin typeface="Arial" charset="0"/>
              </a:rPr>
              <a:t>2</a:t>
            </a:r>
            <a:endParaRPr lang="id-ID" sz="1800">
              <a:latin typeface="Arial" charset="0"/>
            </a:endParaRPr>
          </a:p>
        </p:txBody>
      </p:sp>
      <p:sp>
        <p:nvSpPr>
          <p:cNvPr id="284733" name="Text Box 61"/>
          <p:cNvSpPr txBox="1">
            <a:spLocks noChangeArrowheads="1"/>
          </p:cNvSpPr>
          <p:nvPr/>
        </p:nvSpPr>
        <p:spPr bwMode="auto">
          <a:xfrm>
            <a:off x="3553558" y="3708341"/>
            <a:ext cx="603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f(x</a:t>
            </a:r>
            <a:r>
              <a:rPr lang="en-US" sz="1800" baseline="-25000">
                <a:latin typeface="Arial" charset="0"/>
              </a:rPr>
              <a:t>2</a:t>
            </a:r>
            <a:r>
              <a:rPr lang="en-US" sz="1800">
                <a:latin typeface="Arial" charset="0"/>
              </a:rPr>
              <a:t>)</a:t>
            </a:r>
            <a:endParaRPr lang="id-ID" sz="1800">
              <a:latin typeface="Arial" charset="0"/>
            </a:endParaRPr>
          </a:p>
        </p:txBody>
      </p:sp>
      <p:sp>
        <p:nvSpPr>
          <p:cNvPr id="284734" name="Text Box 62"/>
          <p:cNvSpPr txBox="1">
            <a:spLocks noChangeArrowheads="1"/>
          </p:cNvSpPr>
          <p:nvPr/>
        </p:nvSpPr>
        <p:spPr bwMode="auto">
          <a:xfrm>
            <a:off x="5218235" y="5360929"/>
            <a:ext cx="3080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/>
              <a:t>I</a:t>
            </a:r>
          </a:p>
        </p:txBody>
      </p:sp>
      <p:sp>
        <p:nvSpPr>
          <p:cNvPr id="284735" name="Text Box 63"/>
          <p:cNvSpPr txBox="1">
            <a:spLocks noChangeArrowheads="1"/>
          </p:cNvSpPr>
          <p:nvPr/>
        </p:nvSpPr>
        <p:spPr bwMode="auto">
          <a:xfrm>
            <a:off x="2378319" y="5848290"/>
            <a:ext cx="46458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Fungsi</a:t>
            </a:r>
            <a:r>
              <a:rPr lang="en-US" dirty="0"/>
              <a:t> f(x) </a:t>
            </a:r>
            <a:r>
              <a:rPr lang="en-US" dirty="0" err="1"/>
              <a:t>monoton</a:t>
            </a:r>
            <a:r>
              <a:rPr lang="en-US" dirty="0"/>
              <a:t> </a:t>
            </a:r>
            <a:r>
              <a:rPr lang="en-US" dirty="0" err="1"/>
              <a:t>naik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xmlns="" val="1262313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8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8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3000"/>
                                        <p:tgtEl>
                                          <p:spTgt spid="28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8" presetClass="entr" presetSubtype="1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3000"/>
                                        <p:tgtEl>
                                          <p:spTgt spid="28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3000"/>
                                        <p:tgtEl>
                                          <p:spTgt spid="28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3000"/>
                                        <p:tgtEl>
                                          <p:spTgt spid="28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3000"/>
                                        <p:tgtEl>
                                          <p:spTgt spid="28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5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3000"/>
                                        <p:tgtEl>
                                          <p:spTgt spid="28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3000"/>
                                        <p:tgtEl>
                                          <p:spTgt spid="28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6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3000"/>
                                        <p:tgtEl>
                                          <p:spTgt spid="28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6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8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8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7" grpId="0"/>
      <p:bldP spid="284678" grpId="0"/>
      <p:bldP spid="284679" grpId="0"/>
      <p:bldP spid="284698" grpId="0" animBg="1"/>
      <p:bldP spid="284700" grpId="0" animBg="1"/>
      <p:bldP spid="284701" grpId="0" animBg="1"/>
      <p:bldP spid="284702" grpId="0" animBg="1"/>
      <p:bldP spid="284728" grpId="0"/>
      <p:bldP spid="284729" grpId="0"/>
      <p:bldP spid="284730" grpId="0" animBg="1"/>
      <p:bldP spid="284731" grpId="0" animBg="1"/>
      <p:bldP spid="284732" grpId="0"/>
      <p:bldP spid="284733" grpId="0"/>
      <p:bldP spid="284734" grpId="0"/>
      <p:bldP spid="2847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F0BD46BF-883E-4487-875A-AF6684410375}" type="slidenum">
              <a:rPr lang="en-US" sz="1200" smtClean="0">
                <a:latin typeface="Arial Black" pitchFamily="34" charset="0"/>
              </a:rPr>
              <a:pPr algn="r" eaLnBrk="1" hangingPunct="1"/>
              <a:t>13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id-ID" sz="2000" b="1" u="sng" smtClean="0">
              <a:latin typeface="Tahoma" pitchFamily="34" charset="0"/>
            </a:endParaRPr>
          </a:p>
          <a:p>
            <a:pPr lvl="1" eaLnBrk="1" hangingPunct="1"/>
            <a:endParaRPr lang="id-ID" sz="2000" smtClean="0">
              <a:latin typeface="Tahoma" pitchFamily="34" charset="0"/>
            </a:endParaRPr>
          </a:p>
          <a:p>
            <a:pPr lvl="1" eaLnBrk="1" hangingPunct="1"/>
            <a:endParaRPr lang="id-ID" sz="2000" smtClean="0">
              <a:latin typeface="Tahoma" pitchFamily="34" charset="0"/>
            </a:endParaRPr>
          </a:p>
          <a:p>
            <a:pPr lvl="1" eaLnBrk="1" hangingPunct="1"/>
            <a:endParaRPr lang="id-ID" sz="2000" smtClean="0"/>
          </a:p>
          <a:p>
            <a:pPr lvl="1" eaLnBrk="1" hangingPunct="1"/>
            <a:endParaRPr lang="id-ID" sz="2000" smtClean="0"/>
          </a:p>
          <a:p>
            <a:pPr lvl="1" eaLnBrk="1" hangingPunct="1"/>
            <a:endParaRPr lang="id-ID" sz="1800" smtClean="0"/>
          </a:p>
          <a:p>
            <a:pPr lvl="1" eaLnBrk="1" hangingPunct="1">
              <a:buFont typeface="Wingdings" pitchFamily="2" charset="2"/>
              <a:buNone/>
            </a:pPr>
            <a:endParaRPr lang="id-ID" sz="1800" b="1" u="sng" smtClean="0"/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4479638" y="35954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4479638" y="381453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4479638" y="35954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4479638" y="381453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1780447" y="5329535"/>
            <a:ext cx="53254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2400"/>
              <a:t>Fungsi f </a:t>
            </a:r>
            <a:r>
              <a:rPr lang="id-ID" sz="2400"/>
              <a:t>monoton</a:t>
            </a:r>
            <a:r>
              <a:rPr lang="en-US" sz="2400"/>
              <a:t> turun pada selang I</a:t>
            </a:r>
            <a:endParaRPr lang="id-ID" sz="2400"/>
          </a:p>
        </p:txBody>
      </p:sp>
      <p:sp>
        <p:nvSpPr>
          <p:cNvPr id="16414" name="Text Box 30"/>
          <p:cNvSpPr txBox="1">
            <a:spLocks noChangeArrowheads="1"/>
          </p:cNvSpPr>
          <p:nvPr/>
        </p:nvSpPr>
        <p:spPr bwMode="auto">
          <a:xfrm>
            <a:off x="3160835" y="2881602"/>
            <a:ext cx="603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f(x</a:t>
            </a:r>
            <a:r>
              <a:rPr lang="en-US" sz="1800" baseline="-25000">
                <a:latin typeface="Arial" charset="0"/>
              </a:rPr>
              <a:t>1</a:t>
            </a:r>
            <a:r>
              <a:rPr lang="en-US" sz="1800">
                <a:latin typeface="Arial" charset="0"/>
              </a:rPr>
              <a:t>)</a:t>
            </a:r>
            <a:endParaRPr lang="id-ID" sz="1800">
              <a:latin typeface="Arial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3146181" y="3289590"/>
            <a:ext cx="603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f(x</a:t>
            </a:r>
            <a:r>
              <a:rPr lang="en-US" sz="1800" baseline="-25000">
                <a:latin typeface="Arial" charset="0"/>
              </a:rPr>
              <a:t>2</a:t>
            </a:r>
            <a:r>
              <a:rPr lang="en-US" sz="1800">
                <a:latin typeface="Arial" charset="0"/>
              </a:rPr>
              <a:t>)</a:t>
            </a:r>
            <a:endParaRPr lang="id-ID" sz="1800">
              <a:latin typeface="Arial" charset="0"/>
            </a:endParaRP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4173417" y="4250027"/>
            <a:ext cx="3850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x</a:t>
            </a:r>
            <a:r>
              <a:rPr lang="en-US" sz="1800" baseline="-25000">
                <a:latin typeface="Arial" charset="0"/>
              </a:rPr>
              <a:t>1</a:t>
            </a:r>
            <a:endParaRPr lang="id-ID" sz="1800">
              <a:latin typeface="Arial" charset="0"/>
            </a:endParaRPr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5414597" y="4250027"/>
            <a:ext cx="3850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sz="1800">
                <a:latin typeface="Arial" charset="0"/>
              </a:rPr>
              <a:t>x</a:t>
            </a:r>
            <a:r>
              <a:rPr lang="en-US" sz="1800" baseline="-25000">
                <a:latin typeface="Arial" charset="0"/>
              </a:rPr>
              <a:t>2</a:t>
            </a:r>
            <a:endParaRPr lang="id-ID" sz="1800">
              <a:latin typeface="Arial" charset="0"/>
            </a:endParaRPr>
          </a:p>
        </p:txBody>
      </p:sp>
      <p:sp>
        <p:nvSpPr>
          <p:cNvPr id="16420" name="Text Box 36"/>
          <p:cNvSpPr txBox="1">
            <a:spLocks noChangeArrowheads="1"/>
          </p:cNvSpPr>
          <p:nvPr/>
        </p:nvSpPr>
        <p:spPr bwMode="auto">
          <a:xfrm>
            <a:off x="898282" y="1271881"/>
            <a:ext cx="6016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id-ID" sz="2400" b="1" u="sng"/>
              <a:t>monoton turun</a:t>
            </a:r>
            <a:r>
              <a:rPr lang="id-ID" sz="2400"/>
              <a:t> pada interval I jika untuk</a:t>
            </a:r>
            <a:endParaRPr lang="en-US" sz="2400"/>
          </a:p>
        </p:txBody>
      </p:sp>
      <p:graphicFrame>
        <p:nvGraphicFramePr>
          <p:cNvPr id="16421" name="Object 37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1873539"/>
          <a:ext cx="5317881" cy="573088"/>
        </p:xfrm>
        <a:graphic>
          <a:graphicData uri="http://schemas.openxmlformats.org/presentationml/2006/ole">
            <p:oleObj spid="_x0000_s10260" name="Equation" r:id="rId3" imgW="2171700" imgH="215900" progId="Equation.3">
              <p:embed/>
            </p:oleObj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913792" y="2810167"/>
            <a:ext cx="4319954" cy="2303463"/>
            <a:chOff x="1306" y="1480"/>
            <a:chExt cx="2948" cy="1451"/>
          </a:xfrm>
        </p:grpSpPr>
        <p:sp>
          <p:nvSpPr>
            <p:cNvPr id="9241" name="Line 40"/>
            <p:cNvSpPr>
              <a:spLocks noChangeShapeType="1"/>
            </p:cNvSpPr>
            <p:nvPr/>
          </p:nvSpPr>
          <p:spPr bwMode="auto">
            <a:xfrm>
              <a:off x="2485" y="1480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Line 41"/>
            <p:cNvSpPr>
              <a:spLocks noChangeShapeType="1"/>
            </p:cNvSpPr>
            <p:nvPr/>
          </p:nvSpPr>
          <p:spPr bwMode="auto">
            <a:xfrm>
              <a:off x="1306" y="2478"/>
              <a:ext cx="29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426" name="Line 42"/>
          <p:cNvSpPr>
            <a:spLocks noChangeShapeType="1"/>
          </p:cNvSpPr>
          <p:nvPr/>
        </p:nvSpPr>
        <p:spPr bwMode="auto">
          <a:xfrm>
            <a:off x="3774831" y="4610389"/>
            <a:ext cx="23255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7" name="Freeform 43"/>
          <p:cNvSpPr>
            <a:spLocks/>
          </p:cNvSpPr>
          <p:nvPr/>
        </p:nvSpPr>
        <p:spPr bwMode="auto">
          <a:xfrm>
            <a:off x="3774831" y="2953048"/>
            <a:ext cx="2392974" cy="1008063"/>
          </a:xfrm>
          <a:custGeom>
            <a:avLst/>
            <a:gdLst>
              <a:gd name="T0" fmla="*/ 0 w 1633"/>
              <a:gd name="T1" fmla="*/ 0 h 635"/>
              <a:gd name="T2" fmla="*/ 2147483647 w 1633"/>
              <a:gd name="T3" fmla="*/ 2147483647 h 635"/>
              <a:gd name="T4" fmla="*/ 2147483647 w 1633"/>
              <a:gd name="T5" fmla="*/ 2147483647 h 635"/>
              <a:gd name="T6" fmla="*/ 0 60000 65536"/>
              <a:gd name="T7" fmla="*/ 0 60000 65536"/>
              <a:gd name="T8" fmla="*/ 0 60000 65536"/>
              <a:gd name="T9" fmla="*/ 0 w 1633"/>
              <a:gd name="T10" fmla="*/ 0 h 635"/>
              <a:gd name="T11" fmla="*/ 1633 w 1633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3" h="635">
                <a:moveTo>
                  <a:pt x="0" y="0"/>
                </a:moveTo>
                <a:cubicBezTo>
                  <a:pt x="340" y="60"/>
                  <a:pt x="680" y="121"/>
                  <a:pt x="952" y="227"/>
                </a:cubicBezTo>
                <a:cubicBezTo>
                  <a:pt x="1224" y="333"/>
                  <a:pt x="1428" y="484"/>
                  <a:pt x="1633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4771292" y="4537365"/>
            <a:ext cx="3080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/>
              <a:t>I</a:t>
            </a:r>
          </a:p>
        </p:txBody>
      </p:sp>
      <p:sp>
        <p:nvSpPr>
          <p:cNvPr id="16429" name="Line 45"/>
          <p:cNvSpPr>
            <a:spLocks noChangeShapeType="1"/>
          </p:cNvSpPr>
          <p:nvPr/>
        </p:nvSpPr>
        <p:spPr bwMode="auto">
          <a:xfrm>
            <a:off x="4438650" y="3097511"/>
            <a:ext cx="0" cy="12969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1" name="Line 47"/>
          <p:cNvSpPr>
            <a:spLocks noChangeShapeType="1"/>
          </p:cNvSpPr>
          <p:nvPr/>
        </p:nvSpPr>
        <p:spPr bwMode="auto">
          <a:xfrm flipH="1">
            <a:off x="3641481" y="3097502"/>
            <a:ext cx="79716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2" name="Line 48"/>
          <p:cNvSpPr>
            <a:spLocks noChangeShapeType="1"/>
          </p:cNvSpPr>
          <p:nvPr/>
        </p:nvSpPr>
        <p:spPr bwMode="auto">
          <a:xfrm>
            <a:off x="5635869" y="3545177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3" name="Line 49"/>
          <p:cNvSpPr>
            <a:spLocks noChangeShapeType="1"/>
          </p:cNvSpPr>
          <p:nvPr/>
        </p:nvSpPr>
        <p:spPr bwMode="auto">
          <a:xfrm flipH="1">
            <a:off x="3641484" y="3529302"/>
            <a:ext cx="19943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244408" y="0"/>
            <a:ext cx="899592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nip Diagonal Corner Rectangle 2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nip Diagonal Corner Rectangle 2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69729601"/>
      </p:ext>
    </p:extLst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30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20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20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20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5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20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6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1" grpId="0"/>
      <p:bldP spid="16414" grpId="0"/>
      <p:bldP spid="16415" grpId="0"/>
      <p:bldP spid="16416" grpId="0"/>
      <p:bldP spid="16417" grpId="0"/>
      <p:bldP spid="16420" grpId="0"/>
      <p:bldP spid="16426" grpId="0" animBg="1"/>
      <p:bldP spid="16427" grpId="0" animBg="1"/>
      <p:bldP spid="16428" grpId="0"/>
      <p:bldP spid="16429" grpId="0" animBg="1"/>
      <p:bldP spid="16431" grpId="0" animBg="1"/>
      <p:bldP spid="16432" grpId="0" animBg="1"/>
      <p:bldP spid="164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nip Diagonal Corner Rectangle 3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nip Diagonal Corner Rectangle 4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10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1C2D64DA-40F6-4D10-BBB6-67E329B5BD44}" type="slidenum">
              <a:rPr lang="en-US" sz="1200" smtClean="0">
                <a:latin typeface="Arial Black" pitchFamily="34" charset="0"/>
              </a:rPr>
              <a:pPr algn="r" eaLnBrk="1" hangingPunct="1"/>
              <a:t>14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362" y="720725"/>
            <a:ext cx="8695592" cy="5832475"/>
          </a:xfrm>
        </p:spPr>
        <p:txBody>
          <a:bodyPr>
            <a:normAutofit fontScale="92500" lnSpcReduction="20000"/>
          </a:bodyPr>
          <a:lstStyle/>
          <a:p>
            <a:pPr marL="660400" indent="-660400" eaLnBrk="1" hangingPunct="1">
              <a:lnSpc>
                <a:spcPct val="80000"/>
              </a:lnSpc>
            </a:pPr>
            <a:endParaRPr lang="en-US" sz="1400" b="1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400" b="1" dirty="0" smtClean="0">
                <a:solidFill>
                  <a:srgbClr val="FF3399"/>
                </a:solidFill>
              </a:rPr>
              <a:t>	</a:t>
            </a:r>
            <a:r>
              <a:rPr lang="en-US" sz="1800" b="1" dirty="0" err="1" smtClean="0"/>
              <a:t>Teorema</a:t>
            </a:r>
            <a:r>
              <a:rPr lang="en-US" sz="1800" b="1" dirty="0" smtClean="0"/>
              <a:t> 5.1 : </a:t>
            </a:r>
            <a:r>
              <a:rPr lang="en-US" sz="1800" dirty="0" smtClean="0"/>
              <a:t> </a:t>
            </a:r>
            <a:r>
              <a:rPr lang="id-ID" sz="2000" dirty="0" smtClean="0">
                <a:latin typeface="Tahoma" pitchFamily="34" charset="0"/>
              </a:rPr>
              <a:t>Andaikan </a:t>
            </a:r>
            <a:r>
              <a:rPr lang="id-ID" sz="2000" i="1" dirty="0" smtClean="0">
                <a:latin typeface="Tahoma" pitchFamily="34" charset="0"/>
              </a:rPr>
              <a:t>f </a:t>
            </a:r>
            <a:r>
              <a:rPr lang="id-ID" sz="2000" dirty="0" smtClean="0">
                <a:latin typeface="Tahoma" pitchFamily="34" charset="0"/>
              </a:rPr>
              <a:t>diferensiabel di selang I, maka </a:t>
            </a:r>
          </a:p>
          <a:p>
            <a:pPr marL="1035050" lvl="1" indent="-577850" eaLnBrk="1" hangingPunct="1">
              <a:lnSpc>
                <a:spcPct val="105000"/>
              </a:lnSpc>
            </a:pPr>
            <a:r>
              <a:rPr lang="id-ID" sz="2000" dirty="0" smtClean="0">
                <a:latin typeface="Tahoma" pitchFamily="34" charset="0"/>
              </a:rPr>
              <a:t>Fungsi </a:t>
            </a:r>
            <a:r>
              <a:rPr lang="id-ID" sz="2000" i="1" dirty="0" smtClean="0">
                <a:latin typeface="Tahoma" pitchFamily="34" charset="0"/>
              </a:rPr>
              <a:t>f</a:t>
            </a:r>
            <a:r>
              <a:rPr lang="id-ID" sz="2000" dirty="0" smtClean="0">
                <a:latin typeface="Tahoma" pitchFamily="34" charset="0"/>
              </a:rPr>
              <a:t>(</a:t>
            </a:r>
            <a:r>
              <a:rPr lang="id-ID" sz="2000" i="1" dirty="0" smtClean="0">
                <a:latin typeface="Tahoma" pitchFamily="34" charset="0"/>
              </a:rPr>
              <a:t>x</a:t>
            </a:r>
            <a:r>
              <a:rPr lang="id-ID" sz="2000" dirty="0" smtClean="0">
                <a:latin typeface="Tahoma" pitchFamily="34" charset="0"/>
              </a:rPr>
              <a:t>) monoton naik pada I jika </a:t>
            </a:r>
          </a:p>
          <a:p>
            <a:pPr marL="1035050" lvl="1" indent="-577850" eaLnBrk="1" hangingPunct="1">
              <a:lnSpc>
                <a:spcPct val="105000"/>
              </a:lnSpc>
            </a:pPr>
            <a:r>
              <a:rPr lang="id-ID" sz="2000" dirty="0" smtClean="0">
                <a:latin typeface="Tahoma" pitchFamily="34" charset="0"/>
              </a:rPr>
              <a:t>Fungsi </a:t>
            </a:r>
            <a:r>
              <a:rPr lang="id-ID" sz="2000" i="1" dirty="0" smtClean="0">
                <a:latin typeface="Tahoma" pitchFamily="34" charset="0"/>
              </a:rPr>
              <a:t>f(x</a:t>
            </a:r>
            <a:r>
              <a:rPr lang="id-ID" sz="2000" dirty="0" smtClean="0">
                <a:latin typeface="Tahoma" pitchFamily="34" charset="0"/>
              </a:rPr>
              <a:t>) monoton turun pada I jika </a:t>
            </a:r>
          </a:p>
          <a:p>
            <a:pPr marL="660400" indent="-660400" eaLnBrk="1" hangingPunct="1">
              <a:lnSpc>
                <a:spcPct val="125000"/>
              </a:lnSpc>
              <a:buNone/>
            </a:pPr>
            <a:endParaRPr lang="id-ID" sz="1300" b="1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FF0066"/>
                </a:solidFill>
                <a:latin typeface="Tahoma" pitchFamily="34" charset="0"/>
              </a:rPr>
              <a:t>	</a:t>
            </a:r>
            <a:r>
              <a:rPr lang="id-ID" sz="2000" b="1" dirty="0" smtClean="0">
                <a:solidFill>
                  <a:srgbClr val="FF0066"/>
                </a:solidFill>
                <a:latin typeface="Tahoma" pitchFamily="34" charset="0"/>
              </a:rPr>
              <a:t>Contoh </a:t>
            </a:r>
            <a:r>
              <a:rPr lang="id-ID" sz="2000" b="1" dirty="0" smtClean="0">
                <a:latin typeface="Tahoma" pitchFamily="34" charset="0"/>
              </a:rPr>
              <a:t>  </a:t>
            </a:r>
            <a:r>
              <a:rPr lang="id-ID" sz="2000" dirty="0" smtClean="0">
                <a:latin typeface="Tahoma" pitchFamily="34" charset="0"/>
              </a:rPr>
              <a:t> Tentukan selang kemonotonan dari </a:t>
            </a:r>
          </a:p>
          <a:p>
            <a:pPr marL="660400" indent="-660400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Tahoma" pitchFamily="34" charset="0"/>
              </a:rPr>
              <a:t>	</a:t>
            </a:r>
            <a:r>
              <a:rPr lang="id-ID" sz="2000" b="1" dirty="0" smtClean="0">
                <a:latin typeface="Tahoma" pitchFamily="34" charset="0"/>
              </a:rPr>
              <a:t>Jawab </a:t>
            </a:r>
            <a:r>
              <a:rPr lang="id-ID" sz="2000" dirty="0" smtClean="0">
                <a:latin typeface="Tahoma" pitchFamily="34" charset="0"/>
              </a:rPr>
              <a:t>:</a:t>
            </a:r>
          </a:p>
          <a:p>
            <a:pPr marL="660400" indent="-660400" eaLnBrk="1" hangingPunct="1">
              <a:lnSpc>
                <a:spcPct val="125000"/>
              </a:lnSpc>
            </a:pPr>
            <a:endParaRPr lang="id-ID" sz="2000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25000"/>
              </a:lnSpc>
            </a:pPr>
            <a:endParaRPr lang="id-ID" sz="2000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25000"/>
              </a:lnSpc>
            </a:pPr>
            <a:endParaRPr lang="id-ID" sz="2000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25000"/>
              </a:lnSpc>
            </a:pPr>
            <a:endParaRPr lang="id-ID" sz="2000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sz="2000" i="1" dirty="0" smtClean="0">
                <a:latin typeface="Tahoma" pitchFamily="34" charset="0"/>
              </a:rPr>
              <a:t>	</a:t>
            </a:r>
          </a:p>
          <a:p>
            <a:pPr marL="660400" indent="-660400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sz="2000" i="1" dirty="0" smtClean="0">
                <a:latin typeface="Tahoma" pitchFamily="34" charset="0"/>
              </a:rPr>
              <a:t>	</a:t>
            </a:r>
          </a:p>
          <a:p>
            <a:pPr marL="660400" indent="-660400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sz="2000" i="1" dirty="0">
                <a:latin typeface="Tahoma" pitchFamily="34" charset="0"/>
              </a:rPr>
              <a:t>	</a:t>
            </a:r>
            <a:r>
              <a:rPr lang="id-ID" sz="2000" i="1" dirty="0" smtClean="0">
                <a:latin typeface="Tahoma" pitchFamily="34" charset="0"/>
              </a:rPr>
              <a:t>f</a:t>
            </a:r>
            <a:r>
              <a:rPr lang="id-ID" sz="2000" dirty="0" smtClean="0">
                <a:latin typeface="Tahoma" pitchFamily="34" charset="0"/>
              </a:rPr>
              <a:t>(</a:t>
            </a:r>
            <a:r>
              <a:rPr lang="id-ID" sz="2000" i="1" dirty="0" smtClean="0">
                <a:latin typeface="Tahoma" pitchFamily="34" charset="0"/>
              </a:rPr>
              <a:t>x</a:t>
            </a:r>
            <a:r>
              <a:rPr lang="id-ID" sz="2000" dirty="0" smtClean="0">
                <a:latin typeface="Tahoma" pitchFamily="34" charset="0"/>
              </a:rPr>
              <a:t>) monoton naik  	   </a:t>
            </a:r>
            <a:endParaRPr lang="en-US" sz="2000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sz="2000" i="1" dirty="0" smtClean="0">
                <a:latin typeface="Tahoma" pitchFamily="34" charset="0"/>
              </a:rPr>
              <a:t>	</a:t>
            </a:r>
            <a:r>
              <a:rPr lang="id-ID" sz="2000" i="1" dirty="0" smtClean="0">
                <a:latin typeface="Tahoma" pitchFamily="34" charset="0"/>
              </a:rPr>
              <a:t>f</a:t>
            </a:r>
            <a:r>
              <a:rPr lang="id-ID" sz="2000" dirty="0" smtClean="0">
                <a:latin typeface="Tahoma" pitchFamily="34" charset="0"/>
              </a:rPr>
              <a:t>(</a:t>
            </a:r>
            <a:r>
              <a:rPr lang="id-ID" sz="2000" i="1" dirty="0" smtClean="0">
                <a:latin typeface="Tahoma" pitchFamily="34" charset="0"/>
              </a:rPr>
              <a:t>x</a:t>
            </a:r>
            <a:r>
              <a:rPr lang="id-ID" sz="2000" dirty="0" smtClean="0">
                <a:latin typeface="Tahoma" pitchFamily="34" charset="0"/>
              </a:rPr>
              <a:t>) monoton turun  pada </a:t>
            </a:r>
            <a:r>
              <a:rPr lang="en-US" sz="2000" dirty="0" smtClean="0">
                <a:latin typeface="Tahoma" pitchFamily="34" charset="0"/>
              </a:rPr>
              <a:t>(0,2) </a:t>
            </a:r>
            <a:r>
              <a:rPr lang="en-US" sz="2000" dirty="0" err="1" smtClean="0">
                <a:latin typeface="Tahoma" pitchFamily="34" charset="0"/>
              </a:rPr>
              <a:t>dan</a:t>
            </a:r>
            <a:r>
              <a:rPr lang="en-US" sz="2000" dirty="0" smtClean="0">
                <a:latin typeface="Tahoma" pitchFamily="34" charset="0"/>
              </a:rPr>
              <a:t> (2,4).    </a:t>
            </a:r>
            <a:endParaRPr lang="id-ID" sz="2000" dirty="0" smtClean="0">
              <a:latin typeface="Tahoma" pitchFamily="34" charset="0"/>
            </a:endParaRPr>
          </a:p>
          <a:p>
            <a:pPr marL="660400" indent="-660400" eaLnBrk="1" hangingPunct="1">
              <a:lnSpc>
                <a:spcPct val="105000"/>
              </a:lnSpc>
            </a:pPr>
            <a:endParaRPr lang="id-ID" sz="2000" dirty="0" smtClean="0">
              <a:latin typeface="Tahoma" pitchFamily="34" charset="0"/>
            </a:endParaRPr>
          </a:p>
        </p:txBody>
      </p:sp>
      <p:sp>
        <p:nvSpPr>
          <p:cNvPr id="10252" name="Rectangle 5"/>
          <p:cNvSpPr>
            <a:spLocks noChangeArrowheads="1"/>
          </p:cNvSpPr>
          <p:nvPr/>
        </p:nvSpPr>
        <p:spPr bwMode="auto">
          <a:xfrm>
            <a:off x="4479638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5473212" y="1238250"/>
          <a:ext cx="1994388" cy="373063"/>
        </p:xfrm>
        <a:graphic>
          <a:graphicData uri="http://schemas.openxmlformats.org/presentationml/2006/ole">
            <p:oleObj spid="_x0000_s11392" name="Equation" r:id="rId4" imgW="1066337" imgH="203112" progId="Equation.3">
              <p:embed/>
            </p:oleObj>
          </a:graphicData>
        </a:graphic>
      </p:graphicFrame>
      <p:sp>
        <p:nvSpPr>
          <p:cNvPr id="10253" name="Rectangle 6"/>
          <p:cNvSpPr>
            <a:spLocks noChangeArrowheads="1"/>
          </p:cNvSpPr>
          <p:nvPr/>
        </p:nvSpPr>
        <p:spPr bwMode="auto">
          <a:xfrm>
            <a:off x="4479638" y="33443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54" name="Rectangle 8"/>
          <p:cNvSpPr>
            <a:spLocks noChangeArrowheads="1"/>
          </p:cNvSpPr>
          <p:nvPr/>
        </p:nvSpPr>
        <p:spPr bwMode="auto">
          <a:xfrm>
            <a:off x="4479638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5407265" y="1611313"/>
          <a:ext cx="1928446" cy="369887"/>
        </p:xfrm>
        <a:graphic>
          <a:graphicData uri="http://schemas.openxmlformats.org/presentationml/2006/ole">
            <p:oleObj spid="_x0000_s11393" name="Equation" r:id="rId5" imgW="1040948" imgH="203112" progId="Equation.3">
              <p:embed/>
            </p:oleObj>
          </a:graphicData>
        </a:graphic>
      </p:graphicFrame>
      <p:sp>
        <p:nvSpPr>
          <p:cNvPr id="10255" name="Rectangle 11"/>
          <p:cNvSpPr>
            <a:spLocks noChangeArrowheads="1"/>
          </p:cNvSpPr>
          <p:nvPr/>
        </p:nvSpPr>
        <p:spPr bwMode="auto">
          <a:xfrm>
            <a:off x="4479638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56" name="Rectangle 23"/>
          <p:cNvSpPr>
            <a:spLocks noChangeArrowheads="1"/>
          </p:cNvSpPr>
          <p:nvPr/>
        </p:nvSpPr>
        <p:spPr bwMode="auto">
          <a:xfrm>
            <a:off x="4479638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57" name="Rectangle 25"/>
          <p:cNvSpPr>
            <a:spLocks noChangeArrowheads="1"/>
          </p:cNvSpPr>
          <p:nvPr/>
        </p:nvSpPr>
        <p:spPr bwMode="auto">
          <a:xfrm>
            <a:off x="4479638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58" name="Rectangle 27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0259" name="Rectangle 34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41" name="Object 33"/>
          <p:cNvGraphicFramePr>
            <a:graphicFrameLocks noChangeAspect="1"/>
          </p:cNvGraphicFramePr>
          <p:nvPr/>
        </p:nvGraphicFramePr>
        <p:xfrm>
          <a:off x="5835166" y="2449503"/>
          <a:ext cx="1727689" cy="647700"/>
        </p:xfrm>
        <a:graphic>
          <a:graphicData uri="http://schemas.openxmlformats.org/presentationml/2006/ole">
            <p:oleObj spid="_x0000_s11394" name="Equation" r:id="rId6" imgW="1206500" imgH="419100" progId="Equation.3">
              <p:embed/>
            </p:oleObj>
          </a:graphicData>
        </a:graphic>
      </p:graphicFrame>
      <p:sp>
        <p:nvSpPr>
          <p:cNvPr id="10260" name="Rectangle 35"/>
          <p:cNvSpPr>
            <a:spLocks noChangeArrowheads="1"/>
          </p:cNvSpPr>
          <p:nvPr/>
        </p:nvSpPr>
        <p:spPr bwMode="auto">
          <a:xfrm>
            <a:off x="1" y="417928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2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0261" name="Rectangle 38"/>
          <p:cNvSpPr>
            <a:spLocks noChangeArrowheads="1"/>
          </p:cNvSpPr>
          <p:nvPr/>
        </p:nvSpPr>
        <p:spPr bwMode="auto">
          <a:xfrm>
            <a:off x="-7370" y="-1838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endParaRPr lang="en-US" sz="1800">
              <a:latin typeface="Arial" charset="0"/>
            </a:endParaRPr>
          </a:p>
        </p:txBody>
      </p:sp>
      <p:sp>
        <p:nvSpPr>
          <p:cNvPr id="10262" name="Rectangle 42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4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75243257"/>
              </p:ext>
            </p:extLst>
          </p:nvPr>
        </p:nvGraphicFramePr>
        <p:xfrm>
          <a:off x="2800751" y="5426078"/>
          <a:ext cx="2614246" cy="354012"/>
        </p:xfrm>
        <a:graphic>
          <a:graphicData uri="http://schemas.openxmlformats.org/presentationml/2006/ole">
            <p:oleObj spid="_x0000_s11395" name="Equation" r:id="rId7" imgW="1600200" imgH="203200" progId="Equation.3">
              <p:embed/>
            </p:oleObj>
          </a:graphicData>
        </a:graphic>
      </p:graphicFrame>
      <p:sp>
        <p:nvSpPr>
          <p:cNvPr id="10263" name="Rectangle 44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51" name="Object 43"/>
          <p:cNvGraphicFramePr>
            <a:graphicFrameLocks noChangeAspect="1"/>
          </p:cNvGraphicFramePr>
          <p:nvPr/>
        </p:nvGraphicFramePr>
        <p:xfrm>
          <a:off x="1581150" y="3387716"/>
          <a:ext cx="3522785" cy="717550"/>
        </p:xfrm>
        <a:graphic>
          <a:graphicData uri="http://schemas.openxmlformats.org/presentationml/2006/ole">
            <p:oleObj spid="_x0000_s11396" name="Equation" r:id="rId8" imgW="2425700" imgH="457200" progId="Equation.3">
              <p:embed/>
            </p:oleObj>
          </a:graphicData>
        </a:graphic>
      </p:graphicFrame>
      <p:sp>
        <p:nvSpPr>
          <p:cNvPr id="10264" name="Rectangle 46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53" name="Object 45"/>
          <p:cNvGraphicFramePr>
            <a:graphicFrameLocks noChangeAspect="1"/>
          </p:cNvGraphicFramePr>
          <p:nvPr/>
        </p:nvGraphicFramePr>
        <p:xfrm>
          <a:off x="5237289" y="3341687"/>
          <a:ext cx="2458915" cy="690563"/>
        </p:xfrm>
        <a:graphic>
          <a:graphicData uri="http://schemas.openxmlformats.org/presentationml/2006/ole">
            <p:oleObj spid="_x0000_s11397" name="Equation" r:id="rId9" imgW="1765300" imgH="457200" progId="Equation.3">
              <p:embed/>
            </p:oleObj>
          </a:graphicData>
        </a:graphic>
      </p:graphicFrame>
      <p:sp>
        <p:nvSpPr>
          <p:cNvPr id="10265" name="Rectangle 48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7455" name="Object 47"/>
          <p:cNvGraphicFramePr>
            <a:graphicFrameLocks noChangeAspect="1"/>
          </p:cNvGraphicFramePr>
          <p:nvPr/>
        </p:nvGraphicFramePr>
        <p:xfrm>
          <a:off x="2162908" y="4113203"/>
          <a:ext cx="1928446" cy="711200"/>
        </p:xfrm>
        <a:graphic>
          <a:graphicData uri="http://schemas.openxmlformats.org/presentationml/2006/ole">
            <p:oleObj spid="_x0000_s11398" name="Equation" r:id="rId10" imgW="1346200" imgH="457200" progId="Equation.3">
              <p:embed/>
            </p:oleObj>
          </a:graphicData>
        </a:graphic>
      </p:graphicFrame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2656743" y="4752976"/>
            <a:ext cx="4387362" cy="782638"/>
            <a:chOff x="1813" y="2898"/>
            <a:chExt cx="2994" cy="493"/>
          </a:xfrm>
        </p:grpSpPr>
        <p:sp>
          <p:nvSpPr>
            <p:cNvPr id="10268" name="Line 49"/>
            <p:cNvSpPr>
              <a:spLocks noChangeShapeType="1"/>
            </p:cNvSpPr>
            <p:nvPr/>
          </p:nvSpPr>
          <p:spPr bwMode="auto">
            <a:xfrm>
              <a:off x="1813" y="3158"/>
              <a:ext cx="29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50"/>
            <p:cNvSpPr>
              <a:spLocks noChangeShapeType="1"/>
            </p:cNvSpPr>
            <p:nvPr/>
          </p:nvSpPr>
          <p:spPr bwMode="auto">
            <a:xfrm>
              <a:off x="2576" y="3113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51"/>
            <p:cNvSpPr>
              <a:spLocks noChangeShapeType="1"/>
            </p:cNvSpPr>
            <p:nvPr/>
          </p:nvSpPr>
          <p:spPr bwMode="auto">
            <a:xfrm>
              <a:off x="3301" y="3113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52"/>
            <p:cNvSpPr>
              <a:spLocks noChangeShapeType="1"/>
            </p:cNvSpPr>
            <p:nvPr/>
          </p:nvSpPr>
          <p:spPr bwMode="auto">
            <a:xfrm>
              <a:off x="3936" y="3113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Text Box 53"/>
            <p:cNvSpPr txBox="1">
              <a:spLocks noChangeArrowheads="1"/>
            </p:cNvSpPr>
            <p:nvPr/>
          </p:nvSpPr>
          <p:spPr bwMode="auto">
            <a:xfrm>
              <a:off x="2485" y="3154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0</a:t>
              </a:r>
            </a:p>
          </p:txBody>
        </p:sp>
        <p:sp>
          <p:nvSpPr>
            <p:cNvPr id="10273" name="Text Box 54"/>
            <p:cNvSpPr txBox="1">
              <a:spLocks noChangeArrowheads="1"/>
            </p:cNvSpPr>
            <p:nvPr/>
          </p:nvSpPr>
          <p:spPr bwMode="auto">
            <a:xfrm>
              <a:off x="3211" y="3158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10274" name="Text Box 55"/>
            <p:cNvSpPr txBox="1">
              <a:spLocks noChangeArrowheads="1"/>
            </p:cNvSpPr>
            <p:nvPr/>
          </p:nvSpPr>
          <p:spPr bwMode="auto">
            <a:xfrm>
              <a:off x="3836" y="3158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10275" name="Text Box 56"/>
            <p:cNvSpPr txBox="1">
              <a:spLocks noChangeArrowheads="1"/>
            </p:cNvSpPr>
            <p:nvPr/>
          </p:nvSpPr>
          <p:spPr bwMode="auto">
            <a:xfrm>
              <a:off x="3982" y="2898"/>
              <a:ext cx="6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++++++</a:t>
              </a:r>
            </a:p>
          </p:txBody>
        </p:sp>
        <p:sp>
          <p:nvSpPr>
            <p:cNvPr id="10276" name="Text Box 57"/>
            <p:cNvSpPr txBox="1">
              <a:spLocks noChangeArrowheads="1"/>
            </p:cNvSpPr>
            <p:nvPr/>
          </p:nvSpPr>
          <p:spPr bwMode="auto">
            <a:xfrm>
              <a:off x="3380" y="2898"/>
              <a:ext cx="5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---------</a:t>
              </a:r>
            </a:p>
          </p:txBody>
        </p:sp>
        <p:sp>
          <p:nvSpPr>
            <p:cNvPr id="10277" name="Text Box 58"/>
            <p:cNvSpPr txBox="1">
              <a:spLocks noChangeArrowheads="1"/>
            </p:cNvSpPr>
            <p:nvPr/>
          </p:nvSpPr>
          <p:spPr bwMode="auto">
            <a:xfrm>
              <a:off x="2608" y="2898"/>
              <a:ext cx="7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------------</a:t>
              </a:r>
            </a:p>
          </p:txBody>
        </p:sp>
        <p:sp>
          <p:nvSpPr>
            <p:cNvPr id="10278" name="Text Box 59"/>
            <p:cNvSpPr txBox="1">
              <a:spLocks noChangeArrowheads="1"/>
            </p:cNvSpPr>
            <p:nvPr/>
          </p:nvSpPr>
          <p:spPr bwMode="auto">
            <a:xfrm>
              <a:off x="1872" y="2898"/>
              <a:ext cx="7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+++++++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8244408" y="0"/>
            <a:ext cx="899592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4146529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nip Diagonal Corner Rectangle 1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112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F6BA14FE-F29B-4AAB-8895-C5B3CD75144E}" type="slidenum">
              <a:rPr lang="en-US" sz="1200" smtClean="0">
                <a:latin typeface="Arial Black" pitchFamily="34" charset="0"/>
              </a:rPr>
              <a:pPr algn="r" eaLnBrk="1" hangingPunct="1"/>
              <a:t>15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2" y="1109662"/>
            <a:ext cx="8569569" cy="5367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1800" b="1" dirty="0" smtClean="0"/>
              <a:t>D. </a:t>
            </a:r>
            <a:r>
              <a:rPr lang="id-ID" sz="1800" b="1" dirty="0" smtClean="0"/>
              <a:t>Ekstrim Fungsi</a:t>
            </a:r>
            <a:endParaRPr lang="id-ID" sz="1800" dirty="0" smtClean="0"/>
          </a:p>
          <a:p>
            <a:pPr eaLnBrk="1" hangingPunct="1">
              <a:lnSpc>
                <a:spcPct val="80000"/>
              </a:lnSpc>
            </a:pPr>
            <a:endParaRPr lang="id-ID" sz="1800" b="1" dirty="0" smtClean="0">
              <a:solidFill>
                <a:srgbClr val="3333FF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800" b="1" dirty="0" smtClean="0"/>
              <a:t>Definisi 5.3</a:t>
            </a:r>
            <a:r>
              <a:rPr lang="id-ID" sz="1800" dirty="0" smtClean="0"/>
              <a:t>  Misalkan </a:t>
            </a:r>
            <a:r>
              <a:rPr lang="id-ID" sz="1800" i="1" dirty="0" smtClean="0"/>
              <a:t>f</a:t>
            </a:r>
            <a:r>
              <a:rPr lang="id-ID" sz="1800" dirty="0" smtClean="0"/>
              <a:t>(</a:t>
            </a:r>
            <a:r>
              <a:rPr lang="id-ID" sz="1800" i="1" dirty="0" smtClean="0"/>
              <a:t>x</a:t>
            </a:r>
            <a:r>
              <a:rPr lang="id-ID" sz="1800" dirty="0" smtClean="0"/>
              <a:t>) kontinu pada selang I yang memuat </a:t>
            </a:r>
            <a:r>
              <a:rPr lang="id-ID" sz="1800" i="1" dirty="0" smtClean="0"/>
              <a:t>c,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800" i="1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800" i="1" dirty="0" smtClean="0"/>
              <a:t> </a:t>
            </a:r>
            <a:r>
              <a:rPr lang="en-US" sz="1800" i="1" dirty="0" smtClean="0"/>
              <a:t> </a:t>
            </a:r>
            <a:r>
              <a:rPr lang="id-ID" sz="1800" i="1" dirty="0" smtClean="0"/>
              <a:t> f</a:t>
            </a:r>
            <a:r>
              <a:rPr lang="id-ID" sz="1800" dirty="0" smtClean="0"/>
              <a:t>(</a:t>
            </a:r>
            <a:r>
              <a:rPr lang="id-ID" sz="1800" i="1" dirty="0" smtClean="0"/>
              <a:t>c</a:t>
            </a:r>
            <a:r>
              <a:rPr lang="id-ID" sz="1800" dirty="0" smtClean="0"/>
              <a:t>) disebut nilai </a:t>
            </a:r>
            <a:r>
              <a:rPr lang="en-US" sz="1800" dirty="0" smtClean="0"/>
              <a:t>                 </a:t>
            </a:r>
            <a:r>
              <a:rPr lang="id-ID" sz="1800" dirty="0" smtClean="0"/>
              <a:t>global dari </a:t>
            </a:r>
            <a:r>
              <a:rPr lang="id-ID" sz="1800" i="1" dirty="0" smtClean="0"/>
              <a:t>f</a:t>
            </a:r>
            <a:r>
              <a:rPr lang="id-ID" sz="1800" dirty="0" smtClean="0"/>
              <a:t> pada I jika  </a:t>
            </a:r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endParaRPr lang="id-ID" sz="1800" dirty="0" smtClean="0"/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endParaRPr lang="en-US" sz="1800" i="1" dirty="0" smtClean="0"/>
          </a:p>
          <a:p>
            <a:pPr algn="just" eaLnBrk="1" hangingPunct="1">
              <a:lnSpc>
                <a:spcPct val="80000"/>
              </a:lnSpc>
              <a:buFont typeface="Symbol" pitchFamily="18" charset="2"/>
              <a:buNone/>
            </a:pPr>
            <a:r>
              <a:rPr lang="en-US" sz="1800" i="1" dirty="0" smtClean="0"/>
              <a:t>	</a:t>
            </a:r>
            <a:r>
              <a:rPr lang="id-ID" sz="1800" i="1" dirty="0" smtClean="0"/>
              <a:t>f</a:t>
            </a:r>
            <a:r>
              <a:rPr lang="id-ID" sz="1800" dirty="0" smtClean="0"/>
              <a:t>(</a:t>
            </a:r>
            <a:r>
              <a:rPr lang="id-ID" sz="1800" i="1" dirty="0" smtClean="0"/>
              <a:t>c</a:t>
            </a:r>
            <a:r>
              <a:rPr lang="id-ID" sz="1800" dirty="0" smtClean="0"/>
              <a:t>) disebut nilai 	</a:t>
            </a:r>
            <a:r>
              <a:rPr lang="en-US" sz="1800" dirty="0" smtClean="0"/>
              <a:t>           </a:t>
            </a:r>
            <a:r>
              <a:rPr lang="id-ID" sz="1800" dirty="0" smtClean="0"/>
              <a:t>lokal dari </a:t>
            </a:r>
            <a:r>
              <a:rPr lang="id-ID" sz="1800" i="1" dirty="0" smtClean="0"/>
              <a:t>f</a:t>
            </a:r>
            <a:r>
              <a:rPr lang="id-ID" sz="1800" dirty="0" smtClean="0"/>
              <a:t> pada I jika terdapat selang </a:t>
            </a:r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endParaRPr lang="id-ID" sz="1800" dirty="0" smtClean="0"/>
          </a:p>
          <a:p>
            <a:pPr algn="just" eaLnBrk="1" hangingPunct="1">
              <a:lnSpc>
                <a:spcPct val="80000"/>
              </a:lnSpc>
              <a:buFont typeface="Symbol" pitchFamily="18" charset="2"/>
              <a:buNone/>
            </a:pPr>
            <a:r>
              <a:rPr lang="id-ID" sz="1800" dirty="0" smtClean="0"/>
              <a:t>	buka yang memuat </a:t>
            </a:r>
            <a:r>
              <a:rPr lang="id-ID" sz="1800" i="1" dirty="0" smtClean="0"/>
              <a:t>c</a:t>
            </a:r>
            <a:r>
              <a:rPr lang="id-ID" sz="1800" dirty="0" smtClean="0"/>
              <a:t> sehingga </a:t>
            </a:r>
            <a:r>
              <a:rPr lang="en-US" sz="1800" dirty="0" smtClean="0"/>
              <a:t>                     </a:t>
            </a:r>
            <a:r>
              <a:rPr lang="id-ID" sz="1800" dirty="0" smtClean="0"/>
              <a:t>untuk setiap </a:t>
            </a:r>
            <a:r>
              <a:rPr lang="id-ID" sz="1800" i="1" dirty="0" smtClean="0"/>
              <a:t>x </a:t>
            </a:r>
            <a:r>
              <a:rPr lang="id-ID" sz="1800" dirty="0" smtClean="0"/>
              <a:t>pada</a:t>
            </a:r>
          </a:p>
          <a:p>
            <a:pPr algn="just" eaLnBrk="1" hangingPunct="1">
              <a:lnSpc>
                <a:spcPct val="80000"/>
              </a:lnSpc>
              <a:buFont typeface="Symbol" pitchFamily="18" charset="2"/>
              <a:buNone/>
            </a:pPr>
            <a:endParaRPr lang="id-ID" sz="1800" dirty="0" smtClean="0"/>
          </a:p>
          <a:p>
            <a:pPr algn="just" eaLnBrk="1" hangingPunct="1">
              <a:lnSpc>
                <a:spcPct val="80000"/>
              </a:lnSpc>
              <a:buFont typeface="Symbol" pitchFamily="18" charset="2"/>
              <a:buNone/>
            </a:pPr>
            <a:r>
              <a:rPr lang="id-ID" sz="1800" dirty="0" smtClean="0"/>
              <a:t>   selang buka tadi.</a:t>
            </a:r>
            <a:r>
              <a:rPr lang="en-US" sz="1800" dirty="0" smtClean="0"/>
              <a:t> </a:t>
            </a:r>
            <a:r>
              <a:rPr lang="id-ID" sz="1800" dirty="0" smtClean="0"/>
              <a:t>Nilai maksimum dan minimum fu</a:t>
            </a:r>
            <a:r>
              <a:rPr lang="en-US" sz="1800" dirty="0" smtClean="0"/>
              <a:t>n</a:t>
            </a:r>
            <a:r>
              <a:rPr lang="id-ID" sz="1800" dirty="0" smtClean="0"/>
              <a:t>gsi disebut juga nilai</a:t>
            </a:r>
            <a:r>
              <a:rPr lang="en-US" sz="1800" dirty="0" smtClean="0"/>
              <a:t> </a:t>
            </a:r>
            <a:r>
              <a:rPr lang="id-ID" sz="1800" dirty="0" smtClean="0"/>
              <a:t>ekstrim</a:t>
            </a:r>
          </a:p>
          <a:p>
            <a:pPr eaLnBrk="1" hangingPunct="1">
              <a:lnSpc>
                <a:spcPct val="80000"/>
              </a:lnSpc>
            </a:pPr>
            <a:endParaRPr lang="id-ID" sz="1800" dirty="0" smtClean="0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4479638" y="39491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1274" name="Rectangle 11"/>
          <p:cNvSpPr>
            <a:spLocks noChangeArrowheads="1"/>
          </p:cNvSpPr>
          <p:nvPr/>
        </p:nvSpPr>
        <p:spPr bwMode="auto">
          <a:xfrm>
            <a:off x="4479638" y="36824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75749692"/>
              </p:ext>
            </p:extLst>
          </p:nvPr>
        </p:nvGraphicFramePr>
        <p:xfrm>
          <a:off x="2337082" y="2343818"/>
          <a:ext cx="1152128" cy="597490"/>
        </p:xfrm>
        <a:graphic>
          <a:graphicData uri="http://schemas.openxmlformats.org/presentationml/2006/ole">
            <p:oleObj spid="_x0000_s12370" name="Equation" r:id="rId4" imgW="748975" imgH="393529" progId="Equation.3">
              <p:embed/>
            </p:oleObj>
          </a:graphicData>
        </a:graphic>
      </p:graphicFrame>
      <p:sp>
        <p:nvSpPr>
          <p:cNvPr id="11275" name="Rectangle 12"/>
          <p:cNvSpPr>
            <a:spLocks noChangeArrowheads="1"/>
          </p:cNvSpPr>
          <p:nvPr/>
        </p:nvSpPr>
        <p:spPr bwMode="auto">
          <a:xfrm>
            <a:off x="4479638" y="40730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1276" name="Rectangle 14"/>
          <p:cNvSpPr>
            <a:spLocks noChangeArrowheads="1"/>
          </p:cNvSpPr>
          <p:nvPr/>
        </p:nvSpPr>
        <p:spPr bwMode="auto">
          <a:xfrm>
            <a:off x="4479638" y="36634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8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38113484"/>
              </p:ext>
            </p:extLst>
          </p:nvPr>
        </p:nvGraphicFramePr>
        <p:xfrm>
          <a:off x="6172201" y="2351972"/>
          <a:ext cx="1904999" cy="635439"/>
        </p:xfrm>
        <a:graphic>
          <a:graphicData uri="http://schemas.openxmlformats.org/presentationml/2006/ole">
            <p:oleObj spid="_x0000_s12371" name="Equation" r:id="rId5" imgW="1282700" imgH="431800" progId="Equation.3">
              <p:embed/>
            </p:oleObj>
          </a:graphicData>
        </a:graphic>
      </p:graphicFrame>
      <p:sp>
        <p:nvSpPr>
          <p:cNvPr id="11277" name="Rectangle 15"/>
          <p:cNvSpPr>
            <a:spLocks noChangeArrowheads="1"/>
          </p:cNvSpPr>
          <p:nvPr/>
        </p:nvSpPr>
        <p:spPr bwMode="auto">
          <a:xfrm>
            <a:off x="4479638" y="40920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1278" name="Rectangle 18"/>
          <p:cNvSpPr>
            <a:spLocks noChangeArrowheads="1"/>
          </p:cNvSpPr>
          <p:nvPr/>
        </p:nvSpPr>
        <p:spPr bwMode="auto">
          <a:xfrm>
            <a:off x="4479638" y="40730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1279" name="Rectangle 20"/>
          <p:cNvSpPr>
            <a:spLocks noChangeArrowheads="1"/>
          </p:cNvSpPr>
          <p:nvPr/>
        </p:nvSpPr>
        <p:spPr bwMode="auto">
          <a:xfrm>
            <a:off x="4479638" y="36634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70938583"/>
              </p:ext>
            </p:extLst>
          </p:nvPr>
        </p:nvGraphicFramePr>
        <p:xfrm>
          <a:off x="4237220" y="4062412"/>
          <a:ext cx="1249180" cy="648209"/>
        </p:xfrm>
        <a:graphic>
          <a:graphicData uri="http://schemas.openxmlformats.org/presentationml/2006/ole">
            <p:oleObj spid="_x0000_s12372" name="Equation" r:id="rId6" imgW="800100" imgH="419100" progId="Equation.3">
              <p:embed/>
            </p:oleObj>
          </a:graphicData>
        </a:graphic>
      </p:graphicFrame>
      <p:sp>
        <p:nvSpPr>
          <p:cNvPr id="11280" name="Rectangle 21"/>
          <p:cNvSpPr>
            <a:spLocks noChangeArrowheads="1"/>
          </p:cNvSpPr>
          <p:nvPr/>
        </p:nvSpPr>
        <p:spPr bwMode="auto">
          <a:xfrm>
            <a:off x="4479638" y="40920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583222" y="5517232"/>
            <a:ext cx="66934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id-ID" sz="2400" dirty="0"/>
              <a:t>Titik pada daerah definisi dimana kemungkinan </a:t>
            </a:r>
            <a:endParaRPr lang="en-US" sz="2400" dirty="0" smtClean="0"/>
          </a:p>
          <a:p>
            <a:pPr algn="l"/>
            <a:r>
              <a:rPr lang="id-ID" sz="2400" dirty="0" smtClean="0"/>
              <a:t>terjadinya ekstrim</a:t>
            </a:r>
            <a:r>
              <a:rPr lang="en-US" sz="2400" dirty="0" smtClean="0"/>
              <a:t> </a:t>
            </a:r>
            <a:r>
              <a:rPr lang="id-ID" sz="2400" dirty="0" smtClean="0"/>
              <a:t>fungsi </a:t>
            </a:r>
            <a:r>
              <a:rPr lang="id-ID" sz="2400" dirty="0"/>
              <a:t>disebut </a:t>
            </a:r>
            <a:r>
              <a:rPr lang="id-ID" sz="2400" b="1" dirty="0"/>
              <a:t>titik kritis</a:t>
            </a:r>
            <a:r>
              <a:rPr lang="id-ID" sz="2400" dirty="0"/>
              <a:t>. </a:t>
            </a:r>
          </a:p>
          <a:p>
            <a:pPr algn="l"/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7216919"/>
              </p:ext>
            </p:extLst>
          </p:nvPr>
        </p:nvGraphicFramePr>
        <p:xfrm>
          <a:off x="2553106" y="3434282"/>
          <a:ext cx="1152525" cy="596900"/>
        </p:xfrm>
        <a:graphic>
          <a:graphicData uri="http://schemas.openxmlformats.org/presentationml/2006/ole">
            <p:oleObj spid="_x0000_s12373" name="Equation" r:id="rId7" imgW="748975" imgH="393529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20750835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Diagonal Corner Rectangle 2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nip Diagonal Corner Rectangle 2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7898FB9F-6153-4B29-8A9E-5DEDC6D87DB8}" type="slidenum">
              <a:rPr lang="en-US" sz="1200" smtClean="0">
                <a:latin typeface="Arial Black" pitchFamily="34" charset="0"/>
              </a:rPr>
              <a:pPr algn="r" eaLnBrk="1" hangingPunct="1"/>
              <a:t>16</a:t>
            </a:fld>
            <a:endParaRPr lang="en-US" sz="1200" smtClean="0">
              <a:latin typeface="Arial Black" pitchFamily="34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51343" y="1221077"/>
            <a:ext cx="6579577" cy="4249738"/>
            <a:chOff x="308" y="572"/>
            <a:chExt cx="4490" cy="2677"/>
          </a:xfrm>
        </p:grpSpPr>
        <p:sp>
          <p:nvSpPr>
            <p:cNvPr id="46107" name="Line 4"/>
            <p:cNvSpPr>
              <a:spLocks noChangeShapeType="1"/>
            </p:cNvSpPr>
            <p:nvPr/>
          </p:nvSpPr>
          <p:spPr bwMode="auto">
            <a:xfrm>
              <a:off x="1124" y="572"/>
              <a:ext cx="0" cy="26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8" name="Line 5"/>
            <p:cNvSpPr>
              <a:spLocks noChangeShapeType="1"/>
            </p:cNvSpPr>
            <p:nvPr/>
          </p:nvSpPr>
          <p:spPr bwMode="auto">
            <a:xfrm>
              <a:off x="308" y="2704"/>
              <a:ext cx="44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9798" name="Freeform 6"/>
          <p:cNvSpPr>
            <a:spLocks/>
          </p:cNvSpPr>
          <p:nvPr/>
        </p:nvSpPr>
        <p:spPr bwMode="auto">
          <a:xfrm>
            <a:off x="2378320" y="2552990"/>
            <a:ext cx="3389434" cy="1225550"/>
          </a:xfrm>
          <a:custGeom>
            <a:avLst/>
            <a:gdLst>
              <a:gd name="T0" fmla="*/ 0 w 2313"/>
              <a:gd name="T1" fmla="*/ 2147483647 h 772"/>
              <a:gd name="T2" fmla="*/ 2147483647 w 2313"/>
              <a:gd name="T3" fmla="*/ 2147483647 h 772"/>
              <a:gd name="T4" fmla="*/ 2147483647 w 2313"/>
              <a:gd name="T5" fmla="*/ 2147483647 h 772"/>
              <a:gd name="T6" fmla="*/ 2147483647 w 2313"/>
              <a:gd name="T7" fmla="*/ 2147483647 h 772"/>
              <a:gd name="T8" fmla="*/ 2147483647 w 2313"/>
              <a:gd name="T9" fmla="*/ 2147483647 h 7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13"/>
              <a:gd name="T16" fmla="*/ 0 h 772"/>
              <a:gd name="T17" fmla="*/ 2313 w 2313"/>
              <a:gd name="T18" fmla="*/ 772 h 7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13" h="772">
                <a:moveTo>
                  <a:pt x="0" y="250"/>
                </a:moveTo>
                <a:cubicBezTo>
                  <a:pt x="95" y="428"/>
                  <a:pt x="190" y="606"/>
                  <a:pt x="318" y="568"/>
                </a:cubicBezTo>
                <a:cubicBezTo>
                  <a:pt x="446" y="530"/>
                  <a:pt x="537" y="0"/>
                  <a:pt x="771" y="23"/>
                </a:cubicBezTo>
                <a:cubicBezTo>
                  <a:pt x="1005" y="46"/>
                  <a:pt x="1467" y="636"/>
                  <a:pt x="1724" y="704"/>
                </a:cubicBezTo>
                <a:cubicBezTo>
                  <a:pt x="1981" y="772"/>
                  <a:pt x="2215" y="484"/>
                  <a:pt x="2313" y="4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0" name="Freeform 8"/>
          <p:cNvSpPr>
            <a:spLocks/>
          </p:cNvSpPr>
          <p:nvPr/>
        </p:nvSpPr>
        <p:spPr bwMode="auto">
          <a:xfrm>
            <a:off x="5767754" y="3237211"/>
            <a:ext cx="863112" cy="360363"/>
          </a:xfrm>
          <a:custGeom>
            <a:avLst/>
            <a:gdLst>
              <a:gd name="T0" fmla="*/ 0 w 589"/>
              <a:gd name="T1" fmla="*/ 0 h 227"/>
              <a:gd name="T2" fmla="*/ 2147483647 w 589"/>
              <a:gd name="T3" fmla="*/ 2147483647 h 227"/>
              <a:gd name="T4" fmla="*/ 2147483647 w 589"/>
              <a:gd name="T5" fmla="*/ 2147483647 h 227"/>
              <a:gd name="T6" fmla="*/ 0 60000 65536"/>
              <a:gd name="T7" fmla="*/ 0 60000 65536"/>
              <a:gd name="T8" fmla="*/ 0 60000 65536"/>
              <a:gd name="T9" fmla="*/ 0 w 589"/>
              <a:gd name="T10" fmla="*/ 0 h 227"/>
              <a:gd name="T11" fmla="*/ 589 w 589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9" h="227">
                <a:moveTo>
                  <a:pt x="0" y="0"/>
                </a:moveTo>
                <a:cubicBezTo>
                  <a:pt x="19" y="49"/>
                  <a:pt x="38" y="98"/>
                  <a:pt x="136" y="136"/>
                </a:cubicBezTo>
                <a:cubicBezTo>
                  <a:pt x="234" y="174"/>
                  <a:pt x="411" y="200"/>
                  <a:pt x="589" y="22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1" name="Line 9"/>
          <p:cNvSpPr>
            <a:spLocks noChangeShapeType="1"/>
          </p:cNvSpPr>
          <p:nvPr/>
        </p:nvSpPr>
        <p:spPr bwMode="auto">
          <a:xfrm>
            <a:off x="2378320" y="2949865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2" name="Line 10"/>
          <p:cNvSpPr>
            <a:spLocks noChangeShapeType="1"/>
          </p:cNvSpPr>
          <p:nvPr/>
        </p:nvSpPr>
        <p:spPr bwMode="auto">
          <a:xfrm>
            <a:off x="2776904" y="3454690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3" name="Line 11"/>
          <p:cNvSpPr>
            <a:spLocks noChangeShapeType="1"/>
          </p:cNvSpPr>
          <p:nvPr/>
        </p:nvSpPr>
        <p:spPr bwMode="auto">
          <a:xfrm>
            <a:off x="3471497" y="2589511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4" name="Line 12"/>
          <p:cNvSpPr>
            <a:spLocks noChangeShapeType="1"/>
          </p:cNvSpPr>
          <p:nvPr/>
        </p:nvSpPr>
        <p:spPr bwMode="auto">
          <a:xfrm>
            <a:off x="5037992" y="3742027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5" name="Line 13"/>
          <p:cNvSpPr>
            <a:spLocks noChangeShapeType="1"/>
          </p:cNvSpPr>
          <p:nvPr/>
        </p:nvSpPr>
        <p:spPr bwMode="auto">
          <a:xfrm>
            <a:off x="5767754" y="3237210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6" name="Line 14"/>
          <p:cNvSpPr>
            <a:spLocks noChangeShapeType="1"/>
          </p:cNvSpPr>
          <p:nvPr/>
        </p:nvSpPr>
        <p:spPr bwMode="auto">
          <a:xfrm>
            <a:off x="6632331" y="3597565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808" name="Text Box 16"/>
          <p:cNvSpPr txBox="1">
            <a:spLocks noChangeArrowheads="1"/>
          </p:cNvSpPr>
          <p:nvPr/>
        </p:nvSpPr>
        <p:spPr bwMode="auto">
          <a:xfrm>
            <a:off x="1960685" y="3165766"/>
            <a:ext cx="7056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Max</a:t>
            </a:r>
          </a:p>
          <a:p>
            <a:pPr algn="l"/>
            <a:r>
              <a:rPr lang="en-US"/>
              <a:t>lokal</a:t>
            </a:r>
          </a:p>
        </p:txBody>
      </p:sp>
      <p:sp>
        <p:nvSpPr>
          <p:cNvPr id="289809" name="Text Box 17"/>
          <p:cNvSpPr txBox="1">
            <a:spLocks noChangeArrowheads="1"/>
          </p:cNvSpPr>
          <p:nvPr/>
        </p:nvSpPr>
        <p:spPr bwMode="auto">
          <a:xfrm>
            <a:off x="2625969" y="3730916"/>
            <a:ext cx="7056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Min</a:t>
            </a:r>
          </a:p>
          <a:p>
            <a:pPr algn="l"/>
            <a:r>
              <a:rPr lang="en-US"/>
              <a:t>lokal</a:t>
            </a:r>
          </a:p>
        </p:txBody>
      </p:sp>
      <p:sp>
        <p:nvSpPr>
          <p:cNvPr id="289810" name="Text Box 18"/>
          <p:cNvSpPr txBox="1">
            <a:spLocks noChangeArrowheads="1"/>
          </p:cNvSpPr>
          <p:nvPr/>
        </p:nvSpPr>
        <p:spPr bwMode="auto">
          <a:xfrm>
            <a:off x="3223850" y="3083216"/>
            <a:ext cx="8595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Max</a:t>
            </a:r>
          </a:p>
          <a:p>
            <a:pPr algn="l"/>
            <a:r>
              <a:rPr lang="en-US"/>
              <a:t>global</a:t>
            </a:r>
          </a:p>
        </p:txBody>
      </p:sp>
      <p:sp>
        <p:nvSpPr>
          <p:cNvPr id="289811" name="Text Box 19"/>
          <p:cNvSpPr txBox="1">
            <a:spLocks noChangeArrowheads="1"/>
          </p:cNvSpPr>
          <p:nvPr/>
        </p:nvSpPr>
        <p:spPr bwMode="auto">
          <a:xfrm>
            <a:off x="4752247" y="3237203"/>
            <a:ext cx="8595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Min</a:t>
            </a:r>
          </a:p>
          <a:p>
            <a:pPr algn="l"/>
            <a:r>
              <a:rPr lang="en-US"/>
              <a:t>global</a:t>
            </a:r>
          </a:p>
        </p:txBody>
      </p:sp>
      <p:sp>
        <p:nvSpPr>
          <p:cNvPr id="289812" name="Text Box 20"/>
          <p:cNvSpPr txBox="1">
            <a:spLocks noChangeArrowheads="1"/>
          </p:cNvSpPr>
          <p:nvPr/>
        </p:nvSpPr>
        <p:spPr bwMode="auto">
          <a:xfrm>
            <a:off x="5550877" y="3588040"/>
            <a:ext cx="7056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Max</a:t>
            </a:r>
          </a:p>
          <a:p>
            <a:pPr algn="l"/>
            <a:r>
              <a:rPr lang="en-US"/>
              <a:t>lokal</a:t>
            </a:r>
          </a:p>
        </p:txBody>
      </p:sp>
      <p:sp>
        <p:nvSpPr>
          <p:cNvPr id="289813" name="Text Box 21"/>
          <p:cNvSpPr txBox="1">
            <a:spLocks noChangeArrowheads="1"/>
          </p:cNvSpPr>
          <p:nvPr/>
        </p:nvSpPr>
        <p:spPr bwMode="auto">
          <a:xfrm>
            <a:off x="6413989" y="3588040"/>
            <a:ext cx="7056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Min</a:t>
            </a:r>
          </a:p>
          <a:p>
            <a:pPr algn="l"/>
            <a:r>
              <a:rPr lang="en-US"/>
              <a:t>lokal</a:t>
            </a:r>
          </a:p>
        </p:txBody>
      </p:sp>
      <p:sp>
        <p:nvSpPr>
          <p:cNvPr id="289814" name="Text Box 22"/>
          <p:cNvSpPr txBox="1">
            <a:spLocks noChangeArrowheads="1"/>
          </p:cNvSpPr>
          <p:nvPr/>
        </p:nvSpPr>
        <p:spPr bwMode="auto">
          <a:xfrm>
            <a:off x="2227385" y="4523078"/>
            <a:ext cx="3193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a</a:t>
            </a:r>
          </a:p>
        </p:txBody>
      </p:sp>
      <p:sp>
        <p:nvSpPr>
          <p:cNvPr id="289815" name="Text Box 23"/>
          <p:cNvSpPr txBox="1">
            <a:spLocks noChangeArrowheads="1"/>
          </p:cNvSpPr>
          <p:nvPr/>
        </p:nvSpPr>
        <p:spPr bwMode="auto">
          <a:xfrm>
            <a:off x="2691912" y="4523078"/>
            <a:ext cx="3257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b</a:t>
            </a:r>
          </a:p>
        </p:txBody>
      </p:sp>
      <p:sp>
        <p:nvSpPr>
          <p:cNvPr id="289816" name="Text Box 24"/>
          <p:cNvSpPr txBox="1">
            <a:spLocks noChangeArrowheads="1"/>
          </p:cNvSpPr>
          <p:nvPr/>
        </p:nvSpPr>
        <p:spPr bwMode="auto">
          <a:xfrm>
            <a:off x="3357197" y="4523078"/>
            <a:ext cx="303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</a:t>
            </a:r>
          </a:p>
        </p:txBody>
      </p:sp>
      <p:sp>
        <p:nvSpPr>
          <p:cNvPr id="289817" name="Text Box 25"/>
          <p:cNvSpPr txBox="1">
            <a:spLocks noChangeArrowheads="1"/>
          </p:cNvSpPr>
          <p:nvPr/>
        </p:nvSpPr>
        <p:spPr bwMode="auto">
          <a:xfrm>
            <a:off x="4866543" y="4534191"/>
            <a:ext cx="3257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</a:t>
            </a:r>
          </a:p>
        </p:txBody>
      </p:sp>
      <p:sp>
        <p:nvSpPr>
          <p:cNvPr id="289818" name="Text Box 26"/>
          <p:cNvSpPr txBox="1">
            <a:spLocks noChangeArrowheads="1"/>
          </p:cNvSpPr>
          <p:nvPr/>
        </p:nvSpPr>
        <p:spPr bwMode="auto">
          <a:xfrm>
            <a:off x="5635869" y="4523078"/>
            <a:ext cx="3193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e</a:t>
            </a:r>
          </a:p>
        </p:txBody>
      </p:sp>
      <p:sp>
        <p:nvSpPr>
          <p:cNvPr id="289819" name="Text Box 27"/>
          <p:cNvSpPr txBox="1">
            <a:spLocks noChangeArrowheads="1"/>
          </p:cNvSpPr>
          <p:nvPr/>
        </p:nvSpPr>
        <p:spPr bwMode="auto">
          <a:xfrm>
            <a:off x="6481397" y="4523078"/>
            <a:ext cx="266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</a:t>
            </a:r>
          </a:p>
        </p:txBody>
      </p:sp>
      <p:sp>
        <p:nvSpPr>
          <p:cNvPr id="289820" name="Text Box 28"/>
          <p:cNvSpPr txBox="1">
            <a:spLocks noChangeArrowheads="1"/>
          </p:cNvSpPr>
          <p:nvPr/>
        </p:nvSpPr>
        <p:spPr bwMode="auto">
          <a:xfrm>
            <a:off x="1828804" y="5481935"/>
            <a:ext cx="55381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Nilai ekstrim fungsi pada selang I=[a,f]</a:t>
            </a:r>
          </a:p>
        </p:txBody>
      </p:sp>
    </p:spTree>
    <p:extLst>
      <p:ext uri="{BB962C8B-B14F-4D97-AF65-F5344CB8AC3E}">
        <p14:creationId xmlns:p14="http://schemas.microsoft.com/office/powerpoint/2010/main" xmlns="" val="3854588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20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8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8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28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8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8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8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8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8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8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8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8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28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8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28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28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28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8" grpId="0" animBg="1"/>
      <p:bldP spid="289800" grpId="0" animBg="1"/>
      <p:bldP spid="289800" grpId="1" animBg="1"/>
      <p:bldP spid="289801" grpId="0" animBg="1"/>
      <p:bldP spid="289802" grpId="0" animBg="1"/>
      <p:bldP spid="289803" grpId="0" animBg="1"/>
      <p:bldP spid="289804" grpId="0" animBg="1"/>
      <p:bldP spid="289805" grpId="0" animBg="1"/>
      <p:bldP spid="289806" grpId="0" animBg="1"/>
      <p:bldP spid="289808" grpId="0"/>
      <p:bldP spid="289809" grpId="0"/>
      <p:bldP spid="289810" grpId="0"/>
      <p:bldP spid="289811" grpId="0"/>
      <p:bldP spid="289812" grpId="0"/>
      <p:bldP spid="289813" grpId="0"/>
      <p:bldP spid="289814" grpId="0"/>
      <p:bldP spid="289815" grpId="0"/>
      <p:bldP spid="289816" grpId="0"/>
      <p:bldP spid="289817" grpId="0"/>
      <p:bldP spid="289818" grpId="0"/>
      <p:bldP spid="289819" grpId="0"/>
      <p:bldP spid="2898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nip Diagonal Corner Rectangle 1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nip Diagonal Corner Rectangle 1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122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EE74FB33-B293-4A4A-8B2A-E668EA6E7297}" type="slidenum">
              <a:rPr lang="en-US" sz="1200" smtClean="0">
                <a:latin typeface="Arial Black" pitchFamily="34" charset="0"/>
              </a:rPr>
              <a:pPr algn="r" eaLnBrk="1" hangingPunct="1"/>
              <a:t>17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36663"/>
            <a:ext cx="7696200" cy="5545137"/>
          </a:xfrm>
        </p:spPr>
        <p:txBody>
          <a:bodyPr/>
          <a:lstStyle/>
          <a:p>
            <a:pPr eaLnBrk="1" hangingPunct="1"/>
            <a:r>
              <a:rPr lang="id-ID" sz="2800" dirty="0" smtClean="0"/>
              <a:t>Ada tiga jenis titik kritis :</a:t>
            </a:r>
          </a:p>
          <a:p>
            <a:pPr eaLnBrk="1" hangingPunct="1"/>
            <a:endParaRPr lang="id-ID" sz="2800" dirty="0" smtClean="0"/>
          </a:p>
          <a:p>
            <a:pPr lvl="1" eaLnBrk="1" hangingPunct="1"/>
            <a:r>
              <a:rPr lang="id-ID" u="sng" dirty="0" smtClean="0"/>
              <a:t>Titik ujung selang I</a:t>
            </a:r>
          </a:p>
          <a:p>
            <a:pPr lvl="1" eaLnBrk="1" hangingPunct="1"/>
            <a:endParaRPr lang="id-ID" dirty="0" smtClean="0"/>
          </a:p>
          <a:p>
            <a:pPr lvl="1" eaLnBrk="1" hangingPunct="1"/>
            <a:r>
              <a:rPr lang="id-ID" u="sng" dirty="0" smtClean="0"/>
              <a:t>Titik stasioner</a:t>
            </a:r>
            <a:r>
              <a:rPr lang="id-ID" dirty="0" smtClean="0"/>
              <a:t> ( yaitu </a:t>
            </a:r>
            <a:r>
              <a:rPr lang="id-ID" i="1" dirty="0" smtClean="0"/>
              <a:t>x</a:t>
            </a:r>
            <a:r>
              <a:rPr lang="id-ID" dirty="0" smtClean="0"/>
              <a:t> =</a:t>
            </a:r>
            <a:r>
              <a:rPr lang="id-ID" i="1" dirty="0" smtClean="0"/>
              <a:t> c</a:t>
            </a:r>
            <a:r>
              <a:rPr lang="id-ID" dirty="0" smtClean="0"/>
              <a:t> dimana               ) ,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id-ID" dirty="0" smtClean="0"/>
              <a:t>   secara geometris : garis singgung mendatar dititik (</a:t>
            </a:r>
            <a:r>
              <a:rPr lang="id-ID" i="1" dirty="0" smtClean="0"/>
              <a:t>c</a:t>
            </a:r>
            <a:r>
              <a:rPr lang="id-ID" dirty="0" smtClean="0"/>
              <a:t>,</a:t>
            </a:r>
            <a:r>
              <a:rPr lang="id-ID" i="1" dirty="0" smtClean="0"/>
              <a:t>f</a:t>
            </a:r>
            <a:r>
              <a:rPr lang="id-ID" dirty="0" smtClean="0"/>
              <a:t>(</a:t>
            </a:r>
            <a:r>
              <a:rPr lang="id-ID" i="1" dirty="0" smtClean="0"/>
              <a:t>c</a:t>
            </a:r>
            <a:r>
              <a:rPr lang="id-ID" dirty="0" smtClean="0"/>
              <a:t>))</a:t>
            </a:r>
          </a:p>
          <a:p>
            <a:pPr lvl="1" eaLnBrk="1" hangingPunct="1"/>
            <a:endParaRPr lang="id-ID" dirty="0" smtClean="0"/>
          </a:p>
          <a:p>
            <a:pPr lvl="1" eaLnBrk="1" hangingPunct="1"/>
            <a:r>
              <a:rPr lang="id-ID" u="sng" dirty="0" smtClean="0"/>
              <a:t>Titik singulir</a:t>
            </a:r>
            <a:r>
              <a:rPr lang="id-ID" dirty="0" smtClean="0"/>
              <a:t> ( </a:t>
            </a:r>
            <a:r>
              <a:rPr lang="id-ID" i="1" dirty="0" smtClean="0"/>
              <a:t>x</a:t>
            </a:r>
            <a:r>
              <a:rPr lang="id-ID" dirty="0" smtClean="0"/>
              <a:t> = </a:t>
            </a:r>
            <a:r>
              <a:rPr lang="id-ID" i="1" dirty="0" smtClean="0"/>
              <a:t>c</a:t>
            </a:r>
            <a:r>
              <a:rPr lang="id-ID" dirty="0" smtClean="0"/>
              <a:t> dimana           tidak ada ), secara geometris: terjadi patahan pada grafik f di titik (</a:t>
            </a:r>
            <a:r>
              <a:rPr lang="id-ID" i="1" dirty="0" smtClean="0"/>
              <a:t>c,f</a:t>
            </a:r>
            <a:r>
              <a:rPr lang="id-ID" dirty="0" smtClean="0"/>
              <a:t>(</a:t>
            </a:r>
            <a:r>
              <a:rPr lang="id-ID" i="1" dirty="0" smtClean="0"/>
              <a:t>c</a:t>
            </a:r>
            <a:r>
              <a:rPr lang="id-ID" dirty="0" smtClean="0"/>
              <a:t>))</a:t>
            </a:r>
          </a:p>
          <a:p>
            <a:pPr lvl="1" eaLnBrk="1" hangingPunct="1"/>
            <a:endParaRPr lang="id-ID" dirty="0" smtClean="0"/>
          </a:p>
          <a:p>
            <a:pPr algn="just" eaLnBrk="1" hangingPunct="1">
              <a:buFont typeface="Symbol" pitchFamily="18" charset="2"/>
              <a:buNone/>
            </a:pPr>
            <a:endParaRPr lang="id-ID" sz="2800" dirty="0" smtClean="0"/>
          </a:p>
          <a:p>
            <a:pPr eaLnBrk="1" hangingPunct="1"/>
            <a:endParaRPr lang="id-ID" sz="3600" dirty="0" smtClean="0"/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4479638" y="34935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2296" name="Rectangle 9"/>
          <p:cNvSpPr>
            <a:spLocks noChangeArrowheads="1"/>
          </p:cNvSpPr>
          <p:nvPr/>
        </p:nvSpPr>
        <p:spPr bwMode="auto">
          <a:xfrm>
            <a:off x="0" y="4105368"/>
            <a:ext cx="2696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0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2297" name="Rectangle 11"/>
          <p:cNvSpPr>
            <a:spLocks noChangeArrowheads="1"/>
          </p:cNvSpPr>
          <p:nvPr/>
        </p:nvSpPr>
        <p:spPr bwMode="auto">
          <a:xfrm>
            <a:off x="4479638" y="34935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2298" name="Rectangle 12"/>
          <p:cNvSpPr>
            <a:spLocks noChangeArrowheads="1"/>
          </p:cNvSpPr>
          <p:nvPr/>
        </p:nvSpPr>
        <p:spPr bwMode="auto">
          <a:xfrm>
            <a:off x="0" y="4105368"/>
            <a:ext cx="2696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0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2299" name="Rectangle 14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2300" name="Rectangle 15"/>
          <p:cNvSpPr>
            <a:spLocks noChangeArrowheads="1"/>
          </p:cNvSpPr>
          <p:nvPr/>
        </p:nvSpPr>
        <p:spPr bwMode="auto">
          <a:xfrm>
            <a:off x="0" y="1004986"/>
            <a:ext cx="2696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0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2301" name="Rectangle 17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798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31900736"/>
              </p:ext>
            </p:extLst>
          </p:nvPr>
        </p:nvGraphicFramePr>
        <p:xfrm>
          <a:off x="5580112" y="2892813"/>
          <a:ext cx="936104" cy="318658"/>
        </p:xfrm>
        <a:graphic>
          <a:graphicData uri="http://schemas.openxmlformats.org/presentationml/2006/ole">
            <p:oleObj spid="_x0000_s13352" name="Equation" r:id="rId4" imgW="634725" imgH="203112" progId="Equation.3">
              <p:embed/>
            </p:oleObj>
          </a:graphicData>
        </a:graphic>
      </p:graphicFrame>
      <p:sp>
        <p:nvSpPr>
          <p:cNvPr id="12302" name="Rectangle 18"/>
          <p:cNvSpPr>
            <a:spLocks noChangeArrowheads="1"/>
          </p:cNvSpPr>
          <p:nvPr/>
        </p:nvSpPr>
        <p:spPr bwMode="auto">
          <a:xfrm>
            <a:off x="0" y="1089368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5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2303" name="Rectangle 20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798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49424216"/>
              </p:ext>
            </p:extLst>
          </p:nvPr>
        </p:nvGraphicFramePr>
        <p:xfrm>
          <a:off x="4788024" y="4132647"/>
          <a:ext cx="560263" cy="307777"/>
        </p:xfrm>
        <a:graphic>
          <a:graphicData uri="http://schemas.openxmlformats.org/presentationml/2006/ole">
            <p:oleObj spid="_x0000_s13353" name="Equation" r:id="rId5" imgW="393529" imgH="203112" progId="Equation.3">
              <p:embed/>
            </p:oleObj>
          </a:graphicData>
        </a:graphic>
      </p:graphicFrame>
      <p:sp>
        <p:nvSpPr>
          <p:cNvPr id="12304" name="Rectangle 23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2305" name="Rectangle 25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3000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E694DD74-D6C3-478E-B7EC-E08354D89AC4}" type="slidenum">
              <a:rPr lang="en-US" sz="1200" smtClean="0">
                <a:latin typeface="Arial Black" pitchFamily="34" charset="0"/>
              </a:rPr>
              <a:pPr algn="r" eaLnBrk="1" hangingPunct="1"/>
              <a:t>18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400051" y="1165564"/>
            <a:ext cx="7907934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id-ID" sz="2400" b="1" dirty="0"/>
              <a:t>Teorema 5.3 : </a:t>
            </a:r>
            <a:r>
              <a:rPr lang="id-ID" sz="2400" dirty="0"/>
              <a:t>Uji turunan </a:t>
            </a:r>
            <a:r>
              <a:rPr lang="en-US" sz="2400" dirty="0" err="1"/>
              <a:t>pertama</a:t>
            </a:r>
            <a:r>
              <a:rPr lang="id-ID" sz="2400" dirty="0"/>
              <a:t> untuk ekstrim lokal</a:t>
            </a:r>
            <a:r>
              <a:rPr lang="id-ID" dirty="0"/>
              <a:t> </a:t>
            </a:r>
          </a:p>
          <a:p>
            <a:pPr algn="l"/>
            <a:endParaRPr lang="en-US" dirty="0"/>
          </a:p>
        </p:txBody>
      </p:sp>
      <p:sp>
        <p:nvSpPr>
          <p:cNvPr id="290821" name="Text Box 5"/>
          <p:cNvSpPr txBox="1">
            <a:spLocks noChangeArrowheads="1"/>
          </p:cNvSpPr>
          <p:nvPr/>
        </p:nvSpPr>
        <p:spPr bwMode="auto">
          <a:xfrm>
            <a:off x="764935" y="1878351"/>
            <a:ext cx="69442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Jika </a:t>
            </a:r>
          </a:p>
        </p:txBody>
      </p:sp>
      <p:graphicFrame>
        <p:nvGraphicFramePr>
          <p:cNvPr id="290822" name="Object 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314450" y="1691025"/>
          <a:ext cx="1131277" cy="800100"/>
        </p:xfrm>
        <a:graphic>
          <a:graphicData uri="http://schemas.openxmlformats.org/presentationml/2006/ole">
            <p:oleObj spid="_x0000_s14433" name="Equation" r:id="rId3" imgW="660113" imgH="431613" progId="Equation.3">
              <p:embed/>
            </p:oleObj>
          </a:graphicData>
        </a:graphic>
      </p:graphicFrame>
      <p:graphicFrame>
        <p:nvGraphicFramePr>
          <p:cNvPr id="290825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42901" y="1914872"/>
          <a:ext cx="1063869" cy="401637"/>
        </p:xfrm>
        <a:graphic>
          <a:graphicData uri="http://schemas.openxmlformats.org/presentationml/2006/ole">
            <p:oleObj spid="_x0000_s14434" name="Equation" r:id="rId4" imgW="583947" imgH="203112" progId="Equation.3">
              <p:embed/>
            </p:oleObj>
          </a:graphicData>
        </a:graphic>
      </p:graphicFrame>
      <p:graphicFrame>
        <p:nvGraphicFramePr>
          <p:cNvPr id="290829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69877" y="1771991"/>
          <a:ext cx="1128346" cy="814387"/>
        </p:xfrm>
        <a:graphic>
          <a:graphicData uri="http://schemas.openxmlformats.org/presentationml/2006/ole">
            <p:oleObj spid="_x0000_s14435" name="Equation" r:id="rId5" imgW="647700" imgH="431800" progId="Equation.3">
              <p:embed/>
            </p:oleObj>
          </a:graphicData>
        </a:graphic>
      </p:graphicFrame>
      <p:sp>
        <p:nvSpPr>
          <p:cNvPr id="290824" name="Text Box 8"/>
          <p:cNvSpPr txBox="1">
            <a:spLocks noChangeArrowheads="1"/>
          </p:cNvSpPr>
          <p:nvPr/>
        </p:nvSpPr>
        <p:spPr bwMode="auto">
          <a:xfrm>
            <a:off x="2492624" y="1843426"/>
            <a:ext cx="7360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pada</a:t>
            </a:r>
          </a:p>
        </p:txBody>
      </p:sp>
      <p:sp>
        <p:nvSpPr>
          <p:cNvPr id="290828" name="Text Box 12"/>
          <p:cNvSpPr txBox="1">
            <a:spLocks noChangeArrowheads="1"/>
          </p:cNvSpPr>
          <p:nvPr/>
        </p:nvSpPr>
        <p:spPr bwMode="auto">
          <a:xfrm>
            <a:off x="4506058" y="1878351"/>
            <a:ext cx="60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dan</a:t>
            </a:r>
          </a:p>
        </p:txBody>
      </p:sp>
      <p:sp>
        <p:nvSpPr>
          <p:cNvPr id="290832" name="Text Box 16"/>
          <p:cNvSpPr txBox="1">
            <a:spLocks noChangeArrowheads="1"/>
          </p:cNvSpPr>
          <p:nvPr/>
        </p:nvSpPr>
        <p:spPr bwMode="auto">
          <a:xfrm>
            <a:off x="6433042" y="1878351"/>
            <a:ext cx="7360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pada</a:t>
            </a:r>
          </a:p>
        </p:txBody>
      </p:sp>
      <p:graphicFrame>
        <p:nvGraphicFramePr>
          <p:cNvPr id="290833" name="Object 1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716578" y="2632413"/>
          <a:ext cx="1197219" cy="450850"/>
        </p:xfrm>
        <a:graphic>
          <a:graphicData uri="http://schemas.openxmlformats.org/presentationml/2006/ole">
            <p:oleObj spid="_x0000_s14436" name="Equation" r:id="rId6" imgW="583947" imgH="203112" progId="Equation.3">
              <p:embed/>
            </p:oleObj>
          </a:graphicData>
        </a:graphic>
      </p:graphicFrame>
      <p:sp>
        <p:nvSpPr>
          <p:cNvPr id="290836" name="Text Box 20"/>
          <p:cNvSpPr txBox="1">
            <a:spLocks noChangeArrowheads="1"/>
          </p:cNvSpPr>
          <p:nvPr/>
        </p:nvSpPr>
        <p:spPr bwMode="auto">
          <a:xfrm>
            <a:off x="1979736" y="2635589"/>
            <a:ext cx="31376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Maka f(c) merupakan nilai</a:t>
            </a:r>
          </a:p>
        </p:txBody>
      </p:sp>
      <p:graphicFrame>
        <p:nvGraphicFramePr>
          <p:cNvPr id="2908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09944085"/>
              </p:ext>
            </p:extLst>
          </p:nvPr>
        </p:nvGraphicFramePr>
        <p:xfrm>
          <a:off x="5107229" y="2635589"/>
          <a:ext cx="1074871" cy="557938"/>
        </p:xfrm>
        <a:graphic>
          <a:graphicData uri="http://schemas.openxmlformats.org/presentationml/2006/ole">
            <p:oleObj spid="_x0000_s14437" name="Equation" r:id="rId7" imgW="748975" imgH="393529" progId="Equation.3">
              <p:embed/>
            </p:oleObj>
          </a:graphicData>
        </a:graphic>
      </p:graphicFrame>
      <p:sp>
        <p:nvSpPr>
          <p:cNvPr id="290838" name="Text Box 22"/>
          <p:cNvSpPr txBox="1">
            <a:spLocks noChangeArrowheads="1"/>
          </p:cNvSpPr>
          <p:nvPr/>
        </p:nvSpPr>
        <p:spPr bwMode="auto">
          <a:xfrm>
            <a:off x="6252797" y="2635589"/>
            <a:ext cx="705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lokal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915866" y="3283288"/>
            <a:ext cx="2924908" cy="1873250"/>
            <a:chOff x="625" y="1933"/>
            <a:chExt cx="1996" cy="1180"/>
          </a:xfrm>
        </p:grpSpPr>
        <p:sp>
          <p:nvSpPr>
            <p:cNvPr id="13347" name="Line 23"/>
            <p:cNvSpPr>
              <a:spLocks noChangeShapeType="1"/>
            </p:cNvSpPr>
            <p:nvPr/>
          </p:nvSpPr>
          <p:spPr bwMode="auto">
            <a:xfrm>
              <a:off x="1351" y="1933"/>
              <a:ext cx="0" cy="1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Line 24"/>
            <p:cNvSpPr>
              <a:spLocks noChangeShapeType="1"/>
            </p:cNvSpPr>
            <p:nvPr/>
          </p:nvSpPr>
          <p:spPr bwMode="auto">
            <a:xfrm>
              <a:off x="625" y="2704"/>
              <a:ext cx="19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0843" name="Freeform 27"/>
          <p:cNvSpPr>
            <a:spLocks/>
          </p:cNvSpPr>
          <p:nvPr/>
        </p:nvSpPr>
        <p:spPr bwMode="auto">
          <a:xfrm>
            <a:off x="2179027" y="3464263"/>
            <a:ext cx="930519" cy="827087"/>
          </a:xfrm>
          <a:custGeom>
            <a:avLst/>
            <a:gdLst>
              <a:gd name="T0" fmla="*/ 0 w 635"/>
              <a:gd name="T1" fmla="*/ 2147483647 h 521"/>
              <a:gd name="T2" fmla="*/ 2147483647 w 635"/>
              <a:gd name="T3" fmla="*/ 2147483647 h 521"/>
              <a:gd name="T4" fmla="*/ 2147483647 w 635"/>
              <a:gd name="T5" fmla="*/ 2147483647 h 521"/>
              <a:gd name="T6" fmla="*/ 2147483647 w 635"/>
              <a:gd name="T7" fmla="*/ 2147483647 h 521"/>
              <a:gd name="T8" fmla="*/ 0 60000 65536"/>
              <a:gd name="T9" fmla="*/ 0 60000 65536"/>
              <a:gd name="T10" fmla="*/ 0 60000 65536"/>
              <a:gd name="T11" fmla="*/ 0 60000 65536"/>
              <a:gd name="T12" fmla="*/ 0 w 635"/>
              <a:gd name="T13" fmla="*/ 0 h 521"/>
              <a:gd name="T14" fmla="*/ 635 w 635"/>
              <a:gd name="T15" fmla="*/ 521 h 52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5" h="521">
                <a:moveTo>
                  <a:pt x="0" y="521"/>
                </a:moveTo>
                <a:cubicBezTo>
                  <a:pt x="79" y="354"/>
                  <a:pt x="159" y="188"/>
                  <a:pt x="227" y="113"/>
                </a:cubicBezTo>
                <a:cubicBezTo>
                  <a:pt x="295" y="38"/>
                  <a:pt x="340" y="0"/>
                  <a:pt x="408" y="68"/>
                </a:cubicBezTo>
                <a:cubicBezTo>
                  <a:pt x="476" y="136"/>
                  <a:pt x="555" y="328"/>
                  <a:pt x="635" y="52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844" name="Line 28"/>
          <p:cNvSpPr>
            <a:spLocks noChangeShapeType="1"/>
          </p:cNvSpPr>
          <p:nvPr/>
        </p:nvSpPr>
        <p:spPr bwMode="auto">
          <a:xfrm>
            <a:off x="2681654" y="3499188"/>
            <a:ext cx="29308" cy="10080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845" name="Text Box 29"/>
          <p:cNvSpPr txBox="1">
            <a:spLocks noChangeArrowheads="1"/>
          </p:cNvSpPr>
          <p:nvPr/>
        </p:nvSpPr>
        <p:spPr bwMode="auto">
          <a:xfrm>
            <a:off x="2577613" y="4380250"/>
            <a:ext cx="303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</a:t>
            </a:r>
          </a:p>
        </p:txBody>
      </p:sp>
      <p:sp>
        <p:nvSpPr>
          <p:cNvPr id="290846" name="Text Box 30"/>
          <p:cNvSpPr txBox="1">
            <a:spLocks noChangeArrowheads="1"/>
          </p:cNvSpPr>
          <p:nvPr/>
        </p:nvSpPr>
        <p:spPr bwMode="auto">
          <a:xfrm>
            <a:off x="898282" y="5461337"/>
            <a:ext cx="352853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Disebelah kiri c monoton naik</a:t>
            </a:r>
          </a:p>
          <a:p>
            <a:pPr algn="l"/>
            <a:r>
              <a:rPr lang="en-US"/>
              <a:t>(f ’&gt;0) dan disebelah kanan c</a:t>
            </a:r>
          </a:p>
          <a:p>
            <a:pPr algn="l"/>
            <a:r>
              <a:rPr lang="en-US"/>
              <a:t>monoton turun (f’&lt;0)</a:t>
            </a:r>
          </a:p>
        </p:txBody>
      </p:sp>
      <p:sp>
        <p:nvSpPr>
          <p:cNvPr id="290847" name="Text Box 31"/>
          <p:cNvSpPr txBox="1">
            <a:spLocks noChangeArrowheads="1"/>
          </p:cNvSpPr>
          <p:nvPr/>
        </p:nvSpPr>
        <p:spPr bwMode="auto">
          <a:xfrm>
            <a:off x="1428749" y="5145426"/>
            <a:ext cx="23890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f(c) nilai maks lokal</a:t>
            </a:r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303230" y="3283295"/>
            <a:ext cx="2658208" cy="1800225"/>
            <a:chOff x="3619" y="1797"/>
            <a:chExt cx="1814" cy="1134"/>
          </a:xfrm>
        </p:grpSpPr>
        <p:sp>
          <p:nvSpPr>
            <p:cNvPr id="13345" name="Line 32"/>
            <p:cNvSpPr>
              <a:spLocks noChangeShapeType="1"/>
            </p:cNvSpPr>
            <p:nvPr/>
          </p:nvSpPr>
          <p:spPr bwMode="auto">
            <a:xfrm>
              <a:off x="4254" y="1797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33"/>
            <p:cNvSpPr>
              <a:spLocks noChangeShapeType="1"/>
            </p:cNvSpPr>
            <p:nvPr/>
          </p:nvSpPr>
          <p:spPr bwMode="auto">
            <a:xfrm>
              <a:off x="3619" y="2568"/>
              <a:ext cx="18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0850" name="Freeform 34"/>
          <p:cNvSpPr>
            <a:spLocks/>
          </p:cNvSpPr>
          <p:nvPr/>
        </p:nvSpPr>
        <p:spPr bwMode="auto">
          <a:xfrm>
            <a:off x="6498985" y="3572219"/>
            <a:ext cx="798634" cy="585787"/>
          </a:xfrm>
          <a:custGeom>
            <a:avLst/>
            <a:gdLst>
              <a:gd name="T0" fmla="*/ 0 w 545"/>
              <a:gd name="T1" fmla="*/ 2147483647 h 369"/>
              <a:gd name="T2" fmla="*/ 2147483647 w 545"/>
              <a:gd name="T3" fmla="*/ 2147483647 h 369"/>
              <a:gd name="T4" fmla="*/ 2147483647 w 545"/>
              <a:gd name="T5" fmla="*/ 0 h 369"/>
              <a:gd name="T6" fmla="*/ 0 60000 65536"/>
              <a:gd name="T7" fmla="*/ 0 60000 65536"/>
              <a:gd name="T8" fmla="*/ 0 60000 65536"/>
              <a:gd name="T9" fmla="*/ 0 w 545"/>
              <a:gd name="T10" fmla="*/ 0 h 369"/>
              <a:gd name="T11" fmla="*/ 545 w 545"/>
              <a:gd name="T12" fmla="*/ 369 h 3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369">
                <a:moveTo>
                  <a:pt x="0" y="45"/>
                </a:moveTo>
                <a:cubicBezTo>
                  <a:pt x="68" y="207"/>
                  <a:pt x="136" y="369"/>
                  <a:pt x="227" y="362"/>
                </a:cubicBezTo>
                <a:cubicBezTo>
                  <a:pt x="318" y="355"/>
                  <a:pt x="431" y="177"/>
                  <a:pt x="54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851" name="Line 35"/>
          <p:cNvSpPr>
            <a:spLocks noChangeShapeType="1"/>
          </p:cNvSpPr>
          <p:nvPr/>
        </p:nvSpPr>
        <p:spPr bwMode="auto">
          <a:xfrm>
            <a:off x="6831623" y="414688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852" name="Text Box 36"/>
          <p:cNvSpPr txBox="1">
            <a:spLocks noChangeArrowheads="1"/>
          </p:cNvSpPr>
          <p:nvPr/>
        </p:nvSpPr>
        <p:spPr bwMode="auto">
          <a:xfrm>
            <a:off x="6714393" y="4367551"/>
            <a:ext cx="303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</a:t>
            </a:r>
          </a:p>
        </p:txBody>
      </p:sp>
      <p:sp>
        <p:nvSpPr>
          <p:cNvPr id="290853" name="Text Box 37"/>
          <p:cNvSpPr txBox="1">
            <a:spLocks noChangeArrowheads="1"/>
          </p:cNvSpPr>
          <p:nvPr/>
        </p:nvSpPr>
        <p:spPr bwMode="auto">
          <a:xfrm>
            <a:off x="5644665" y="5083514"/>
            <a:ext cx="2214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f(c) nilai min lokal</a:t>
            </a:r>
          </a:p>
        </p:txBody>
      </p:sp>
      <p:sp>
        <p:nvSpPr>
          <p:cNvPr id="290854" name="Text Box 38"/>
          <p:cNvSpPr txBox="1">
            <a:spLocks noChangeArrowheads="1"/>
          </p:cNvSpPr>
          <p:nvPr/>
        </p:nvSpPr>
        <p:spPr bwMode="auto">
          <a:xfrm>
            <a:off x="5266593" y="5459750"/>
            <a:ext cx="367119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Disebelah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 c </a:t>
            </a:r>
            <a:r>
              <a:rPr lang="en-US" dirty="0" err="1"/>
              <a:t>monoton</a:t>
            </a:r>
            <a:r>
              <a:rPr lang="en-US" dirty="0"/>
              <a:t> </a:t>
            </a:r>
            <a:r>
              <a:rPr lang="en-US" dirty="0" err="1"/>
              <a:t>turun</a:t>
            </a:r>
            <a:endParaRPr lang="en-US" dirty="0"/>
          </a:p>
          <a:p>
            <a:pPr algn="l"/>
            <a:r>
              <a:rPr lang="en-US" dirty="0"/>
              <a:t>(f ’&lt;0)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disebelah</a:t>
            </a:r>
            <a:r>
              <a:rPr lang="en-US" dirty="0"/>
              <a:t> </a:t>
            </a:r>
            <a:r>
              <a:rPr lang="en-US" dirty="0" err="1"/>
              <a:t>kanan</a:t>
            </a:r>
            <a:r>
              <a:rPr lang="en-US" dirty="0"/>
              <a:t> c</a:t>
            </a:r>
          </a:p>
          <a:p>
            <a:pPr algn="l"/>
            <a:r>
              <a:rPr lang="en-US" dirty="0" err="1"/>
              <a:t>monoton</a:t>
            </a:r>
            <a:r>
              <a:rPr lang="en-US" dirty="0"/>
              <a:t> </a:t>
            </a:r>
            <a:r>
              <a:rPr lang="en-US" dirty="0" err="1"/>
              <a:t>naik</a:t>
            </a:r>
            <a:r>
              <a:rPr lang="en-US" dirty="0"/>
              <a:t> (f’&gt;0)</a:t>
            </a:r>
          </a:p>
        </p:txBody>
      </p:sp>
      <p:sp>
        <p:nvSpPr>
          <p:cNvPr id="290856" name="Line 40"/>
          <p:cNvSpPr>
            <a:spLocks noChangeShapeType="1"/>
          </p:cNvSpPr>
          <p:nvPr/>
        </p:nvSpPr>
        <p:spPr bwMode="auto">
          <a:xfrm flipH="1">
            <a:off x="1979739" y="3515063"/>
            <a:ext cx="6652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857" name="Text Box 41"/>
          <p:cNvSpPr txBox="1">
            <a:spLocks noChangeArrowheads="1"/>
          </p:cNvSpPr>
          <p:nvPr/>
        </p:nvSpPr>
        <p:spPr bwMode="auto">
          <a:xfrm>
            <a:off x="1447801" y="3283289"/>
            <a:ext cx="5806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f(c)</a:t>
            </a:r>
          </a:p>
        </p:txBody>
      </p:sp>
      <p:sp>
        <p:nvSpPr>
          <p:cNvPr id="290858" name="Line 42"/>
          <p:cNvSpPr>
            <a:spLocks noChangeShapeType="1"/>
          </p:cNvSpPr>
          <p:nvPr/>
        </p:nvSpPr>
        <p:spPr bwMode="auto">
          <a:xfrm flipH="1">
            <a:off x="6233746" y="4146888"/>
            <a:ext cx="59787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859" name="Text Box 43"/>
          <p:cNvSpPr txBox="1">
            <a:spLocks noChangeArrowheads="1"/>
          </p:cNvSpPr>
          <p:nvPr/>
        </p:nvSpPr>
        <p:spPr bwMode="auto">
          <a:xfrm>
            <a:off x="5734051" y="3930989"/>
            <a:ext cx="5806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f(c)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07985" y="0"/>
            <a:ext cx="836015" cy="7350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nip Diagonal Corner Rectangle 3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nip Diagonal Corner Rectangle 3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456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9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9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9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9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9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9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9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9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2000"/>
                                        <p:tgtEl>
                                          <p:spTgt spid="29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9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9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9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9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29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7" dur="500"/>
                                        <p:tgtEl>
                                          <p:spTgt spid="29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29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2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8" dur="2000"/>
                                        <p:tgtEl>
                                          <p:spTgt spid="29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0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29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7" dur="2000"/>
                                        <p:tgtEl>
                                          <p:spTgt spid="29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2" dur="2000"/>
                                        <p:tgtEl>
                                          <p:spTgt spid="29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0" grpId="0"/>
      <p:bldP spid="290821" grpId="0"/>
      <p:bldP spid="290824" grpId="0"/>
      <p:bldP spid="290828" grpId="0"/>
      <p:bldP spid="290832" grpId="0"/>
      <p:bldP spid="290836" grpId="0"/>
      <p:bldP spid="290838" grpId="0"/>
      <p:bldP spid="290843" grpId="0" animBg="1"/>
      <p:bldP spid="290844" grpId="0" animBg="1"/>
      <p:bldP spid="290845" grpId="0"/>
      <p:bldP spid="290846" grpId="0"/>
      <p:bldP spid="290847" grpId="0"/>
      <p:bldP spid="290850" grpId="0" animBg="1"/>
      <p:bldP spid="290851" grpId="0" animBg="1"/>
      <p:bldP spid="290852" grpId="0"/>
      <p:bldP spid="290853" grpId="0"/>
      <p:bldP spid="290854" grpId="0"/>
      <p:bldP spid="290856" grpId="0" animBg="1"/>
      <p:bldP spid="290857" grpId="0"/>
      <p:bldP spid="290858" grpId="0" animBg="1"/>
      <p:bldP spid="2908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E8ED134-60EC-4EB8-9DD0-DBE5184F7A32}" type="slidenum">
              <a:rPr lang="en-US" sz="1200" smtClean="0">
                <a:latin typeface="Arial Black" pitchFamily="34" charset="0"/>
              </a:rPr>
              <a:pPr algn="r" eaLnBrk="1" hangingPunct="1"/>
              <a:t>19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89025"/>
            <a:ext cx="8368812" cy="56165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id-ID" sz="2000" b="1" dirty="0" smtClean="0">
                <a:latin typeface="Tahoma" pitchFamily="34" charset="0"/>
              </a:rPr>
              <a:t>Teorema 5.4</a:t>
            </a:r>
            <a:r>
              <a:rPr lang="id-ID" sz="2000" dirty="0" smtClean="0">
                <a:latin typeface="Tahoma" pitchFamily="34" charset="0"/>
              </a:rPr>
              <a:t> Uji turunan </a:t>
            </a:r>
            <a:r>
              <a:rPr lang="en-US" sz="2000" dirty="0" err="1" smtClean="0">
                <a:latin typeface="Tahoma" pitchFamily="34" charset="0"/>
              </a:rPr>
              <a:t>kedua</a:t>
            </a:r>
            <a:r>
              <a:rPr lang="id-ID" sz="2000" dirty="0" smtClean="0">
                <a:latin typeface="Tahoma" pitchFamily="34" charset="0"/>
              </a:rPr>
              <a:t> untuk ekstrim lokal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	Misalkan               </a:t>
            </a:r>
            <a:r>
              <a:rPr lang="en-US" sz="2000" dirty="0" smtClean="0">
                <a:latin typeface="Tahoma" pitchFamily="34" charset="0"/>
              </a:rPr>
              <a:t>  </a:t>
            </a:r>
            <a:r>
              <a:rPr lang="id-ID" sz="2000" dirty="0" smtClean="0">
                <a:latin typeface="Tahoma" pitchFamily="34" charset="0"/>
              </a:rPr>
              <a:t>. Jika                 </a:t>
            </a:r>
            <a:r>
              <a:rPr lang="en-US" sz="2000" dirty="0" smtClean="0">
                <a:latin typeface="Tahoma" pitchFamily="34" charset="0"/>
              </a:rPr>
              <a:t>     </a:t>
            </a:r>
            <a:r>
              <a:rPr lang="id-ID" sz="2000" dirty="0" smtClean="0">
                <a:latin typeface="Tahoma" pitchFamily="34" charset="0"/>
              </a:rPr>
              <a:t>,maka </a:t>
            </a:r>
            <a:r>
              <a:rPr lang="id-ID" sz="2000" i="1" dirty="0" smtClean="0">
                <a:latin typeface="Tahoma" pitchFamily="34" charset="0"/>
              </a:rPr>
              <a:t>f</a:t>
            </a:r>
            <a:r>
              <a:rPr lang="id-ID" sz="2000" dirty="0" smtClean="0">
                <a:latin typeface="Tahoma" pitchFamily="34" charset="0"/>
              </a:rPr>
              <a:t>(</a:t>
            </a:r>
            <a:r>
              <a:rPr lang="id-ID" sz="2000" i="1" dirty="0" smtClean="0">
                <a:latin typeface="Tahoma" pitchFamily="34" charset="0"/>
              </a:rPr>
              <a:t>c</a:t>
            </a:r>
            <a:r>
              <a:rPr lang="id-ID" sz="2000" dirty="0" smtClean="0">
                <a:latin typeface="Tahoma" pitchFamily="34" charset="0"/>
              </a:rPr>
              <a:t>) merupakan </a:t>
            </a:r>
            <a:endParaRPr lang="en-US" sz="2000" dirty="0" smtClean="0">
              <a:latin typeface="Tahoma" pitchFamily="34" charset="0"/>
            </a:endParaRP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 smtClean="0">
                <a:latin typeface="Tahoma" pitchFamily="34" charset="0"/>
              </a:rPr>
              <a:t>     </a:t>
            </a:r>
            <a:r>
              <a:rPr lang="id-ID" sz="2000" dirty="0" smtClean="0">
                <a:latin typeface="Tahoma" pitchFamily="34" charset="0"/>
              </a:rPr>
              <a:t>nilai	                  </a:t>
            </a:r>
            <a:r>
              <a:rPr lang="en-US" sz="2000" dirty="0" smtClean="0">
                <a:latin typeface="Tahoma" pitchFamily="34" charset="0"/>
              </a:rPr>
              <a:t>    </a:t>
            </a:r>
            <a:r>
              <a:rPr lang="id-ID" sz="2000" dirty="0" smtClean="0">
                <a:latin typeface="Tahoma" pitchFamily="34" charset="0"/>
              </a:rPr>
              <a:t>lokal </a:t>
            </a:r>
            <a:r>
              <a:rPr lang="id-ID" sz="2000" i="1" dirty="0" smtClean="0">
                <a:latin typeface="Tahoma" pitchFamily="34" charset="0"/>
              </a:rPr>
              <a:t>f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	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   Contoh :Tentukan nilai ekstrim dari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    Jawab:   </a:t>
            </a:r>
            <a:endParaRPr lang="en-US" sz="2000" dirty="0" smtClean="0">
              <a:latin typeface="Tahoma" pitchFamily="34" charset="0"/>
            </a:endParaRP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                                                              </a:t>
            </a:r>
            <a:r>
              <a:rPr lang="id-ID" sz="2000" b="1" dirty="0" smtClean="0">
                <a:latin typeface="Tahoma" pitchFamily="34" charset="0"/>
              </a:rPr>
              <a:t>                          </a:t>
            </a:r>
            <a:endParaRPr lang="id-ID" sz="2000" dirty="0" smtClean="0">
              <a:latin typeface="Tahoma" pitchFamily="34" charset="0"/>
            </a:endParaRP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          </a:t>
            </a:r>
            <a:r>
              <a:rPr lang="en-US" sz="2000" dirty="0" smtClean="0">
                <a:latin typeface="Tahoma" pitchFamily="34" charset="0"/>
              </a:rPr>
              <a:t>     </a:t>
            </a:r>
            <a:endParaRPr lang="id-ID" sz="2000" dirty="0" smtClean="0">
              <a:latin typeface="Tahoma" pitchFamily="34" charset="0"/>
            </a:endParaRPr>
          </a:p>
        </p:txBody>
      </p:sp>
      <p:sp>
        <p:nvSpPr>
          <p:cNvPr id="14349" name="Rectangle 5"/>
          <p:cNvSpPr>
            <a:spLocks noChangeArrowheads="1"/>
          </p:cNvSpPr>
          <p:nvPr/>
        </p:nvSpPr>
        <p:spPr bwMode="auto">
          <a:xfrm>
            <a:off x="4479638" y="335386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50" name="Rectangle 7"/>
          <p:cNvSpPr>
            <a:spLocks noChangeArrowheads="1"/>
          </p:cNvSpPr>
          <p:nvPr/>
        </p:nvSpPr>
        <p:spPr bwMode="auto">
          <a:xfrm>
            <a:off x="4252547" y="3263033"/>
            <a:ext cx="2199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0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4351" name="Rectangle 8"/>
          <p:cNvSpPr>
            <a:spLocks noChangeArrowheads="1"/>
          </p:cNvSpPr>
          <p:nvPr/>
        </p:nvSpPr>
        <p:spPr bwMode="auto">
          <a:xfrm>
            <a:off x="4252547" y="3935509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4352" name="Rectangle 13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4353" name="Rectangle 14"/>
          <p:cNvSpPr>
            <a:spLocks noChangeArrowheads="1"/>
          </p:cNvSpPr>
          <p:nvPr/>
        </p:nvSpPr>
        <p:spPr bwMode="auto">
          <a:xfrm>
            <a:off x="0" y="1025630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4354" name="Rectangle 16"/>
          <p:cNvSpPr>
            <a:spLocks noChangeArrowheads="1"/>
          </p:cNvSpPr>
          <p:nvPr/>
        </p:nvSpPr>
        <p:spPr bwMode="auto">
          <a:xfrm>
            <a:off x="4479638" y="322051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-7370" y="-1838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endParaRPr lang="en-US" sz="1800">
              <a:latin typeface="Arial" charset="0"/>
            </a:endParaRPr>
          </a:p>
        </p:txBody>
      </p:sp>
      <p:sp>
        <p:nvSpPr>
          <p:cNvPr id="14356" name="Rectangle 21"/>
          <p:cNvSpPr>
            <a:spLocks noChangeArrowheads="1"/>
          </p:cNvSpPr>
          <p:nvPr/>
        </p:nvSpPr>
        <p:spPr bwMode="auto">
          <a:xfrm>
            <a:off x="4479638" y="333164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57" name="Rectangle 24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4358" name="Rectangle 25"/>
          <p:cNvSpPr>
            <a:spLocks noChangeArrowheads="1"/>
          </p:cNvSpPr>
          <p:nvPr/>
        </p:nvSpPr>
        <p:spPr bwMode="auto">
          <a:xfrm>
            <a:off x="0" y="1016105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4359" name="Rectangle 27"/>
          <p:cNvSpPr>
            <a:spLocks noChangeArrowheads="1"/>
          </p:cNvSpPr>
          <p:nvPr/>
        </p:nvSpPr>
        <p:spPr bwMode="auto">
          <a:xfrm>
            <a:off x="4479638" y="331576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60" name="Rectangle 30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4361" name="Rectangle 31"/>
          <p:cNvSpPr>
            <a:spLocks noChangeArrowheads="1"/>
          </p:cNvSpPr>
          <p:nvPr/>
        </p:nvSpPr>
        <p:spPr bwMode="auto">
          <a:xfrm>
            <a:off x="0" y="1016105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4362" name="Rectangle 33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9488" name="Object 32"/>
          <p:cNvGraphicFramePr>
            <a:graphicFrameLocks noChangeAspect="1"/>
          </p:cNvGraphicFramePr>
          <p:nvPr/>
        </p:nvGraphicFramePr>
        <p:xfrm>
          <a:off x="1780447" y="1736722"/>
          <a:ext cx="1129811" cy="374650"/>
        </p:xfrm>
        <a:graphic>
          <a:graphicData uri="http://schemas.openxmlformats.org/presentationml/2006/ole">
            <p:oleObj spid="_x0000_s15495" name="Equation" r:id="rId3" imgW="596641" imgH="203112" progId="Equation.3">
              <p:embed/>
            </p:oleObj>
          </a:graphicData>
        </a:graphic>
      </p:graphicFrame>
      <p:sp>
        <p:nvSpPr>
          <p:cNvPr id="14363" name="Rectangle 34"/>
          <p:cNvSpPr>
            <a:spLocks noChangeArrowheads="1"/>
          </p:cNvSpPr>
          <p:nvPr/>
        </p:nvSpPr>
        <p:spPr bwMode="auto">
          <a:xfrm>
            <a:off x="1" y="198853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 sz="1800">
              <a:latin typeface="Arial" charset="0"/>
            </a:endParaRPr>
          </a:p>
        </p:txBody>
      </p:sp>
      <p:sp>
        <p:nvSpPr>
          <p:cNvPr id="14364" name="Rectangle 36"/>
          <p:cNvSpPr>
            <a:spLocks noChangeArrowheads="1"/>
          </p:cNvSpPr>
          <p:nvPr/>
        </p:nvSpPr>
        <p:spPr bwMode="auto">
          <a:xfrm>
            <a:off x="4479638" y="319194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9491" name="Object 35"/>
          <p:cNvGraphicFramePr>
            <a:graphicFrameLocks noChangeAspect="1"/>
          </p:cNvGraphicFramePr>
          <p:nvPr/>
        </p:nvGraphicFramePr>
        <p:xfrm>
          <a:off x="3774831" y="1603381"/>
          <a:ext cx="1197220" cy="758825"/>
        </p:xfrm>
        <a:graphic>
          <a:graphicData uri="http://schemas.openxmlformats.org/presentationml/2006/ole">
            <p:oleObj spid="_x0000_s15496" name="Equation" r:id="rId4" imgW="685800" imgH="431800" progId="Equation.3">
              <p:embed/>
            </p:oleObj>
          </a:graphicData>
        </a:graphic>
      </p:graphicFrame>
      <p:sp>
        <p:nvSpPr>
          <p:cNvPr id="14365" name="Rectangle 37"/>
          <p:cNvSpPr>
            <a:spLocks noChangeArrowheads="1"/>
          </p:cNvSpPr>
          <p:nvPr/>
        </p:nvSpPr>
        <p:spPr bwMode="auto">
          <a:xfrm>
            <a:off x="0" y="3822799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4366" name="Rectangle 39"/>
          <p:cNvSpPr>
            <a:spLocks noChangeArrowheads="1"/>
          </p:cNvSpPr>
          <p:nvPr/>
        </p:nvSpPr>
        <p:spPr bwMode="auto">
          <a:xfrm>
            <a:off x="4479638" y="322051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9494" name="Object 38"/>
          <p:cNvGraphicFramePr>
            <a:graphicFrameLocks noChangeAspect="1"/>
          </p:cNvGraphicFramePr>
          <p:nvPr/>
        </p:nvGraphicFramePr>
        <p:xfrm>
          <a:off x="1475647" y="2097085"/>
          <a:ext cx="1368669" cy="709612"/>
        </p:xfrm>
        <a:graphic>
          <a:graphicData uri="http://schemas.openxmlformats.org/presentationml/2006/ole">
            <p:oleObj spid="_x0000_s15497" name="Equation" r:id="rId5" imgW="748975" imgH="393529" progId="Equation.3">
              <p:embed/>
            </p:oleObj>
          </a:graphicData>
        </a:graphic>
      </p:graphicFrame>
      <p:sp>
        <p:nvSpPr>
          <p:cNvPr id="14367" name="Rectangle 42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94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09699082"/>
              </p:ext>
            </p:extLst>
          </p:nvPr>
        </p:nvGraphicFramePr>
        <p:xfrm>
          <a:off x="4780819" y="3349746"/>
          <a:ext cx="1727689" cy="647700"/>
        </p:xfrm>
        <a:graphic>
          <a:graphicData uri="http://schemas.openxmlformats.org/presentationml/2006/ole">
            <p:oleObj spid="_x0000_s15498" name="Equation" r:id="rId6" imgW="1206500" imgH="419100" progId="Equation.3">
              <p:embed/>
            </p:oleObj>
          </a:graphicData>
        </a:graphic>
      </p:graphicFrame>
      <p:sp>
        <p:nvSpPr>
          <p:cNvPr id="14368" name="Rectangle 43"/>
          <p:cNvSpPr>
            <a:spLocks noChangeArrowheads="1"/>
          </p:cNvSpPr>
          <p:nvPr/>
        </p:nvSpPr>
        <p:spPr bwMode="auto">
          <a:xfrm>
            <a:off x="1" y="741775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2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4369" name="Rectangle 45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70" name="Rectangle 47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71" name="Rectangle 49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950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86712225"/>
              </p:ext>
            </p:extLst>
          </p:nvPr>
        </p:nvGraphicFramePr>
        <p:xfrm>
          <a:off x="6428763" y="5643422"/>
          <a:ext cx="888023" cy="298450"/>
        </p:xfrm>
        <a:graphic>
          <a:graphicData uri="http://schemas.openxmlformats.org/presentationml/2006/ole">
            <p:oleObj spid="_x0000_s15499" name="Equation" r:id="rId7" imgW="647419" imgH="203112" progId="Equation.3">
              <p:embed/>
            </p:oleObj>
          </a:graphicData>
        </a:graphic>
      </p:graphicFrame>
      <p:sp>
        <p:nvSpPr>
          <p:cNvPr id="14372" name="Rectangle 51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4373" name="Rectangle 53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950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2530663"/>
              </p:ext>
            </p:extLst>
          </p:nvPr>
        </p:nvGraphicFramePr>
        <p:xfrm>
          <a:off x="6284761" y="6064278"/>
          <a:ext cx="789842" cy="311150"/>
        </p:xfrm>
        <a:graphic>
          <a:graphicData uri="http://schemas.openxmlformats.org/presentationml/2006/ole">
            <p:oleObj spid="_x0000_s15500" name="Equation" r:id="rId8" imgW="558558" imgH="203112" progId="Equation.3">
              <p:embed/>
            </p:oleObj>
          </a:graphicData>
        </a:graphic>
      </p:graphicFrame>
      <p:sp>
        <p:nvSpPr>
          <p:cNvPr id="14374" name="Rectangle 54"/>
          <p:cNvSpPr>
            <a:spLocks noChangeArrowheads="1"/>
          </p:cNvSpPr>
          <p:nvPr/>
        </p:nvSpPr>
        <p:spPr bwMode="auto">
          <a:xfrm>
            <a:off x="1" y="389353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2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graphicFrame>
        <p:nvGraphicFramePr>
          <p:cNvPr id="19511" name="Object 55"/>
          <p:cNvGraphicFramePr>
            <a:graphicFrameLocks noGrp="1" noChangeAspect="1"/>
          </p:cNvGraphicFramePr>
          <p:nvPr>
            <p:ph sz="half" idx="2"/>
          </p:nvPr>
        </p:nvGraphicFramePr>
        <p:xfrm>
          <a:off x="1581150" y="3727447"/>
          <a:ext cx="1528396" cy="673100"/>
        </p:xfrm>
        <a:graphic>
          <a:graphicData uri="http://schemas.openxmlformats.org/presentationml/2006/ole">
            <p:oleObj spid="_x0000_s15501" name="Equation" r:id="rId9" imgW="1028700" imgH="419100" progId="Equation.3">
              <p:embed/>
            </p:oleObj>
          </a:graphicData>
        </a:graphic>
      </p:graphicFrame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1581151" y="4400548"/>
            <a:ext cx="4387362" cy="782638"/>
            <a:chOff x="1813" y="2898"/>
            <a:chExt cx="2994" cy="493"/>
          </a:xfrm>
        </p:grpSpPr>
        <p:sp>
          <p:nvSpPr>
            <p:cNvPr id="14380" name="Line 59"/>
            <p:cNvSpPr>
              <a:spLocks noChangeShapeType="1"/>
            </p:cNvSpPr>
            <p:nvPr/>
          </p:nvSpPr>
          <p:spPr bwMode="auto">
            <a:xfrm>
              <a:off x="1813" y="3158"/>
              <a:ext cx="29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Line 60"/>
            <p:cNvSpPr>
              <a:spLocks noChangeShapeType="1"/>
            </p:cNvSpPr>
            <p:nvPr/>
          </p:nvSpPr>
          <p:spPr bwMode="auto">
            <a:xfrm>
              <a:off x="2576" y="3113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Line 61"/>
            <p:cNvSpPr>
              <a:spLocks noChangeShapeType="1"/>
            </p:cNvSpPr>
            <p:nvPr/>
          </p:nvSpPr>
          <p:spPr bwMode="auto">
            <a:xfrm>
              <a:off x="3301" y="3113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Line 62"/>
            <p:cNvSpPr>
              <a:spLocks noChangeShapeType="1"/>
            </p:cNvSpPr>
            <p:nvPr/>
          </p:nvSpPr>
          <p:spPr bwMode="auto">
            <a:xfrm>
              <a:off x="3936" y="3113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Text Box 63"/>
            <p:cNvSpPr txBox="1">
              <a:spLocks noChangeArrowheads="1"/>
            </p:cNvSpPr>
            <p:nvPr/>
          </p:nvSpPr>
          <p:spPr bwMode="auto">
            <a:xfrm>
              <a:off x="2485" y="3154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0</a:t>
              </a:r>
            </a:p>
          </p:txBody>
        </p:sp>
        <p:sp>
          <p:nvSpPr>
            <p:cNvPr id="14385" name="Text Box 64"/>
            <p:cNvSpPr txBox="1">
              <a:spLocks noChangeArrowheads="1"/>
            </p:cNvSpPr>
            <p:nvPr/>
          </p:nvSpPr>
          <p:spPr bwMode="auto">
            <a:xfrm>
              <a:off x="3211" y="3158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14386" name="Text Box 65"/>
            <p:cNvSpPr txBox="1">
              <a:spLocks noChangeArrowheads="1"/>
            </p:cNvSpPr>
            <p:nvPr/>
          </p:nvSpPr>
          <p:spPr bwMode="auto">
            <a:xfrm>
              <a:off x="3836" y="3158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14387" name="Text Box 66"/>
            <p:cNvSpPr txBox="1">
              <a:spLocks noChangeArrowheads="1"/>
            </p:cNvSpPr>
            <p:nvPr/>
          </p:nvSpPr>
          <p:spPr bwMode="auto">
            <a:xfrm>
              <a:off x="3982" y="2898"/>
              <a:ext cx="6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++++++</a:t>
              </a:r>
            </a:p>
          </p:txBody>
        </p:sp>
        <p:sp>
          <p:nvSpPr>
            <p:cNvPr id="14388" name="Text Box 67"/>
            <p:cNvSpPr txBox="1">
              <a:spLocks noChangeArrowheads="1"/>
            </p:cNvSpPr>
            <p:nvPr/>
          </p:nvSpPr>
          <p:spPr bwMode="auto">
            <a:xfrm>
              <a:off x="3380" y="2898"/>
              <a:ext cx="5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---------</a:t>
              </a:r>
            </a:p>
          </p:txBody>
        </p:sp>
        <p:sp>
          <p:nvSpPr>
            <p:cNvPr id="14389" name="Text Box 68"/>
            <p:cNvSpPr txBox="1">
              <a:spLocks noChangeArrowheads="1"/>
            </p:cNvSpPr>
            <p:nvPr/>
          </p:nvSpPr>
          <p:spPr bwMode="auto">
            <a:xfrm>
              <a:off x="2608" y="2898"/>
              <a:ext cx="7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------------</a:t>
              </a:r>
            </a:p>
          </p:txBody>
        </p:sp>
        <p:sp>
          <p:nvSpPr>
            <p:cNvPr id="14390" name="Text Box 69"/>
            <p:cNvSpPr txBox="1">
              <a:spLocks noChangeArrowheads="1"/>
            </p:cNvSpPr>
            <p:nvPr/>
          </p:nvSpPr>
          <p:spPr bwMode="auto">
            <a:xfrm>
              <a:off x="1872" y="2898"/>
              <a:ext cx="7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+++++++</a:t>
              </a:r>
            </a:p>
          </p:txBody>
        </p:sp>
      </p:grpSp>
      <p:sp>
        <p:nvSpPr>
          <p:cNvPr id="19526" name="Text Box 70"/>
          <p:cNvSpPr txBox="1">
            <a:spLocks noChangeArrowheads="1"/>
          </p:cNvSpPr>
          <p:nvPr/>
        </p:nvSpPr>
        <p:spPr bwMode="auto">
          <a:xfrm>
            <a:off x="1115163" y="5084761"/>
            <a:ext cx="49852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Dengan menggunakan uji turunan pertama :</a:t>
            </a:r>
          </a:p>
        </p:txBody>
      </p:sp>
      <p:sp>
        <p:nvSpPr>
          <p:cNvPr id="19527" name="Text Box 71"/>
          <p:cNvSpPr txBox="1">
            <a:spLocks noChangeArrowheads="1"/>
          </p:cNvSpPr>
          <p:nvPr/>
        </p:nvSpPr>
        <p:spPr bwMode="auto">
          <a:xfrm>
            <a:off x="1129816" y="5587998"/>
            <a:ext cx="53639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latin typeface="Arial" charset="0"/>
              </a:rPr>
              <a:t>di x = 0 tercapai maksimum lokal dengan nilai</a:t>
            </a:r>
          </a:p>
        </p:txBody>
      </p:sp>
      <p:sp>
        <p:nvSpPr>
          <p:cNvPr id="19528" name="Text Box 72"/>
          <p:cNvSpPr txBox="1">
            <a:spLocks noChangeArrowheads="1"/>
          </p:cNvSpPr>
          <p:nvPr/>
        </p:nvSpPr>
        <p:spPr bwMode="auto">
          <a:xfrm>
            <a:off x="1115163" y="6019798"/>
            <a:ext cx="51651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latin typeface="Arial" charset="0"/>
              </a:rPr>
              <a:t>di x = 4 tercapai minimum lokal dengan nilai</a:t>
            </a:r>
          </a:p>
        </p:txBody>
      </p:sp>
      <p:sp>
        <p:nvSpPr>
          <p:cNvPr id="3" name="Rectangle 2"/>
          <p:cNvSpPr/>
          <p:nvPr/>
        </p:nvSpPr>
        <p:spPr>
          <a:xfrm>
            <a:off x="8244408" y="-1180"/>
            <a:ext cx="899592" cy="702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nip Diagonal Corner Rectangle 5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nip Diagonal Corner Rectangle 5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2647422"/>
      </p:ext>
    </p:extLst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26" grpId="0"/>
      <p:bldP spid="19527" grpId="0"/>
      <p:bldP spid="195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Diagonal Corner Rectangle 1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153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5F70A526-5235-4E02-9A46-070EFD02E828}" type="slidenum">
              <a:rPr lang="en-US" sz="1200" smtClean="0">
                <a:latin typeface="Arial Black" pitchFamily="34" charset="0"/>
              </a:rPr>
              <a:pPr algn="r" eaLnBrk="1" hangingPunct="1"/>
              <a:t>20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1014051" y="1517642"/>
            <a:ext cx="17764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 dirty="0" err="1"/>
              <a:t>Soal</a:t>
            </a:r>
            <a:r>
              <a:rPr lang="en-US" b="1" dirty="0"/>
              <a:t> </a:t>
            </a:r>
            <a:r>
              <a:rPr lang="en-US" b="1" dirty="0" err="1"/>
              <a:t>Latihan</a:t>
            </a:r>
            <a:endParaRPr lang="en-US" b="1" dirty="0"/>
          </a:p>
        </p:txBody>
      </p:sp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1846385" y="2679700"/>
          <a:ext cx="3124200" cy="433387"/>
        </p:xfrm>
        <a:graphic>
          <a:graphicData uri="http://schemas.openxmlformats.org/presentationml/2006/ole">
            <p:oleObj spid="_x0000_s16462" name="Equation" r:id="rId4" imgW="1790700" imgH="228600" progId="Equation.3">
              <p:embed/>
            </p:oleObj>
          </a:graphicData>
        </a:graphic>
      </p:graphicFrame>
      <p:graphicFrame>
        <p:nvGraphicFramePr>
          <p:cNvPr id="328711" name="Object 7"/>
          <p:cNvGraphicFramePr>
            <a:graphicFrameLocks noChangeAspect="1"/>
          </p:cNvGraphicFramePr>
          <p:nvPr/>
        </p:nvGraphicFramePr>
        <p:xfrm>
          <a:off x="1846384" y="3281362"/>
          <a:ext cx="1947497" cy="766763"/>
        </p:xfrm>
        <a:graphic>
          <a:graphicData uri="http://schemas.openxmlformats.org/presentationml/2006/ole">
            <p:oleObj spid="_x0000_s16463" name="Equation" r:id="rId5" imgW="1155700" imgH="419100" progId="Equation.3">
              <p:embed/>
            </p:oleObj>
          </a:graphicData>
        </a:graphic>
      </p:graphicFrame>
      <p:graphicFrame>
        <p:nvGraphicFramePr>
          <p:cNvPr id="328710" name="Object 6"/>
          <p:cNvGraphicFramePr>
            <a:graphicFrameLocks noChangeAspect="1"/>
          </p:cNvGraphicFramePr>
          <p:nvPr/>
        </p:nvGraphicFramePr>
        <p:xfrm>
          <a:off x="1825869" y="4110028"/>
          <a:ext cx="1881554" cy="730250"/>
        </p:xfrm>
        <a:graphic>
          <a:graphicData uri="http://schemas.openxmlformats.org/presentationml/2006/ole">
            <p:oleObj spid="_x0000_s16464" name="Equation" r:id="rId6" imgW="1168400" imgH="419100" progId="Equation.3">
              <p:embed/>
            </p:oleObj>
          </a:graphicData>
        </a:graphic>
      </p:graphicFrame>
      <p:graphicFrame>
        <p:nvGraphicFramePr>
          <p:cNvPr id="328709" name="Object 5"/>
          <p:cNvGraphicFramePr>
            <a:graphicFrameLocks noChangeAspect="1"/>
          </p:cNvGraphicFramePr>
          <p:nvPr/>
        </p:nvGraphicFramePr>
        <p:xfrm>
          <a:off x="1846385" y="4911725"/>
          <a:ext cx="1570892" cy="727075"/>
        </p:xfrm>
        <a:graphic>
          <a:graphicData uri="http://schemas.openxmlformats.org/presentationml/2006/ole">
            <p:oleObj spid="_x0000_s16465" name="Equation" r:id="rId7" imgW="977900" imgH="419100" progId="Equation.3">
              <p:embed/>
            </p:oleObj>
          </a:graphicData>
        </a:graphic>
      </p:graphicFrame>
      <p:sp>
        <p:nvSpPr>
          <p:cNvPr id="328713" name="Rectangle 9"/>
          <p:cNvSpPr>
            <a:spLocks noChangeArrowheads="1"/>
          </p:cNvSpPr>
          <p:nvPr/>
        </p:nvSpPr>
        <p:spPr bwMode="auto">
          <a:xfrm>
            <a:off x="1027235" y="2045900"/>
            <a:ext cx="65918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/>
          <a:p>
            <a:r>
              <a:rPr lang="en-US">
                <a:cs typeface="Times New Roman" pitchFamily="18" charset="0"/>
              </a:rPr>
              <a:t>Tentukan selang kemonotonan dan ektrim fungsi berikut :</a:t>
            </a:r>
            <a:endParaRPr lang="en-US"/>
          </a:p>
        </p:txBody>
      </p:sp>
      <p:sp>
        <p:nvSpPr>
          <p:cNvPr id="328717" name="Text Box 13"/>
          <p:cNvSpPr txBox="1">
            <a:spLocks noChangeArrowheads="1"/>
          </p:cNvSpPr>
          <p:nvPr/>
        </p:nvSpPr>
        <p:spPr bwMode="auto">
          <a:xfrm>
            <a:off x="1365232" y="2741604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</a:t>
            </a:r>
          </a:p>
        </p:txBody>
      </p:sp>
      <p:sp>
        <p:nvSpPr>
          <p:cNvPr id="328718" name="Text Box 14"/>
          <p:cNvSpPr txBox="1">
            <a:spLocks noChangeArrowheads="1"/>
          </p:cNvSpPr>
          <p:nvPr/>
        </p:nvSpPr>
        <p:spPr bwMode="auto">
          <a:xfrm>
            <a:off x="1365232" y="3533767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2.</a:t>
            </a:r>
          </a:p>
        </p:txBody>
      </p:sp>
      <p:sp>
        <p:nvSpPr>
          <p:cNvPr id="328719" name="Text Box 15"/>
          <p:cNvSpPr txBox="1">
            <a:spLocks noChangeArrowheads="1"/>
          </p:cNvSpPr>
          <p:nvPr/>
        </p:nvSpPr>
        <p:spPr bwMode="auto">
          <a:xfrm>
            <a:off x="1365232" y="4252904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3.</a:t>
            </a:r>
          </a:p>
        </p:txBody>
      </p:sp>
      <p:sp>
        <p:nvSpPr>
          <p:cNvPr id="328720" name="Text Box 16"/>
          <p:cNvSpPr txBox="1">
            <a:spLocks noChangeArrowheads="1"/>
          </p:cNvSpPr>
          <p:nvPr/>
        </p:nvSpPr>
        <p:spPr bwMode="auto">
          <a:xfrm>
            <a:off x="1366483" y="5045067"/>
            <a:ext cx="398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xmlns="" val="1723631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/>
      <p:bldP spid="328713" grpId="0"/>
      <p:bldP spid="328717" grpId="0"/>
      <p:bldP spid="328718" grpId="0"/>
      <p:bldP spid="328719" grpId="0"/>
      <p:bldP spid="3287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nip Diagonal Corner Rectangle 3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nip Diagonal Corner Rectangle 3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163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DFE60318-B7CB-4DB1-9D2F-C05181ADE611}" type="slidenum">
              <a:rPr lang="en-US" sz="1200" smtClean="0">
                <a:latin typeface="Arial Black" pitchFamily="34" charset="0"/>
              </a:rPr>
              <a:pPr algn="r" eaLnBrk="1" hangingPunct="1"/>
              <a:t>21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927" y="333384"/>
            <a:ext cx="8675077" cy="6119813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dirty="0" smtClean="0"/>
              <a:t>     </a:t>
            </a:r>
            <a:endParaRPr lang="id-ID" sz="2400" b="1" dirty="0" smtClean="0">
              <a:latin typeface="Tahoma" pitchFamily="34" charset="0"/>
            </a:endParaRPr>
          </a:p>
          <a:p>
            <a:pPr marL="609600" indent="-609600">
              <a:buNone/>
            </a:pPr>
            <a:r>
              <a:rPr lang="en-US" sz="2400" b="1" dirty="0" smtClean="0">
                <a:latin typeface="Tahoma" pitchFamily="34" charset="0"/>
              </a:rPr>
              <a:t>E. </a:t>
            </a:r>
            <a:r>
              <a:rPr lang="id-ID" sz="2400" b="1" dirty="0" smtClean="0">
                <a:latin typeface="Tahoma" pitchFamily="34" charset="0"/>
              </a:rPr>
              <a:t>Kecekungan Fungsi</a:t>
            </a:r>
            <a:endParaRPr lang="id-ID" sz="24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18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18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18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18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18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18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latin typeface="Tahoma" pitchFamily="34" charset="0"/>
              </a:rPr>
              <a:t>	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Fungsi </a:t>
            </a:r>
            <a:r>
              <a:rPr lang="id-ID" sz="2000" i="1" dirty="0" smtClean="0">
                <a:latin typeface="Tahoma" pitchFamily="34" charset="0"/>
              </a:rPr>
              <a:t>f</a:t>
            </a:r>
            <a:r>
              <a:rPr lang="id-ID" sz="2000" dirty="0" smtClean="0">
                <a:latin typeface="Tahoma" pitchFamily="34" charset="0"/>
              </a:rPr>
              <a:t>(</a:t>
            </a:r>
            <a:r>
              <a:rPr lang="id-ID" sz="2000" i="1" dirty="0" smtClean="0">
                <a:latin typeface="Tahoma" pitchFamily="34" charset="0"/>
              </a:rPr>
              <a:t>x</a:t>
            </a:r>
            <a:r>
              <a:rPr lang="id-ID" sz="2000" dirty="0" smtClean="0">
                <a:latin typeface="Tahoma" pitchFamily="34" charset="0"/>
              </a:rPr>
              <a:t>) dikatakan </a:t>
            </a:r>
            <a:r>
              <a:rPr lang="id-ID" sz="2000" b="1" u="sng" dirty="0" smtClean="0">
                <a:latin typeface="Tahoma" pitchFamily="34" charset="0"/>
              </a:rPr>
              <a:t>cekung ke atas</a:t>
            </a:r>
            <a:r>
              <a:rPr lang="id-ID" sz="2000" dirty="0" smtClean="0">
                <a:latin typeface="Tahoma" pitchFamily="34" charset="0"/>
              </a:rPr>
              <a:t> pada interval I bila</a:t>
            </a:r>
            <a:r>
              <a:rPr lang="en-US" sz="2000" dirty="0" smtClean="0">
                <a:latin typeface="Tahoma" pitchFamily="34" charset="0"/>
              </a:rPr>
              <a:t>          </a:t>
            </a:r>
            <a:r>
              <a:rPr lang="id-ID" sz="2000" dirty="0" smtClean="0">
                <a:latin typeface="Tahoma" pitchFamily="34" charset="0"/>
              </a:rPr>
              <a:t>naik pada</a:t>
            </a:r>
            <a:r>
              <a:rPr lang="en-US" sz="2000" dirty="0" smtClean="0">
                <a:latin typeface="Tahoma" pitchFamily="34" charset="0"/>
              </a:rPr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interval I, dan f(x) dikatakan </a:t>
            </a:r>
            <a:r>
              <a:rPr lang="id-ID" sz="2000" b="1" dirty="0" smtClean="0">
                <a:latin typeface="Tahoma" pitchFamily="34" charset="0"/>
              </a:rPr>
              <a:t>cekung kebawah</a:t>
            </a:r>
            <a:r>
              <a:rPr lang="id-ID" sz="2000" dirty="0" smtClean="0">
                <a:latin typeface="Tahoma" pitchFamily="34" charset="0"/>
              </a:rPr>
              <a:t> pada interval I bila        </a:t>
            </a:r>
            <a:endParaRPr lang="en-US" sz="2000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Tahoma" pitchFamily="34" charset="0"/>
              </a:rPr>
              <a:t>t</a:t>
            </a:r>
            <a:r>
              <a:rPr lang="id-ID" sz="2000" dirty="0" smtClean="0">
                <a:latin typeface="Tahoma" pitchFamily="34" charset="0"/>
              </a:rPr>
              <a:t>uru</a:t>
            </a:r>
            <a:r>
              <a:rPr lang="en-US" sz="2000" dirty="0" smtClean="0">
                <a:latin typeface="Tahoma" pitchFamily="34" charset="0"/>
              </a:rPr>
              <a:t>n </a:t>
            </a:r>
            <a:r>
              <a:rPr lang="id-ID" sz="2000" dirty="0" smtClean="0">
                <a:latin typeface="Tahoma" pitchFamily="34" charset="0"/>
              </a:rPr>
              <a:t>pada interval I.</a:t>
            </a:r>
            <a:endParaRPr lang="id-ID" sz="20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b="1" dirty="0" smtClean="0">
                <a:solidFill>
                  <a:srgbClr val="FF3399"/>
                </a:solidFill>
                <a:latin typeface="Tahoma" pitchFamily="34" charset="0"/>
              </a:rPr>
              <a:t>Teorema 5.6</a:t>
            </a:r>
            <a:r>
              <a:rPr lang="id-ID" sz="2000" b="1" dirty="0" smtClean="0">
                <a:latin typeface="Tahoma" pitchFamily="34" charset="0"/>
              </a:rPr>
              <a:t>  Uji turunan kedua untuk kecekungan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id-ID" sz="2000" dirty="0" smtClean="0">
                <a:latin typeface="Tahoma" pitchFamily="34" charset="0"/>
              </a:rPr>
              <a:t>Jika                           </a:t>
            </a:r>
            <a:r>
              <a:rPr lang="en-US" sz="2000" dirty="0" smtClean="0">
                <a:latin typeface="Tahoma" pitchFamily="34" charset="0"/>
              </a:rPr>
              <a:t>    </a:t>
            </a:r>
            <a:r>
              <a:rPr lang="id-ID" sz="2000" dirty="0" smtClean="0">
                <a:latin typeface="Tahoma" pitchFamily="34" charset="0"/>
              </a:rPr>
              <a:t>,</a:t>
            </a:r>
            <a:r>
              <a:rPr lang="en-US" sz="2000" dirty="0" smtClean="0">
                <a:latin typeface="Tahoma" pitchFamily="34" charset="0"/>
              </a:rPr>
              <a:t> </a:t>
            </a:r>
            <a:r>
              <a:rPr lang="id-ID" sz="2000" dirty="0" smtClean="0">
                <a:latin typeface="Tahoma" pitchFamily="34" charset="0"/>
              </a:rPr>
              <a:t>maka </a:t>
            </a:r>
            <a:r>
              <a:rPr lang="id-ID" sz="2000" i="1" dirty="0" smtClean="0">
                <a:latin typeface="Tahoma" pitchFamily="34" charset="0"/>
              </a:rPr>
              <a:t>f </a:t>
            </a:r>
            <a:r>
              <a:rPr lang="id-ID" sz="2000" dirty="0" smtClean="0">
                <a:latin typeface="Tahoma" pitchFamily="34" charset="0"/>
              </a:rPr>
              <a:t>cekung ke atas pada I.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id-ID" sz="2000" dirty="0" smtClean="0">
                <a:latin typeface="Tahoma" pitchFamily="34" charset="0"/>
              </a:rPr>
              <a:t>Jika                          </a:t>
            </a:r>
            <a:r>
              <a:rPr lang="en-US" sz="2000" dirty="0" smtClean="0">
                <a:latin typeface="Tahoma" pitchFamily="34" charset="0"/>
              </a:rPr>
              <a:t>     </a:t>
            </a:r>
            <a:r>
              <a:rPr lang="id-ID" sz="2000" dirty="0" smtClean="0">
                <a:latin typeface="Tahoma" pitchFamily="34" charset="0"/>
              </a:rPr>
              <a:t>, maka </a:t>
            </a:r>
            <a:r>
              <a:rPr lang="id-ID" sz="2000" i="1" dirty="0" smtClean="0">
                <a:latin typeface="Tahoma" pitchFamily="34" charset="0"/>
              </a:rPr>
              <a:t>f</a:t>
            </a:r>
            <a:r>
              <a:rPr lang="id-ID" sz="2000" dirty="0" smtClean="0">
                <a:latin typeface="Tahoma" pitchFamily="34" charset="0"/>
              </a:rPr>
              <a:t> cekung ke bawah pada I.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endParaRPr lang="id-ID" sz="20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endParaRPr lang="id-ID" dirty="0" smtClean="0"/>
          </a:p>
        </p:txBody>
      </p:sp>
      <p:sp>
        <p:nvSpPr>
          <p:cNvPr id="16393" name="Rectangle 5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3368794"/>
              </p:ext>
            </p:extLst>
          </p:nvPr>
        </p:nvGraphicFramePr>
        <p:xfrm>
          <a:off x="8190034" y="4451350"/>
          <a:ext cx="649166" cy="349250"/>
        </p:xfrm>
        <a:graphic>
          <a:graphicData uri="http://schemas.openxmlformats.org/presentationml/2006/ole">
            <p:oleObj spid="_x0000_s17490" name="Equation" r:id="rId4" imgW="368140" imgH="203112" progId="Equation.3">
              <p:embed/>
            </p:oleObj>
          </a:graphicData>
        </a:graphic>
      </p:graphicFrame>
      <p:sp>
        <p:nvSpPr>
          <p:cNvPr id="16394" name="Rectangle 6"/>
          <p:cNvSpPr>
            <a:spLocks noChangeArrowheads="1"/>
          </p:cNvSpPr>
          <p:nvPr/>
        </p:nvSpPr>
        <p:spPr bwMode="auto">
          <a:xfrm>
            <a:off x="0" y="1031467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6395" name="Rectangle 8"/>
          <p:cNvSpPr>
            <a:spLocks noChangeArrowheads="1"/>
          </p:cNvSpPr>
          <p:nvPr/>
        </p:nvSpPr>
        <p:spPr bwMode="auto">
          <a:xfrm>
            <a:off x="4385895" y="3597175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08028284"/>
              </p:ext>
            </p:extLst>
          </p:nvPr>
        </p:nvGraphicFramePr>
        <p:xfrm>
          <a:off x="7156537" y="4055003"/>
          <a:ext cx="649165" cy="349250"/>
        </p:xfrm>
        <a:graphic>
          <a:graphicData uri="http://schemas.openxmlformats.org/presentationml/2006/ole">
            <p:oleObj spid="_x0000_s17491" name="Equation" r:id="rId5" imgW="368140" imgH="203112" progId="Equation.3">
              <p:embed/>
            </p:oleObj>
          </a:graphicData>
        </a:graphic>
      </p:graphicFrame>
      <p:sp>
        <p:nvSpPr>
          <p:cNvPr id="16396" name="Rectangle 9"/>
          <p:cNvSpPr>
            <a:spLocks noChangeArrowheads="1"/>
          </p:cNvSpPr>
          <p:nvPr/>
        </p:nvSpPr>
        <p:spPr bwMode="auto">
          <a:xfrm>
            <a:off x="4385897" y="3513238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6397" name="Rectangle 11"/>
          <p:cNvSpPr>
            <a:spLocks noChangeArrowheads="1"/>
          </p:cNvSpPr>
          <p:nvPr/>
        </p:nvSpPr>
        <p:spPr bwMode="auto">
          <a:xfrm>
            <a:off x="4015155" y="3597175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25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16383077"/>
              </p:ext>
            </p:extLst>
          </p:nvPr>
        </p:nvGraphicFramePr>
        <p:xfrm>
          <a:off x="1798027" y="5671889"/>
          <a:ext cx="2088173" cy="373063"/>
        </p:xfrm>
        <a:graphic>
          <a:graphicData uri="http://schemas.openxmlformats.org/presentationml/2006/ole">
            <p:oleObj spid="_x0000_s17492" name="Equation" r:id="rId6" imgW="1117115" imgH="203112" progId="Equation.3">
              <p:embed/>
            </p:oleObj>
          </a:graphicData>
        </a:graphic>
      </p:graphicFrame>
      <p:sp>
        <p:nvSpPr>
          <p:cNvPr id="16398" name="Rectangle 12"/>
          <p:cNvSpPr>
            <a:spLocks noChangeArrowheads="1"/>
          </p:cNvSpPr>
          <p:nvPr/>
        </p:nvSpPr>
        <p:spPr bwMode="auto">
          <a:xfrm>
            <a:off x="4015154" y="3513238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6399" name="Rectangle 14"/>
          <p:cNvSpPr>
            <a:spLocks noChangeArrowheads="1"/>
          </p:cNvSpPr>
          <p:nvPr/>
        </p:nvSpPr>
        <p:spPr bwMode="auto">
          <a:xfrm>
            <a:off x="4015155" y="3597175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76421894"/>
              </p:ext>
            </p:extLst>
          </p:nvPr>
        </p:nvGraphicFramePr>
        <p:xfrm>
          <a:off x="1859214" y="6103937"/>
          <a:ext cx="1935773" cy="373063"/>
        </p:xfrm>
        <a:graphic>
          <a:graphicData uri="http://schemas.openxmlformats.org/presentationml/2006/ole">
            <p:oleObj spid="_x0000_s17493" name="Equation" r:id="rId7" imgW="1040948" imgH="203112" progId="Equation.3">
              <p:embed/>
            </p:oleObj>
          </a:graphicData>
        </a:graphic>
      </p:graphicFrame>
      <p:sp>
        <p:nvSpPr>
          <p:cNvPr id="16400" name="Rectangle 15"/>
          <p:cNvSpPr>
            <a:spLocks noChangeArrowheads="1"/>
          </p:cNvSpPr>
          <p:nvPr/>
        </p:nvSpPr>
        <p:spPr bwMode="auto">
          <a:xfrm>
            <a:off x="4015154" y="3513238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6401" name="Rectangle 18"/>
          <p:cNvSpPr>
            <a:spLocks noChangeArrowheads="1"/>
          </p:cNvSpPr>
          <p:nvPr/>
        </p:nvSpPr>
        <p:spPr bwMode="auto">
          <a:xfrm>
            <a:off x="4252547" y="3582887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6402" name="Rectangle 19"/>
          <p:cNvSpPr>
            <a:spLocks noChangeArrowheads="1"/>
          </p:cNvSpPr>
          <p:nvPr/>
        </p:nvSpPr>
        <p:spPr bwMode="auto">
          <a:xfrm>
            <a:off x="4252547" y="3527525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6403" name="Rectangle 24"/>
          <p:cNvSpPr>
            <a:spLocks noChangeArrowheads="1"/>
          </p:cNvSpPr>
          <p:nvPr/>
        </p:nvSpPr>
        <p:spPr bwMode="auto">
          <a:xfrm>
            <a:off x="4479638" y="359306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1068266" y="3401498"/>
            <a:ext cx="33062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Grafik fungsi cekung keatas</a:t>
            </a:r>
          </a:p>
        </p:txBody>
      </p:sp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4637947" y="3411023"/>
            <a:ext cx="3576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Grafik fungsi cekung kebawah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983277" y="1558409"/>
            <a:ext cx="2740269" cy="1924050"/>
            <a:chOff x="671" y="630"/>
            <a:chExt cx="1870" cy="1212"/>
          </a:xfrm>
        </p:grpSpPr>
        <p:sp>
          <p:nvSpPr>
            <p:cNvPr id="16414" name="Line 28"/>
            <p:cNvSpPr>
              <a:spLocks noChangeShapeType="1"/>
            </p:cNvSpPr>
            <p:nvPr/>
          </p:nvSpPr>
          <p:spPr bwMode="auto">
            <a:xfrm>
              <a:off x="1170" y="754"/>
              <a:ext cx="0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Line 29"/>
            <p:cNvSpPr>
              <a:spLocks noChangeShapeType="1"/>
            </p:cNvSpPr>
            <p:nvPr/>
          </p:nvSpPr>
          <p:spPr bwMode="auto">
            <a:xfrm>
              <a:off x="671" y="1344"/>
              <a:ext cx="18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33"/>
            <p:cNvSpPr>
              <a:spLocks/>
            </p:cNvSpPr>
            <p:nvPr/>
          </p:nvSpPr>
          <p:spPr bwMode="auto">
            <a:xfrm>
              <a:off x="1306" y="755"/>
              <a:ext cx="635" cy="498"/>
            </a:xfrm>
            <a:custGeom>
              <a:avLst/>
              <a:gdLst>
                <a:gd name="T0" fmla="*/ 0 w 635"/>
                <a:gd name="T1" fmla="*/ 498 h 498"/>
                <a:gd name="T2" fmla="*/ 453 w 635"/>
                <a:gd name="T3" fmla="*/ 408 h 498"/>
                <a:gd name="T4" fmla="*/ 635 w 635"/>
                <a:gd name="T5" fmla="*/ 0 h 498"/>
                <a:gd name="T6" fmla="*/ 0 60000 65536"/>
                <a:gd name="T7" fmla="*/ 0 60000 65536"/>
                <a:gd name="T8" fmla="*/ 0 60000 65536"/>
                <a:gd name="T9" fmla="*/ 0 w 635"/>
                <a:gd name="T10" fmla="*/ 0 h 498"/>
                <a:gd name="T11" fmla="*/ 635 w 635"/>
                <a:gd name="T12" fmla="*/ 498 h 4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" h="498">
                  <a:moveTo>
                    <a:pt x="0" y="498"/>
                  </a:moveTo>
                  <a:cubicBezTo>
                    <a:pt x="173" y="494"/>
                    <a:pt x="347" y="491"/>
                    <a:pt x="453" y="408"/>
                  </a:cubicBezTo>
                  <a:cubicBezTo>
                    <a:pt x="559" y="325"/>
                    <a:pt x="605" y="68"/>
                    <a:pt x="63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Text Box 37"/>
            <p:cNvSpPr txBox="1">
              <a:spLocks noChangeArrowheads="1"/>
            </p:cNvSpPr>
            <p:nvPr/>
          </p:nvSpPr>
          <p:spPr bwMode="auto">
            <a:xfrm>
              <a:off x="2336" y="1265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 dirty="0">
                  <a:latin typeface="Arial" charset="0"/>
                </a:rPr>
                <a:t>x</a:t>
              </a:r>
            </a:p>
          </p:txBody>
        </p:sp>
        <p:sp>
          <p:nvSpPr>
            <p:cNvPr id="16418" name="Text Box 38"/>
            <p:cNvSpPr txBox="1">
              <a:spLocks noChangeArrowheads="1"/>
            </p:cNvSpPr>
            <p:nvPr/>
          </p:nvSpPr>
          <p:spPr bwMode="auto">
            <a:xfrm>
              <a:off x="975" y="630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y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4372713" y="1415534"/>
            <a:ext cx="3140320" cy="1995488"/>
            <a:chOff x="2984" y="540"/>
            <a:chExt cx="2143" cy="1257"/>
          </a:xfrm>
        </p:grpSpPr>
        <p:sp>
          <p:nvSpPr>
            <p:cNvPr id="16409" name="Line 30"/>
            <p:cNvSpPr>
              <a:spLocks noChangeShapeType="1"/>
            </p:cNvSpPr>
            <p:nvPr/>
          </p:nvSpPr>
          <p:spPr bwMode="auto">
            <a:xfrm>
              <a:off x="3846" y="66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Line 31"/>
            <p:cNvSpPr>
              <a:spLocks noChangeShapeType="1"/>
            </p:cNvSpPr>
            <p:nvPr/>
          </p:nvSpPr>
          <p:spPr bwMode="auto">
            <a:xfrm>
              <a:off x="2984" y="1298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34"/>
            <p:cNvSpPr>
              <a:spLocks/>
            </p:cNvSpPr>
            <p:nvPr/>
          </p:nvSpPr>
          <p:spPr bwMode="auto">
            <a:xfrm>
              <a:off x="3982" y="800"/>
              <a:ext cx="816" cy="453"/>
            </a:xfrm>
            <a:custGeom>
              <a:avLst/>
              <a:gdLst>
                <a:gd name="T0" fmla="*/ 0 w 816"/>
                <a:gd name="T1" fmla="*/ 453 h 453"/>
                <a:gd name="T2" fmla="*/ 227 w 816"/>
                <a:gd name="T3" fmla="*/ 91 h 453"/>
                <a:gd name="T4" fmla="*/ 816 w 816"/>
                <a:gd name="T5" fmla="*/ 0 h 453"/>
                <a:gd name="T6" fmla="*/ 0 60000 65536"/>
                <a:gd name="T7" fmla="*/ 0 60000 65536"/>
                <a:gd name="T8" fmla="*/ 0 60000 65536"/>
                <a:gd name="T9" fmla="*/ 0 w 816"/>
                <a:gd name="T10" fmla="*/ 0 h 453"/>
                <a:gd name="T11" fmla="*/ 816 w 816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6" h="453">
                  <a:moveTo>
                    <a:pt x="0" y="453"/>
                  </a:moveTo>
                  <a:cubicBezTo>
                    <a:pt x="45" y="309"/>
                    <a:pt x="91" y="166"/>
                    <a:pt x="227" y="91"/>
                  </a:cubicBezTo>
                  <a:cubicBezTo>
                    <a:pt x="363" y="16"/>
                    <a:pt x="589" y="8"/>
                    <a:pt x="816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Text Box 39"/>
            <p:cNvSpPr txBox="1">
              <a:spLocks noChangeArrowheads="1"/>
            </p:cNvSpPr>
            <p:nvPr/>
          </p:nvSpPr>
          <p:spPr bwMode="auto">
            <a:xfrm>
              <a:off x="4922" y="1265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x</a:t>
              </a:r>
            </a:p>
          </p:txBody>
        </p:sp>
        <p:sp>
          <p:nvSpPr>
            <p:cNvPr id="16413" name="Text Box 40"/>
            <p:cNvSpPr txBox="1">
              <a:spLocks noChangeArrowheads="1"/>
            </p:cNvSpPr>
            <p:nvPr/>
          </p:nvSpPr>
          <p:spPr bwMode="auto">
            <a:xfrm>
              <a:off x="3652" y="540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sz="1800">
                  <a:latin typeface="Arial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4293691724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63" grpId="0"/>
      <p:bldP spid="225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nip Diagonal Corner Rectangle 2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nip Diagonal Corner Rectangle 2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1741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3059A76-30D9-4407-9178-12525A46139A}" type="slidenum">
              <a:rPr lang="en-US" sz="1200" smtClean="0">
                <a:latin typeface="Arial Black" pitchFamily="34" charset="0"/>
              </a:rPr>
              <a:pPr algn="r" eaLnBrk="1" hangingPunct="1"/>
              <a:t>22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266246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xmlns="" val="704940491"/>
              </p:ext>
            </p:extLst>
          </p:nvPr>
        </p:nvGraphicFramePr>
        <p:xfrm>
          <a:off x="6672920" y="893918"/>
          <a:ext cx="1926981" cy="725487"/>
        </p:xfrm>
        <a:graphic>
          <a:graphicData uri="http://schemas.openxmlformats.org/presentationml/2006/ole">
            <p:oleObj spid="_x0000_s18594" name="Equation" r:id="rId4" imgW="1206500" imgH="419100" progId="Equation.3">
              <p:embed/>
            </p:oleObj>
          </a:graphicData>
        </a:graphic>
      </p:graphicFrame>
      <p:sp>
        <p:nvSpPr>
          <p:cNvPr id="266250" name="Text Box 10"/>
          <p:cNvSpPr txBox="1">
            <a:spLocks noChangeArrowheads="1"/>
          </p:cNvSpPr>
          <p:nvPr/>
        </p:nvSpPr>
        <p:spPr bwMode="auto">
          <a:xfrm>
            <a:off x="1917536" y="1025830"/>
            <a:ext cx="47207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selang</a:t>
            </a:r>
            <a:r>
              <a:rPr lang="en-US" sz="2400" dirty="0"/>
              <a:t> </a:t>
            </a:r>
            <a:r>
              <a:rPr lang="en-US" sz="2400" dirty="0" err="1"/>
              <a:t>kecekungan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endParaRPr lang="en-US" sz="2400" dirty="0"/>
          </a:p>
        </p:txBody>
      </p:sp>
      <p:sp>
        <p:nvSpPr>
          <p:cNvPr id="266251" name="Text Box 11"/>
          <p:cNvSpPr txBox="1">
            <a:spLocks noChangeArrowheads="1"/>
          </p:cNvSpPr>
          <p:nvPr/>
        </p:nvSpPr>
        <p:spPr bwMode="auto">
          <a:xfrm>
            <a:off x="799133" y="1022061"/>
            <a:ext cx="11063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contoh</a:t>
            </a:r>
            <a:endParaRPr lang="en-US" sz="2400" dirty="0"/>
          </a:p>
        </p:txBody>
      </p:sp>
      <p:sp>
        <p:nvSpPr>
          <p:cNvPr id="266252" name="Text Box 12"/>
          <p:cNvSpPr txBox="1">
            <a:spLocks noChangeArrowheads="1"/>
          </p:cNvSpPr>
          <p:nvPr/>
        </p:nvSpPr>
        <p:spPr bwMode="auto">
          <a:xfrm>
            <a:off x="971600" y="1556679"/>
            <a:ext cx="1061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Jawab</a:t>
            </a:r>
            <a:r>
              <a:rPr lang="en-US" dirty="0"/>
              <a:t> :</a:t>
            </a:r>
          </a:p>
        </p:txBody>
      </p:sp>
      <p:graphicFrame>
        <p:nvGraphicFramePr>
          <p:cNvPr id="266253" name="Object 1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xmlns="" val="2999089420"/>
              </p:ext>
            </p:extLst>
          </p:nvPr>
        </p:nvGraphicFramePr>
        <p:xfrm>
          <a:off x="1187624" y="1844824"/>
          <a:ext cx="1661746" cy="787400"/>
        </p:xfrm>
        <a:graphic>
          <a:graphicData uri="http://schemas.openxmlformats.org/presentationml/2006/ole">
            <p:oleObj spid="_x0000_s18595" name="Equation" r:id="rId5" imgW="1015559" imgH="444307" progId="Equation.3">
              <p:embed/>
            </p:oleObj>
          </a:graphicData>
        </a:graphic>
      </p:graphicFrame>
      <p:graphicFrame>
        <p:nvGraphicFramePr>
          <p:cNvPr id="2662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55793780"/>
              </p:ext>
            </p:extLst>
          </p:nvPr>
        </p:nvGraphicFramePr>
        <p:xfrm>
          <a:off x="1187624" y="2751653"/>
          <a:ext cx="4785946" cy="860425"/>
        </p:xfrm>
        <a:graphic>
          <a:graphicData uri="http://schemas.openxmlformats.org/presentationml/2006/ole">
            <p:oleObj spid="_x0000_s18596" name="Equation" r:id="rId6" imgW="2755900" imgH="457200" progId="Equation.3">
              <p:embed/>
            </p:oleObj>
          </a:graphicData>
        </a:graphic>
      </p:graphicFrame>
      <p:graphicFrame>
        <p:nvGraphicFramePr>
          <p:cNvPr id="2662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83125536"/>
              </p:ext>
            </p:extLst>
          </p:nvPr>
        </p:nvGraphicFramePr>
        <p:xfrm>
          <a:off x="1833607" y="3695423"/>
          <a:ext cx="4720004" cy="989012"/>
        </p:xfrm>
        <a:graphic>
          <a:graphicData uri="http://schemas.openxmlformats.org/presentationml/2006/ole">
            <p:oleObj spid="_x0000_s18597" name="Equation" r:id="rId7" imgW="2362200" imgH="457200" progId="Equation.3">
              <p:embed/>
            </p:oleObj>
          </a:graphicData>
        </a:graphic>
      </p:graphicFrame>
      <p:graphicFrame>
        <p:nvGraphicFramePr>
          <p:cNvPr id="2662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86916639"/>
              </p:ext>
            </p:extLst>
          </p:nvPr>
        </p:nvGraphicFramePr>
        <p:xfrm>
          <a:off x="1872216" y="4710692"/>
          <a:ext cx="2990850" cy="927100"/>
        </p:xfrm>
        <a:graphic>
          <a:graphicData uri="http://schemas.openxmlformats.org/presentationml/2006/ole">
            <p:oleObj spid="_x0000_s18598" name="Equation" r:id="rId8" imgW="1600200" imgH="457200" progId="Equation.3">
              <p:embed/>
            </p:oleObj>
          </a:graphicData>
        </a:graphic>
      </p:graphicFrame>
      <p:graphicFrame>
        <p:nvGraphicFramePr>
          <p:cNvPr id="2662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48041227"/>
              </p:ext>
            </p:extLst>
          </p:nvPr>
        </p:nvGraphicFramePr>
        <p:xfrm>
          <a:off x="4932040" y="4703044"/>
          <a:ext cx="1261696" cy="866775"/>
        </p:xfrm>
        <a:graphic>
          <a:graphicData uri="http://schemas.openxmlformats.org/presentationml/2006/ole">
            <p:oleObj spid="_x0000_s18599" name="Equation" r:id="rId9" imgW="672808" imgH="431613" progId="Equation.3">
              <p:embed/>
            </p:oleObj>
          </a:graphicData>
        </a:graphic>
      </p:graphicFrame>
      <p:sp>
        <p:nvSpPr>
          <p:cNvPr id="17423" name="Rectangle 20"/>
          <p:cNvSpPr>
            <a:spLocks noChangeArrowheads="1"/>
          </p:cNvSpPr>
          <p:nvPr/>
        </p:nvSpPr>
        <p:spPr bwMode="auto">
          <a:xfrm>
            <a:off x="4479638" y="2883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7424" name="Rectangle 21"/>
          <p:cNvSpPr>
            <a:spLocks noChangeArrowheads="1"/>
          </p:cNvSpPr>
          <p:nvPr/>
        </p:nvSpPr>
        <p:spPr bwMode="auto">
          <a:xfrm>
            <a:off x="4479638" y="28125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7425" name="Rectangle 22"/>
          <p:cNvSpPr>
            <a:spLocks noChangeArrowheads="1"/>
          </p:cNvSpPr>
          <p:nvPr/>
        </p:nvSpPr>
        <p:spPr bwMode="auto">
          <a:xfrm>
            <a:off x="4479638" y="32586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7426" name="Rectangle 23"/>
          <p:cNvSpPr>
            <a:spLocks noChangeArrowheads="1"/>
          </p:cNvSpPr>
          <p:nvPr/>
        </p:nvSpPr>
        <p:spPr bwMode="auto">
          <a:xfrm>
            <a:off x="4479638" y="38205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66264" name="Text Box 24"/>
          <p:cNvSpPr txBox="1">
            <a:spLocks noChangeArrowheads="1"/>
          </p:cNvSpPr>
          <p:nvPr/>
        </p:nvSpPr>
        <p:spPr bwMode="auto">
          <a:xfrm>
            <a:off x="1352330" y="5651501"/>
            <a:ext cx="34209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Grafik</a:t>
            </a:r>
            <a:r>
              <a:rPr lang="en-US" dirty="0"/>
              <a:t> f </a:t>
            </a:r>
            <a:r>
              <a:rPr lang="en-US" dirty="0" err="1"/>
              <a:t>cekung</a:t>
            </a:r>
            <a:r>
              <a:rPr lang="en-US" dirty="0"/>
              <a:t> </a:t>
            </a:r>
            <a:r>
              <a:rPr lang="en-US" dirty="0" err="1"/>
              <a:t>keatas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</a:p>
        </p:txBody>
      </p:sp>
      <p:sp>
        <p:nvSpPr>
          <p:cNvPr id="17428" name="Rectangle 26"/>
          <p:cNvSpPr>
            <a:spLocks noChangeArrowheads="1"/>
          </p:cNvSpPr>
          <p:nvPr/>
        </p:nvSpPr>
        <p:spPr bwMode="auto">
          <a:xfrm>
            <a:off x="4479638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662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81120627"/>
              </p:ext>
            </p:extLst>
          </p:nvPr>
        </p:nvGraphicFramePr>
        <p:xfrm>
          <a:off x="4664369" y="5637792"/>
          <a:ext cx="665285" cy="368300"/>
        </p:xfrm>
        <a:graphic>
          <a:graphicData uri="http://schemas.openxmlformats.org/presentationml/2006/ole">
            <p:oleObj spid="_x0000_s18600" name="Equation" r:id="rId10" imgW="393529" imgH="203112" progId="Equation.3">
              <p:embed/>
            </p:oleObj>
          </a:graphicData>
        </a:graphic>
      </p:graphicFrame>
      <p:sp>
        <p:nvSpPr>
          <p:cNvPr id="266267" name="Text Box 27"/>
          <p:cNvSpPr txBox="1">
            <a:spLocks noChangeArrowheads="1"/>
          </p:cNvSpPr>
          <p:nvPr/>
        </p:nvSpPr>
        <p:spPr bwMode="auto">
          <a:xfrm>
            <a:off x="5364088" y="5637792"/>
            <a:ext cx="3203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dan cekung kebawah pada</a:t>
            </a:r>
          </a:p>
        </p:txBody>
      </p:sp>
      <p:sp>
        <p:nvSpPr>
          <p:cNvPr id="266268" name="Text Box 28"/>
          <p:cNvSpPr txBox="1">
            <a:spLocks noChangeArrowheads="1"/>
          </p:cNvSpPr>
          <p:nvPr/>
        </p:nvSpPr>
        <p:spPr bwMode="auto">
          <a:xfrm>
            <a:off x="1338119" y="6051611"/>
            <a:ext cx="990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selang</a:t>
            </a:r>
            <a:r>
              <a:rPr lang="en-US" dirty="0"/>
              <a:t> </a:t>
            </a:r>
          </a:p>
        </p:txBody>
      </p:sp>
      <p:sp>
        <p:nvSpPr>
          <p:cNvPr id="17431" name="Rectangle 30"/>
          <p:cNvSpPr>
            <a:spLocks noChangeArrowheads="1"/>
          </p:cNvSpPr>
          <p:nvPr/>
        </p:nvSpPr>
        <p:spPr bwMode="auto">
          <a:xfrm>
            <a:off x="4479638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6626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26821020"/>
              </p:ext>
            </p:extLst>
          </p:nvPr>
        </p:nvGraphicFramePr>
        <p:xfrm>
          <a:off x="2343514" y="6051611"/>
          <a:ext cx="729762" cy="346075"/>
        </p:xfrm>
        <a:graphic>
          <a:graphicData uri="http://schemas.openxmlformats.org/presentationml/2006/ole">
            <p:oleObj spid="_x0000_s18601" name="Equation" r:id="rId11" imgW="457002" imgH="203112" progId="Equation.3">
              <p:embed/>
            </p:oleObj>
          </a:graphicData>
        </a:graphic>
      </p:graphicFrame>
      <p:sp>
        <p:nvSpPr>
          <p:cNvPr id="2" name="Rectangle 1"/>
          <p:cNvSpPr/>
          <p:nvPr/>
        </p:nvSpPr>
        <p:spPr>
          <a:xfrm>
            <a:off x="8244408" y="0"/>
            <a:ext cx="899592" cy="7647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4714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6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6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6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6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6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6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6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6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6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6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6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6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0" grpId="0"/>
      <p:bldP spid="266251" grpId="0"/>
      <p:bldP spid="266252" grpId="0"/>
      <p:bldP spid="266264" grpId="0"/>
      <p:bldP spid="266267" grpId="0"/>
      <p:bldP spid="2662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EE3A4407-2837-44D5-A3AA-4BCA59321406}" type="slidenum">
              <a:rPr lang="en-US" sz="1200" smtClean="0">
                <a:latin typeface="Arial Black" pitchFamily="34" charset="0"/>
              </a:rPr>
              <a:pPr algn="r" eaLnBrk="1" hangingPunct="1"/>
              <a:t>23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3931" y="1436688"/>
            <a:ext cx="7844204" cy="504031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 b="1" dirty="0" smtClean="0">
                <a:solidFill>
                  <a:srgbClr val="3333FF"/>
                </a:solidFill>
              </a:rPr>
              <a:t>F.</a:t>
            </a:r>
            <a:r>
              <a:rPr lang="en-US" sz="2400" dirty="0" smtClean="0">
                <a:solidFill>
                  <a:srgbClr val="3333FF"/>
                </a:solidFill>
              </a:rPr>
              <a:t> </a:t>
            </a:r>
            <a:r>
              <a:rPr lang="id-ID" sz="2400" b="1" dirty="0" smtClean="0">
                <a:solidFill>
                  <a:srgbClr val="3333FF"/>
                </a:solidFill>
              </a:rPr>
              <a:t>Titik belok</a:t>
            </a:r>
          </a:p>
          <a:p>
            <a:pPr eaLnBrk="1" hangingPunct="1">
              <a:buNone/>
            </a:pPr>
            <a:endParaRPr lang="id-ID" sz="2400" b="1" dirty="0" smtClean="0">
              <a:solidFill>
                <a:srgbClr val="3333FF"/>
              </a:solidFill>
            </a:endParaRPr>
          </a:p>
          <a:p>
            <a:pPr eaLnBrk="1" hangingPunct="1"/>
            <a:r>
              <a:rPr lang="id-ID" sz="2400" b="1" dirty="0" smtClean="0">
                <a:solidFill>
                  <a:srgbClr val="FF3399"/>
                </a:solidFill>
              </a:rPr>
              <a:t>Definisi 5.4</a:t>
            </a:r>
            <a:r>
              <a:rPr lang="id-ID" sz="2400" b="1" dirty="0" smtClean="0"/>
              <a:t>  </a:t>
            </a:r>
            <a:r>
              <a:rPr lang="id-ID" sz="2400" dirty="0" smtClean="0"/>
              <a:t>Misal </a:t>
            </a:r>
            <a:r>
              <a:rPr lang="id-ID" sz="2400" i="1" dirty="0" smtClean="0"/>
              <a:t>f</a:t>
            </a:r>
            <a:r>
              <a:rPr lang="id-ID" sz="2400" dirty="0" smtClean="0"/>
              <a:t>(</a:t>
            </a:r>
            <a:r>
              <a:rPr lang="id-ID" sz="2400" i="1" dirty="0" smtClean="0"/>
              <a:t>x</a:t>
            </a:r>
            <a:r>
              <a:rPr lang="id-ID" sz="2400" dirty="0" smtClean="0"/>
              <a:t>) kontinu di </a:t>
            </a:r>
            <a:r>
              <a:rPr lang="id-ID" sz="2400" i="1" dirty="0" smtClean="0"/>
              <a:t>x</a:t>
            </a:r>
            <a:r>
              <a:rPr lang="id-ID" sz="2400" dirty="0" smtClean="0"/>
              <a:t> = </a:t>
            </a:r>
            <a:r>
              <a:rPr lang="id-ID" sz="2400" i="1" dirty="0" smtClean="0"/>
              <a:t>b</a:t>
            </a:r>
            <a:r>
              <a:rPr lang="id-ID" sz="2400" dirty="0" smtClean="0"/>
              <a:t>. Maka (</a:t>
            </a:r>
            <a:r>
              <a:rPr lang="id-ID" sz="2400" i="1" dirty="0" smtClean="0"/>
              <a:t>b</a:t>
            </a:r>
            <a:r>
              <a:rPr lang="id-ID" sz="2400" dirty="0" smtClean="0"/>
              <a:t>,</a:t>
            </a:r>
            <a:r>
              <a:rPr lang="id-ID" sz="2400" i="1" dirty="0" smtClean="0"/>
              <a:t>f</a:t>
            </a:r>
            <a:r>
              <a:rPr lang="id-ID" sz="2400" dirty="0" smtClean="0"/>
              <a:t>(</a:t>
            </a:r>
            <a:r>
              <a:rPr lang="id-ID" sz="2400" i="1" dirty="0" smtClean="0"/>
              <a:t>b</a:t>
            </a:r>
            <a:r>
              <a:rPr lang="id-ID" sz="2400" dirty="0" smtClean="0"/>
              <a:t>)) disebut </a:t>
            </a:r>
            <a:r>
              <a:rPr lang="id-ID" sz="2400" b="1" u="sng" dirty="0" smtClean="0"/>
              <a:t>titik belok</a:t>
            </a:r>
            <a:r>
              <a:rPr lang="id-ID" sz="2400" dirty="0" smtClean="0"/>
              <a:t> dari kurva </a:t>
            </a:r>
            <a:r>
              <a:rPr lang="id-ID" sz="2400" i="1" dirty="0" smtClean="0"/>
              <a:t>f</a:t>
            </a:r>
            <a:r>
              <a:rPr lang="id-ID" sz="2400" dirty="0" smtClean="0"/>
              <a:t>(</a:t>
            </a:r>
            <a:r>
              <a:rPr lang="id-ID" sz="2400" i="1" dirty="0" smtClean="0"/>
              <a:t>x</a:t>
            </a:r>
            <a:r>
              <a:rPr lang="id-ID" sz="2400" dirty="0" smtClean="0"/>
              <a:t>) jika :</a:t>
            </a:r>
          </a:p>
          <a:p>
            <a:pPr eaLnBrk="1" hangingPunct="1">
              <a:buFont typeface="Wingdings" pitchFamily="2" charset="2"/>
              <a:buNone/>
            </a:pPr>
            <a:r>
              <a:rPr lang="id-ID" sz="2400" dirty="0" smtClean="0"/>
              <a:t>   terjadi perubahan kecekungan di </a:t>
            </a:r>
            <a:r>
              <a:rPr lang="id-ID" sz="2400" i="1" dirty="0" smtClean="0"/>
              <a:t>x</a:t>
            </a:r>
            <a:r>
              <a:rPr lang="id-ID" sz="2400" dirty="0" smtClean="0"/>
              <a:t> = </a:t>
            </a:r>
            <a:r>
              <a:rPr lang="id-ID" sz="2400" i="1" dirty="0" smtClean="0"/>
              <a:t>b</a:t>
            </a:r>
            <a:r>
              <a:rPr lang="id-ID" sz="2400" dirty="0" smtClean="0"/>
              <a:t>, yaitu di sebelah</a:t>
            </a:r>
            <a:r>
              <a:rPr lang="en-US" sz="2400" dirty="0" smtClean="0"/>
              <a:t> </a:t>
            </a:r>
            <a:r>
              <a:rPr lang="id-ID" sz="2400" dirty="0" smtClean="0"/>
              <a:t>kiri </a:t>
            </a:r>
            <a:r>
              <a:rPr lang="id-ID" sz="2400" i="1" dirty="0" smtClean="0"/>
              <a:t>x</a:t>
            </a:r>
            <a:r>
              <a:rPr lang="en-US" sz="2400" i="1" dirty="0" smtClean="0"/>
              <a:t> </a:t>
            </a:r>
            <a:r>
              <a:rPr lang="id-ID" sz="2400" dirty="0" smtClean="0"/>
              <a:t>=</a:t>
            </a:r>
            <a:r>
              <a:rPr lang="id-ID" sz="2400" i="1" dirty="0" smtClean="0"/>
              <a:t>b</a:t>
            </a:r>
            <a:r>
              <a:rPr lang="id-ID" sz="2400" dirty="0" smtClean="0"/>
              <a:t>, fungsi </a:t>
            </a:r>
            <a:r>
              <a:rPr lang="id-ID" sz="2400" i="1" dirty="0" smtClean="0"/>
              <a:t>f</a:t>
            </a:r>
            <a:r>
              <a:rPr lang="id-ID" sz="2400" dirty="0" smtClean="0"/>
              <a:t> cekung  ke atas dan di sebela</a:t>
            </a:r>
            <a:r>
              <a:rPr lang="en-US" sz="2400" dirty="0" smtClean="0"/>
              <a:t>h   </a:t>
            </a:r>
            <a:r>
              <a:rPr lang="id-ID" sz="2400" dirty="0" smtClean="0"/>
              <a:t> kanan  </a:t>
            </a:r>
            <a:r>
              <a:rPr lang="id-ID" sz="2400" i="1" dirty="0" smtClean="0"/>
              <a:t>x</a:t>
            </a:r>
            <a:r>
              <a:rPr lang="en-US" sz="2400" i="1" dirty="0" smtClean="0"/>
              <a:t> </a:t>
            </a:r>
            <a:r>
              <a:rPr lang="id-ID" sz="2400" dirty="0" smtClean="0"/>
              <a:t>=</a:t>
            </a:r>
            <a:r>
              <a:rPr lang="id-ID" sz="2400" i="1" dirty="0" smtClean="0"/>
              <a:t>b</a:t>
            </a:r>
            <a:r>
              <a:rPr lang="id-ID" sz="2400" dirty="0" smtClean="0"/>
              <a:t> fungsi </a:t>
            </a:r>
            <a:r>
              <a:rPr lang="id-ID" sz="2400" i="1" dirty="0" smtClean="0"/>
              <a:t>f</a:t>
            </a:r>
            <a:r>
              <a:rPr lang="id-ID" sz="2400" dirty="0" smtClean="0"/>
              <a:t> cekung ke</a:t>
            </a:r>
            <a:r>
              <a:rPr lang="en-US" sz="2400" dirty="0" smtClean="0"/>
              <a:t> </a:t>
            </a:r>
            <a:r>
              <a:rPr lang="id-ID" sz="2400" dirty="0" smtClean="0"/>
              <a:t>bawah atau </a:t>
            </a:r>
            <a:endParaRPr lang="en-US" sz="24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dirty="0" smtClean="0"/>
              <a:t>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id-ID" sz="2400" dirty="0" smtClean="0"/>
              <a:t>sebaliknya</a:t>
            </a:r>
          </a:p>
          <a:p>
            <a:pPr eaLnBrk="1" hangingPunct="1">
              <a:buFont typeface="Wingdings" pitchFamily="2" charset="2"/>
              <a:buNone/>
            </a:pPr>
            <a:endParaRPr lang="en-US" sz="12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i="1" dirty="0" smtClean="0"/>
              <a:t>  </a:t>
            </a:r>
            <a:r>
              <a:rPr lang="id-ID" sz="2400" i="1" dirty="0" smtClean="0"/>
              <a:t>x</a:t>
            </a:r>
            <a:r>
              <a:rPr lang="id-ID" sz="2400" dirty="0" smtClean="0"/>
              <a:t> = </a:t>
            </a:r>
            <a:r>
              <a:rPr lang="id-ID" sz="2400" i="1" dirty="0" smtClean="0"/>
              <a:t>b </a:t>
            </a:r>
            <a:r>
              <a:rPr lang="id-ID" sz="2400" dirty="0" smtClean="0"/>
              <a:t>adalah absis titik belok, jika                atau           tidak</a:t>
            </a:r>
            <a:r>
              <a:rPr lang="en-US" sz="2400" dirty="0" smtClean="0"/>
              <a:t> </a:t>
            </a:r>
            <a:r>
              <a:rPr lang="id-ID" sz="2400" dirty="0" smtClean="0"/>
              <a:t>ada.</a:t>
            </a:r>
          </a:p>
        </p:txBody>
      </p:sp>
      <p:graphicFrame>
        <p:nvGraphicFramePr>
          <p:cNvPr id="23571" name="Object 1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xmlns="" val="1811445250"/>
              </p:ext>
            </p:extLst>
          </p:nvPr>
        </p:nvGraphicFramePr>
        <p:xfrm>
          <a:off x="5436096" y="5468342"/>
          <a:ext cx="1264627" cy="420688"/>
        </p:xfrm>
        <a:graphic>
          <a:graphicData uri="http://schemas.openxmlformats.org/presentationml/2006/ole">
            <p:oleObj spid="_x0000_s19498" name="Equation" r:id="rId3" imgW="660113" imgH="203112" progId="Equation.3">
              <p:embed/>
            </p:oleObj>
          </a:graphicData>
        </a:graphic>
      </p:graphicFrame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1" y="-1180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 sz="1800">
              <a:latin typeface="Arial" charset="0"/>
            </a:endParaRPr>
          </a:p>
        </p:txBody>
      </p:sp>
      <p:sp>
        <p:nvSpPr>
          <p:cNvPr id="18440" name="Rectangle 6"/>
          <p:cNvSpPr>
            <a:spLocks noChangeArrowheads="1"/>
          </p:cNvSpPr>
          <p:nvPr/>
        </p:nvSpPr>
        <p:spPr bwMode="auto">
          <a:xfrm>
            <a:off x="0" y="473183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8441" name="Rectangle 8"/>
          <p:cNvSpPr>
            <a:spLocks noChangeArrowheads="1"/>
          </p:cNvSpPr>
          <p:nvPr/>
        </p:nvSpPr>
        <p:spPr bwMode="auto">
          <a:xfrm>
            <a:off x="4479638" y="3303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-7370" y="-1838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endParaRPr lang="en-US" sz="1800">
              <a:latin typeface="Arial" charset="0"/>
            </a:endParaRPr>
          </a:p>
        </p:txBody>
      </p:sp>
      <p:sp>
        <p:nvSpPr>
          <p:cNvPr id="18443" name="Rectangle 14"/>
          <p:cNvSpPr>
            <a:spLocks noChangeArrowheads="1"/>
          </p:cNvSpPr>
          <p:nvPr/>
        </p:nvSpPr>
        <p:spPr bwMode="auto">
          <a:xfrm>
            <a:off x="181712" y="828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18444" name="Rectangle 15"/>
          <p:cNvSpPr>
            <a:spLocks noChangeArrowheads="1"/>
          </p:cNvSpPr>
          <p:nvPr/>
        </p:nvSpPr>
        <p:spPr bwMode="auto">
          <a:xfrm>
            <a:off x="181712" y="3495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18445" name="Rectangle 16"/>
          <p:cNvSpPr>
            <a:spLocks noChangeArrowheads="1"/>
          </p:cNvSpPr>
          <p:nvPr/>
        </p:nvSpPr>
        <p:spPr bwMode="auto">
          <a:xfrm>
            <a:off x="181712" y="97500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>
              <a:latin typeface="Arial" charset="0"/>
            </a:endParaRPr>
          </a:p>
        </p:txBody>
      </p:sp>
      <p:graphicFrame>
        <p:nvGraphicFramePr>
          <p:cNvPr id="23574" name="Object 22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xmlns="" val="1343817355"/>
              </p:ext>
            </p:extLst>
          </p:nvPr>
        </p:nvGraphicFramePr>
        <p:xfrm>
          <a:off x="7452320" y="5468342"/>
          <a:ext cx="798635" cy="447675"/>
        </p:xfrm>
        <a:graphic>
          <a:graphicData uri="http://schemas.openxmlformats.org/presentationml/2006/ole">
            <p:oleObj spid="_x0000_s19499" name="Equation" r:id="rId4" imgW="393529" imgH="203112" progId="Equation.3">
              <p:embed/>
            </p:oleObj>
          </a:graphicData>
        </a:graphic>
      </p:graphicFrame>
      <p:sp>
        <p:nvSpPr>
          <p:cNvPr id="15" name="Snip Diagonal Corner Rectangle 1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jtk-header-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390806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nip Diagonal Corner Rectangle 2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nip Diagonal Corner Rectangle 2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471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623A577B-D5FB-468E-8DFB-2F187D2391AC}" type="slidenum">
              <a:rPr lang="en-US" sz="1200" smtClean="0">
                <a:latin typeface="Arial Black" pitchFamily="34" charset="0"/>
              </a:rPr>
              <a:pPr algn="r" eaLnBrk="1" hangingPunct="1"/>
              <a:t>24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74436" name="Line 4"/>
          <p:cNvSpPr>
            <a:spLocks noChangeShapeType="1"/>
          </p:cNvSpPr>
          <p:nvPr/>
        </p:nvSpPr>
        <p:spPr bwMode="auto">
          <a:xfrm>
            <a:off x="1581150" y="1319549"/>
            <a:ext cx="0" cy="287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37" name="Line 5"/>
          <p:cNvSpPr>
            <a:spLocks noChangeShapeType="1"/>
          </p:cNvSpPr>
          <p:nvPr/>
        </p:nvSpPr>
        <p:spPr bwMode="auto">
          <a:xfrm>
            <a:off x="383935" y="3407103"/>
            <a:ext cx="39228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46" name="Freeform 14"/>
          <p:cNvSpPr>
            <a:spLocks/>
          </p:cNvSpPr>
          <p:nvPr/>
        </p:nvSpPr>
        <p:spPr bwMode="auto">
          <a:xfrm>
            <a:off x="2045677" y="1967240"/>
            <a:ext cx="2127738" cy="1079500"/>
          </a:xfrm>
          <a:custGeom>
            <a:avLst/>
            <a:gdLst>
              <a:gd name="T0" fmla="*/ 0 w 1452"/>
              <a:gd name="T1" fmla="*/ 2147483647 h 680"/>
              <a:gd name="T2" fmla="*/ 2147483647 w 1452"/>
              <a:gd name="T3" fmla="*/ 2147483647 h 680"/>
              <a:gd name="T4" fmla="*/ 2147483647 w 1452"/>
              <a:gd name="T5" fmla="*/ 2147483647 h 680"/>
              <a:gd name="T6" fmla="*/ 2147483647 w 1452"/>
              <a:gd name="T7" fmla="*/ 0 h 680"/>
              <a:gd name="T8" fmla="*/ 0 60000 65536"/>
              <a:gd name="T9" fmla="*/ 0 60000 65536"/>
              <a:gd name="T10" fmla="*/ 0 60000 65536"/>
              <a:gd name="T11" fmla="*/ 0 60000 65536"/>
              <a:gd name="T12" fmla="*/ 0 w 1452"/>
              <a:gd name="T13" fmla="*/ 0 h 680"/>
              <a:gd name="T14" fmla="*/ 1452 w 1452"/>
              <a:gd name="T15" fmla="*/ 680 h 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2" h="680">
                <a:moveTo>
                  <a:pt x="0" y="680"/>
                </a:moveTo>
                <a:cubicBezTo>
                  <a:pt x="208" y="635"/>
                  <a:pt x="416" y="590"/>
                  <a:pt x="545" y="499"/>
                </a:cubicBezTo>
                <a:cubicBezTo>
                  <a:pt x="674" y="408"/>
                  <a:pt x="620" y="219"/>
                  <a:pt x="771" y="136"/>
                </a:cubicBezTo>
                <a:cubicBezTo>
                  <a:pt x="922" y="53"/>
                  <a:pt x="1331" y="23"/>
                  <a:pt x="145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49" name="Line 17"/>
          <p:cNvSpPr>
            <a:spLocks noChangeShapeType="1"/>
          </p:cNvSpPr>
          <p:nvPr/>
        </p:nvSpPr>
        <p:spPr bwMode="auto">
          <a:xfrm>
            <a:off x="2976197" y="254350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50" name="Line 18"/>
          <p:cNvSpPr>
            <a:spLocks noChangeShapeType="1"/>
          </p:cNvSpPr>
          <p:nvPr/>
        </p:nvSpPr>
        <p:spPr bwMode="auto">
          <a:xfrm flipH="1">
            <a:off x="1581151" y="2543503"/>
            <a:ext cx="13950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51" name="Text Box 19"/>
          <p:cNvSpPr txBox="1">
            <a:spLocks noChangeArrowheads="1"/>
          </p:cNvSpPr>
          <p:nvPr/>
        </p:nvSpPr>
        <p:spPr bwMode="auto">
          <a:xfrm>
            <a:off x="2844313" y="3262641"/>
            <a:ext cx="303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</a:t>
            </a:r>
          </a:p>
        </p:txBody>
      </p:sp>
      <p:sp>
        <p:nvSpPr>
          <p:cNvPr id="274452" name="Text Box 20"/>
          <p:cNvSpPr txBox="1">
            <a:spLocks noChangeArrowheads="1"/>
          </p:cNvSpPr>
          <p:nvPr/>
        </p:nvSpPr>
        <p:spPr bwMode="auto">
          <a:xfrm>
            <a:off x="1163516" y="2245054"/>
            <a:ext cx="5806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f(c)</a:t>
            </a:r>
          </a:p>
        </p:txBody>
      </p:sp>
      <p:sp>
        <p:nvSpPr>
          <p:cNvPr id="274453" name="Text Box 21"/>
          <p:cNvSpPr txBox="1">
            <a:spLocks noChangeArrowheads="1"/>
          </p:cNvSpPr>
          <p:nvPr/>
        </p:nvSpPr>
        <p:spPr bwMode="auto">
          <a:xfrm>
            <a:off x="1163516" y="4261179"/>
            <a:ext cx="2235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 (c,f(c)) titik belok</a:t>
            </a:r>
          </a:p>
        </p:txBody>
      </p:sp>
      <p:sp>
        <p:nvSpPr>
          <p:cNvPr id="274455" name="Line 23"/>
          <p:cNvSpPr>
            <a:spLocks noChangeShapeType="1"/>
          </p:cNvSpPr>
          <p:nvPr/>
        </p:nvSpPr>
        <p:spPr bwMode="auto">
          <a:xfrm>
            <a:off x="6034454" y="1319549"/>
            <a:ext cx="0" cy="309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56" name="Line 24"/>
          <p:cNvSpPr>
            <a:spLocks noChangeShapeType="1"/>
          </p:cNvSpPr>
          <p:nvPr/>
        </p:nvSpPr>
        <p:spPr bwMode="auto">
          <a:xfrm>
            <a:off x="4705352" y="3407103"/>
            <a:ext cx="39213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57" name="Freeform 25"/>
          <p:cNvSpPr>
            <a:spLocks/>
          </p:cNvSpPr>
          <p:nvPr/>
        </p:nvSpPr>
        <p:spPr bwMode="auto">
          <a:xfrm>
            <a:off x="5901109" y="2170440"/>
            <a:ext cx="2259623" cy="660400"/>
          </a:xfrm>
          <a:custGeom>
            <a:avLst/>
            <a:gdLst>
              <a:gd name="T0" fmla="*/ 0 w 1542"/>
              <a:gd name="T1" fmla="*/ 0 h 416"/>
              <a:gd name="T2" fmla="*/ 2147483647 w 1542"/>
              <a:gd name="T3" fmla="*/ 2147483647 h 416"/>
              <a:gd name="T4" fmla="*/ 2147483647 w 1542"/>
              <a:gd name="T5" fmla="*/ 2147483647 h 416"/>
              <a:gd name="T6" fmla="*/ 2147483647 w 1542"/>
              <a:gd name="T7" fmla="*/ 2147483647 h 416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416"/>
              <a:gd name="T14" fmla="*/ 1542 w 1542"/>
              <a:gd name="T15" fmla="*/ 416 h 4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416">
                <a:moveTo>
                  <a:pt x="0" y="0"/>
                </a:moveTo>
                <a:cubicBezTo>
                  <a:pt x="219" y="15"/>
                  <a:pt x="439" y="31"/>
                  <a:pt x="590" y="91"/>
                </a:cubicBezTo>
                <a:cubicBezTo>
                  <a:pt x="741" y="151"/>
                  <a:pt x="748" y="310"/>
                  <a:pt x="907" y="363"/>
                </a:cubicBezTo>
                <a:cubicBezTo>
                  <a:pt x="1066" y="416"/>
                  <a:pt x="1429" y="401"/>
                  <a:pt x="1542" y="40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58" name="Line 26"/>
          <p:cNvSpPr>
            <a:spLocks noChangeShapeType="1"/>
          </p:cNvSpPr>
          <p:nvPr/>
        </p:nvSpPr>
        <p:spPr bwMode="auto">
          <a:xfrm>
            <a:off x="7030915" y="2614949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59" name="Line 27"/>
          <p:cNvSpPr>
            <a:spLocks noChangeShapeType="1"/>
          </p:cNvSpPr>
          <p:nvPr/>
        </p:nvSpPr>
        <p:spPr bwMode="auto">
          <a:xfrm flipH="1">
            <a:off x="6034455" y="2614940"/>
            <a:ext cx="9964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60" name="Text Box 28"/>
          <p:cNvSpPr txBox="1">
            <a:spLocks noChangeArrowheads="1"/>
          </p:cNvSpPr>
          <p:nvPr/>
        </p:nvSpPr>
        <p:spPr bwMode="auto">
          <a:xfrm>
            <a:off x="6945924" y="3397579"/>
            <a:ext cx="303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</a:t>
            </a:r>
          </a:p>
        </p:txBody>
      </p:sp>
      <p:sp>
        <p:nvSpPr>
          <p:cNvPr id="274461" name="Text Box 29"/>
          <p:cNvSpPr txBox="1">
            <a:spLocks noChangeArrowheads="1"/>
          </p:cNvSpPr>
          <p:nvPr/>
        </p:nvSpPr>
        <p:spPr bwMode="auto">
          <a:xfrm>
            <a:off x="5550877" y="2316491"/>
            <a:ext cx="5806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f(c)</a:t>
            </a:r>
          </a:p>
        </p:txBody>
      </p:sp>
      <p:sp>
        <p:nvSpPr>
          <p:cNvPr id="274462" name="Text Box 30"/>
          <p:cNvSpPr txBox="1">
            <a:spLocks noChangeArrowheads="1"/>
          </p:cNvSpPr>
          <p:nvPr/>
        </p:nvSpPr>
        <p:spPr bwMode="auto">
          <a:xfrm>
            <a:off x="5816112" y="4332616"/>
            <a:ext cx="21552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(c,f(c)) titik belok</a:t>
            </a:r>
          </a:p>
        </p:txBody>
      </p:sp>
      <p:sp>
        <p:nvSpPr>
          <p:cNvPr id="274463" name="Text Box 31"/>
          <p:cNvSpPr txBox="1">
            <a:spLocks noChangeArrowheads="1"/>
          </p:cNvSpPr>
          <p:nvPr/>
        </p:nvSpPr>
        <p:spPr bwMode="auto">
          <a:xfrm>
            <a:off x="1097578" y="4764424"/>
            <a:ext cx="361618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Karena disebelah kiri c cekung</a:t>
            </a:r>
          </a:p>
          <a:p>
            <a:pPr algn="l"/>
            <a:r>
              <a:rPr lang="en-US"/>
              <a:t>keatas dan disebelah kanan c </a:t>
            </a:r>
          </a:p>
          <a:p>
            <a:pPr algn="l"/>
            <a:r>
              <a:rPr lang="en-US"/>
              <a:t>cekung kebawah</a:t>
            </a:r>
          </a:p>
        </p:txBody>
      </p:sp>
      <p:sp>
        <p:nvSpPr>
          <p:cNvPr id="274464" name="Text Box 32"/>
          <p:cNvSpPr txBox="1">
            <a:spLocks noChangeArrowheads="1"/>
          </p:cNvSpPr>
          <p:nvPr/>
        </p:nvSpPr>
        <p:spPr bwMode="auto">
          <a:xfrm>
            <a:off x="5379432" y="4775537"/>
            <a:ext cx="386740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Karena disebelah kiri c cekung</a:t>
            </a:r>
          </a:p>
          <a:p>
            <a:pPr algn="l"/>
            <a:r>
              <a:rPr lang="en-US"/>
              <a:t>kebawah dan disebelah kanan c </a:t>
            </a:r>
          </a:p>
          <a:p>
            <a:pPr algn="l"/>
            <a:r>
              <a:rPr lang="en-US"/>
              <a:t>cekung keatas</a:t>
            </a:r>
          </a:p>
        </p:txBody>
      </p:sp>
    </p:spTree>
    <p:extLst>
      <p:ext uri="{BB962C8B-B14F-4D97-AF65-F5344CB8AC3E}">
        <p14:creationId xmlns:p14="http://schemas.microsoft.com/office/powerpoint/2010/main" xmlns="" val="263153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3000"/>
                                        <p:tgtEl>
                                          <p:spTgt spid="27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7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7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7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7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7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7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7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7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27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7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7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7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7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27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27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 animBg="1"/>
      <p:bldP spid="274437" grpId="0" animBg="1"/>
      <p:bldP spid="274446" grpId="0" animBg="1"/>
      <p:bldP spid="274449" grpId="0" animBg="1"/>
      <p:bldP spid="274450" grpId="0" animBg="1"/>
      <p:bldP spid="274451" grpId="0"/>
      <p:bldP spid="274452" grpId="0"/>
      <p:bldP spid="274453" grpId="0"/>
      <p:bldP spid="274455" grpId="0" animBg="1"/>
      <p:bldP spid="274456" grpId="0" animBg="1"/>
      <p:bldP spid="274457" grpId="0" animBg="1"/>
      <p:bldP spid="274458" grpId="0" animBg="1"/>
      <p:bldP spid="274459" grpId="0" animBg="1"/>
      <p:bldP spid="274460" grpId="0"/>
      <p:bldP spid="274461" grpId="0"/>
      <p:bldP spid="274462" grpId="0"/>
      <p:bldP spid="274463" grpId="0"/>
      <p:bldP spid="27446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nip Diagonal Corner Rectangle 2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nip Diagonal Corner Rectangle 2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481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4788A6BA-45B9-4617-A6BE-876403551838}" type="slidenum">
              <a:rPr lang="en-US" sz="1200" smtClean="0">
                <a:latin typeface="Arial Black" pitchFamily="34" charset="0"/>
              </a:rPr>
              <a:pPr algn="r" eaLnBrk="1" hangingPunct="1"/>
              <a:t>25</a:t>
            </a:fld>
            <a:endParaRPr lang="en-US" sz="1200" smtClean="0">
              <a:latin typeface="Arial Black" pitchFamily="34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583223" y="1605904"/>
            <a:ext cx="3124200" cy="2303463"/>
            <a:chOff x="398" y="754"/>
            <a:chExt cx="2132" cy="1451"/>
          </a:xfrm>
        </p:grpSpPr>
        <p:sp>
          <p:nvSpPr>
            <p:cNvPr id="48142" name="Line 4"/>
            <p:cNvSpPr>
              <a:spLocks noChangeShapeType="1"/>
            </p:cNvSpPr>
            <p:nvPr/>
          </p:nvSpPr>
          <p:spPr bwMode="auto">
            <a:xfrm>
              <a:off x="1124" y="754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3" name="Freeform 8"/>
            <p:cNvSpPr>
              <a:spLocks/>
            </p:cNvSpPr>
            <p:nvPr/>
          </p:nvSpPr>
          <p:spPr bwMode="auto">
            <a:xfrm>
              <a:off x="1578" y="981"/>
              <a:ext cx="545" cy="363"/>
            </a:xfrm>
            <a:custGeom>
              <a:avLst/>
              <a:gdLst>
                <a:gd name="T0" fmla="*/ 0 w 545"/>
                <a:gd name="T1" fmla="*/ 0 h 363"/>
                <a:gd name="T2" fmla="*/ 136 w 545"/>
                <a:gd name="T3" fmla="*/ 227 h 363"/>
                <a:gd name="T4" fmla="*/ 545 w 545"/>
                <a:gd name="T5" fmla="*/ 363 h 363"/>
                <a:gd name="T6" fmla="*/ 0 60000 65536"/>
                <a:gd name="T7" fmla="*/ 0 60000 65536"/>
                <a:gd name="T8" fmla="*/ 0 60000 65536"/>
                <a:gd name="T9" fmla="*/ 0 w 545"/>
                <a:gd name="T10" fmla="*/ 0 h 363"/>
                <a:gd name="T11" fmla="*/ 545 w 545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5" h="363">
                  <a:moveTo>
                    <a:pt x="0" y="0"/>
                  </a:moveTo>
                  <a:cubicBezTo>
                    <a:pt x="22" y="83"/>
                    <a:pt x="45" y="167"/>
                    <a:pt x="136" y="227"/>
                  </a:cubicBezTo>
                  <a:cubicBezTo>
                    <a:pt x="227" y="287"/>
                    <a:pt x="386" y="325"/>
                    <a:pt x="545" y="36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4" name="Line 5"/>
            <p:cNvSpPr>
              <a:spLocks noChangeShapeType="1"/>
            </p:cNvSpPr>
            <p:nvPr/>
          </p:nvSpPr>
          <p:spPr bwMode="auto">
            <a:xfrm>
              <a:off x="398" y="1570"/>
              <a:ext cx="21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5" name="Freeform 6"/>
            <p:cNvSpPr>
              <a:spLocks/>
            </p:cNvSpPr>
            <p:nvPr/>
          </p:nvSpPr>
          <p:spPr bwMode="auto">
            <a:xfrm>
              <a:off x="1215" y="981"/>
              <a:ext cx="363" cy="453"/>
            </a:xfrm>
            <a:custGeom>
              <a:avLst/>
              <a:gdLst>
                <a:gd name="T0" fmla="*/ 0 w 363"/>
                <a:gd name="T1" fmla="*/ 453 h 453"/>
                <a:gd name="T2" fmla="*/ 272 w 363"/>
                <a:gd name="T3" fmla="*/ 317 h 453"/>
                <a:gd name="T4" fmla="*/ 363 w 363"/>
                <a:gd name="T5" fmla="*/ 0 h 453"/>
                <a:gd name="T6" fmla="*/ 0 60000 65536"/>
                <a:gd name="T7" fmla="*/ 0 60000 65536"/>
                <a:gd name="T8" fmla="*/ 0 60000 65536"/>
                <a:gd name="T9" fmla="*/ 0 w 363"/>
                <a:gd name="T10" fmla="*/ 0 h 453"/>
                <a:gd name="T11" fmla="*/ 363 w 363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453">
                  <a:moveTo>
                    <a:pt x="0" y="453"/>
                  </a:moveTo>
                  <a:cubicBezTo>
                    <a:pt x="106" y="422"/>
                    <a:pt x="212" y="392"/>
                    <a:pt x="272" y="317"/>
                  </a:cubicBezTo>
                  <a:cubicBezTo>
                    <a:pt x="332" y="242"/>
                    <a:pt x="348" y="53"/>
                    <a:pt x="363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6" name="Line 9"/>
            <p:cNvSpPr>
              <a:spLocks noChangeShapeType="1"/>
            </p:cNvSpPr>
            <p:nvPr/>
          </p:nvSpPr>
          <p:spPr bwMode="auto">
            <a:xfrm>
              <a:off x="1578" y="1026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7" name="Line 10"/>
            <p:cNvSpPr>
              <a:spLocks noChangeShapeType="1"/>
            </p:cNvSpPr>
            <p:nvPr/>
          </p:nvSpPr>
          <p:spPr bwMode="auto">
            <a:xfrm flipH="1">
              <a:off x="1124" y="981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8" name="Text Box 11"/>
            <p:cNvSpPr txBox="1">
              <a:spLocks noChangeArrowheads="1"/>
            </p:cNvSpPr>
            <p:nvPr/>
          </p:nvSpPr>
          <p:spPr bwMode="auto">
            <a:xfrm>
              <a:off x="1487" y="1502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/>
                <a:t>c</a:t>
              </a:r>
            </a:p>
          </p:txBody>
        </p:sp>
        <p:sp>
          <p:nvSpPr>
            <p:cNvPr id="48149" name="Text Box 12"/>
            <p:cNvSpPr txBox="1">
              <a:spLocks noChangeArrowheads="1"/>
            </p:cNvSpPr>
            <p:nvPr/>
          </p:nvSpPr>
          <p:spPr bwMode="auto">
            <a:xfrm>
              <a:off x="807" y="821"/>
              <a:ext cx="3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algn="ctr"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/>
                <a:t>f(c)</a:t>
              </a:r>
            </a:p>
          </p:txBody>
        </p:sp>
      </p:grpSp>
      <p:sp>
        <p:nvSpPr>
          <p:cNvPr id="275469" name="Text Box 13"/>
          <p:cNvSpPr txBox="1">
            <a:spLocks noChangeArrowheads="1"/>
          </p:cNvSpPr>
          <p:nvPr/>
        </p:nvSpPr>
        <p:spPr bwMode="auto">
          <a:xfrm>
            <a:off x="1030166" y="3995089"/>
            <a:ext cx="430970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(c,f(c)) bukan titik belok</a:t>
            </a:r>
          </a:p>
          <a:p>
            <a:pPr algn="l"/>
            <a:r>
              <a:rPr lang="en-US" sz="2400"/>
              <a:t>karena disekitar c tidak</a:t>
            </a:r>
          </a:p>
          <a:p>
            <a:pPr algn="l"/>
            <a:r>
              <a:rPr lang="en-US" sz="2400"/>
              <a:t>terjadi perubahan kecekungan</a:t>
            </a:r>
          </a:p>
        </p:txBody>
      </p:sp>
      <p:sp>
        <p:nvSpPr>
          <p:cNvPr id="275471" name="Line 15"/>
          <p:cNvSpPr>
            <a:spLocks noChangeShapeType="1"/>
          </p:cNvSpPr>
          <p:nvPr/>
        </p:nvSpPr>
        <p:spPr bwMode="auto">
          <a:xfrm>
            <a:off x="5701812" y="1534467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472" name="Line 16"/>
          <p:cNvSpPr>
            <a:spLocks noChangeShapeType="1"/>
          </p:cNvSpPr>
          <p:nvPr/>
        </p:nvSpPr>
        <p:spPr bwMode="auto">
          <a:xfrm>
            <a:off x="4837235" y="2901295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473" name="Line 17"/>
          <p:cNvSpPr>
            <a:spLocks noChangeShapeType="1"/>
          </p:cNvSpPr>
          <p:nvPr/>
        </p:nvSpPr>
        <p:spPr bwMode="auto">
          <a:xfrm>
            <a:off x="6367097" y="1893242"/>
            <a:ext cx="0" cy="19446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477" name="Freeform 21"/>
          <p:cNvSpPr>
            <a:spLocks/>
          </p:cNvSpPr>
          <p:nvPr/>
        </p:nvSpPr>
        <p:spPr bwMode="auto">
          <a:xfrm>
            <a:off x="5767759" y="2950517"/>
            <a:ext cx="553915" cy="600075"/>
          </a:xfrm>
          <a:custGeom>
            <a:avLst/>
            <a:gdLst>
              <a:gd name="T0" fmla="*/ 0 w 378"/>
              <a:gd name="T1" fmla="*/ 2147483647 h 378"/>
              <a:gd name="T2" fmla="*/ 2147483647 w 378"/>
              <a:gd name="T3" fmla="*/ 2147483647 h 378"/>
              <a:gd name="T4" fmla="*/ 2147483647 w 378"/>
              <a:gd name="T5" fmla="*/ 2147483647 h 378"/>
              <a:gd name="T6" fmla="*/ 0 60000 65536"/>
              <a:gd name="T7" fmla="*/ 0 60000 65536"/>
              <a:gd name="T8" fmla="*/ 0 60000 65536"/>
              <a:gd name="T9" fmla="*/ 0 w 378"/>
              <a:gd name="T10" fmla="*/ 0 h 378"/>
              <a:gd name="T11" fmla="*/ 378 w 378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" h="378">
                <a:moveTo>
                  <a:pt x="0" y="15"/>
                </a:moveTo>
                <a:cubicBezTo>
                  <a:pt x="129" y="7"/>
                  <a:pt x="258" y="0"/>
                  <a:pt x="318" y="60"/>
                </a:cubicBezTo>
                <a:cubicBezTo>
                  <a:pt x="378" y="120"/>
                  <a:pt x="370" y="249"/>
                  <a:pt x="363" y="37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478" name="Freeform 22"/>
          <p:cNvSpPr>
            <a:spLocks/>
          </p:cNvSpPr>
          <p:nvPr/>
        </p:nvSpPr>
        <p:spPr bwMode="auto">
          <a:xfrm>
            <a:off x="6433038" y="2109136"/>
            <a:ext cx="996462" cy="720725"/>
          </a:xfrm>
          <a:custGeom>
            <a:avLst/>
            <a:gdLst>
              <a:gd name="T0" fmla="*/ 0 w 680"/>
              <a:gd name="T1" fmla="*/ 0 h 454"/>
              <a:gd name="T2" fmla="*/ 2147483647 w 680"/>
              <a:gd name="T3" fmla="*/ 2147483647 h 454"/>
              <a:gd name="T4" fmla="*/ 2147483647 w 680"/>
              <a:gd name="T5" fmla="*/ 2147483647 h 454"/>
              <a:gd name="T6" fmla="*/ 0 60000 65536"/>
              <a:gd name="T7" fmla="*/ 0 60000 65536"/>
              <a:gd name="T8" fmla="*/ 0 60000 65536"/>
              <a:gd name="T9" fmla="*/ 0 w 680"/>
              <a:gd name="T10" fmla="*/ 0 h 454"/>
              <a:gd name="T11" fmla="*/ 680 w 680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0" h="454">
                <a:moveTo>
                  <a:pt x="0" y="0"/>
                </a:moveTo>
                <a:cubicBezTo>
                  <a:pt x="11" y="143"/>
                  <a:pt x="23" y="287"/>
                  <a:pt x="136" y="363"/>
                </a:cubicBezTo>
                <a:cubicBezTo>
                  <a:pt x="249" y="439"/>
                  <a:pt x="464" y="446"/>
                  <a:pt x="680" y="4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479" name="Text Box 23"/>
          <p:cNvSpPr txBox="1">
            <a:spLocks noChangeArrowheads="1"/>
          </p:cNvSpPr>
          <p:nvPr/>
        </p:nvSpPr>
        <p:spPr bwMode="auto">
          <a:xfrm>
            <a:off x="6353908" y="2793346"/>
            <a:ext cx="303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</a:t>
            </a:r>
          </a:p>
        </p:txBody>
      </p:sp>
      <p:sp>
        <p:nvSpPr>
          <p:cNvPr id="275480" name="Text Box 24"/>
          <p:cNvSpPr txBox="1">
            <a:spLocks noChangeArrowheads="1"/>
          </p:cNvSpPr>
          <p:nvPr/>
        </p:nvSpPr>
        <p:spPr bwMode="auto">
          <a:xfrm>
            <a:off x="5284181" y="4080808"/>
            <a:ext cx="374865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Walaupun di sekitar c</a:t>
            </a:r>
          </a:p>
          <a:p>
            <a:pPr algn="l"/>
            <a:r>
              <a:rPr lang="en-US" sz="2400"/>
              <a:t>terjadi perubahan </a:t>
            </a:r>
          </a:p>
          <a:p>
            <a:pPr algn="l"/>
            <a:r>
              <a:rPr lang="en-US" sz="2400"/>
              <a:t>kecekungan tapi tidak ada</a:t>
            </a:r>
          </a:p>
          <a:p>
            <a:pPr algn="l"/>
            <a:r>
              <a:rPr lang="en-US" sz="2400"/>
              <a:t>titik belok karena f  tidak </a:t>
            </a:r>
          </a:p>
          <a:p>
            <a:pPr algn="l"/>
            <a:r>
              <a:rPr lang="en-US" sz="2400"/>
              <a:t>terdefinisi di c</a:t>
            </a:r>
          </a:p>
        </p:txBody>
      </p:sp>
    </p:spTree>
    <p:extLst>
      <p:ext uri="{BB962C8B-B14F-4D97-AF65-F5344CB8AC3E}">
        <p14:creationId xmlns:p14="http://schemas.microsoft.com/office/powerpoint/2010/main" xmlns="" val="944104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7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7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7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7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2000"/>
                                        <p:tgtEl>
                                          <p:spTgt spid="27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2000"/>
                                        <p:tgtEl>
                                          <p:spTgt spid="27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7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9" grpId="0"/>
      <p:bldP spid="275471" grpId="0" animBg="1"/>
      <p:bldP spid="275472" grpId="0" animBg="1"/>
      <p:bldP spid="275473" grpId="0" animBg="1"/>
      <p:bldP spid="275477" grpId="0" animBg="1"/>
      <p:bldP spid="275478" grpId="0" animBg="1"/>
      <p:bldP spid="275479" grpId="0"/>
      <p:bldP spid="27548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D684626D-B01A-467D-86A0-931F54F35020}" type="slidenum">
              <a:rPr lang="en-US" sz="1200" smtClean="0">
                <a:latin typeface="Arial Black" pitchFamily="34" charset="0"/>
              </a:rPr>
              <a:pPr algn="r" eaLnBrk="1" hangingPunct="1"/>
              <a:t>26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271367" name="Object 7"/>
          <p:cNvGraphicFramePr>
            <a:graphicFrameLocks noChangeAspect="1"/>
          </p:cNvGraphicFramePr>
          <p:nvPr/>
        </p:nvGraphicFramePr>
        <p:xfrm>
          <a:off x="955431" y="1374714"/>
          <a:ext cx="2181958" cy="525462"/>
        </p:xfrm>
        <a:graphic>
          <a:graphicData uri="http://schemas.openxmlformats.org/presentationml/2006/ole">
            <p:oleObj spid="_x0000_s20577" name="Equation" r:id="rId3" imgW="1028700" imgH="228600" progId="Equation.3">
              <p:embed/>
            </p:oleObj>
          </a:graphicData>
        </a:graphic>
      </p:graphicFrame>
      <p:graphicFrame>
        <p:nvGraphicFramePr>
          <p:cNvPr id="271368" name="Object 8"/>
          <p:cNvGraphicFramePr>
            <a:graphicFrameLocks noChangeAspect="1"/>
          </p:cNvGraphicFramePr>
          <p:nvPr/>
        </p:nvGraphicFramePr>
        <p:xfrm>
          <a:off x="1009655" y="3983038"/>
          <a:ext cx="1966546" cy="584200"/>
        </p:xfrm>
        <a:graphic>
          <a:graphicData uri="http://schemas.openxmlformats.org/presentationml/2006/ole">
            <p:oleObj spid="_x0000_s20578" name="Equation" r:id="rId4" imgW="774364" imgH="228501" progId="Equation.3">
              <p:embed/>
            </p:oleObj>
          </a:graphicData>
        </a:graphic>
      </p:graphicFrame>
      <p:sp>
        <p:nvSpPr>
          <p:cNvPr id="271372" name="Text Box 12"/>
          <p:cNvSpPr txBox="1">
            <a:spLocks noChangeArrowheads="1"/>
          </p:cNvSpPr>
          <p:nvPr/>
        </p:nvSpPr>
        <p:spPr bwMode="auto">
          <a:xfrm>
            <a:off x="2687406" y="909935"/>
            <a:ext cx="4856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</a:t>
            </a:r>
            <a:r>
              <a:rPr lang="en-US" sz="2400" dirty="0" err="1"/>
              <a:t>belok</a:t>
            </a:r>
            <a:r>
              <a:rPr lang="en-US" sz="2400" dirty="0"/>
              <a:t> (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) </a:t>
            </a:r>
            <a:r>
              <a:rPr lang="en-US" sz="2400" dirty="0" err="1"/>
              <a:t>dari</a:t>
            </a:r>
            <a:endParaRPr lang="en-US" sz="2400" dirty="0"/>
          </a:p>
        </p:txBody>
      </p:sp>
      <p:graphicFrame>
        <p:nvGraphicFramePr>
          <p:cNvPr id="271373" name="Object 13"/>
          <p:cNvGraphicFramePr>
            <a:graphicFrameLocks noChangeAspect="1"/>
          </p:cNvGraphicFramePr>
          <p:nvPr/>
        </p:nvGraphicFramePr>
        <p:xfrm>
          <a:off x="1381858" y="2095448"/>
          <a:ext cx="1528396" cy="503237"/>
        </p:xfrm>
        <a:graphic>
          <a:graphicData uri="http://schemas.openxmlformats.org/presentationml/2006/ole">
            <p:oleObj spid="_x0000_s20579" name="Equation" r:id="rId5" imgW="749300" imgH="228600" progId="Equation.3">
              <p:embed/>
            </p:oleObj>
          </a:graphicData>
        </a:graphic>
      </p:graphicFrame>
      <p:graphicFrame>
        <p:nvGraphicFramePr>
          <p:cNvPr id="271378" name="Object 18"/>
          <p:cNvGraphicFramePr>
            <a:graphicFrameLocks noChangeAspect="1"/>
          </p:cNvGraphicFramePr>
          <p:nvPr/>
        </p:nvGraphicFramePr>
        <p:xfrm>
          <a:off x="2958614" y="2106560"/>
          <a:ext cx="1965080" cy="485775"/>
        </p:xfrm>
        <a:graphic>
          <a:graphicData uri="http://schemas.openxmlformats.org/presentationml/2006/ole">
            <p:oleObj spid="_x0000_s20580" name="Equation" r:id="rId6" imgW="876300" imgH="203200" progId="Equation.3">
              <p:embed/>
            </p:oleObj>
          </a:graphicData>
        </a:graphic>
      </p:graphicFrame>
      <p:sp>
        <p:nvSpPr>
          <p:cNvPr id="271380" name="Line 20"/>
          <p:cNvSpPr>
            <a:spLocks noChangeShapeType="1"/>
          </p:cNvSpPr>
          <p:nvPr/>
        </p:nvSpPr>
        <p:spPr bwMode="auto">
          <a:xfrm>
            <a:off x="1913795" y="2979156"/>
            <a:ext cx="28589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1381" name="Text Box 21"/>
          <p:cNvSpPr txBox="1">
            <a:spLocks noChangeArrowheads="1"/>
          </p:cNvSpPr>
          <p:nvPr/>
        </p:nvSpPr>
        <p:spPr bwMode="auto">
          <a:xfrm>
            <a:off x="3225313" y="2757427"/>
            <a:ext cx="3401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cs typeface="Tahoma" pitchFamily="34" charset="0"/>
              </a:rPr>
              <a:t>●</a:t>
            </a:r>
          </a:p>
        </p:txBody>
      </p:sp>
      <p:sp>
        <p:nvSpPr>
          <p:cNvPr id="271384" name="Text Box 24"/>
          <p:cNvSpPr txBox="1">
            <a:spLocks noChangeArrowheads="1"/>
          </p:cNvSpPr>
          <p:nvPr/>
        </p:nvSpPr>
        <p:spPr bwMode="auto">
          <a:xfrm>
            <a:off x="3225312" y="2952690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0</a:t>
            </a:r>
          </a:p>
        </p:txBody>
      </p:sp>
      <p:sp>
        <p:nvSpPr>
          <p:cNvPr id="271385" name="Text Box 25"/>
          <p:cNvSpPr txBox="1">
            <a:spLocks noChangeArrowheads="1"/>
          </p:cNvSpPr>
          <p:nvPr/>
        </p:nvSpPr>
        <p:spPr bwMode="auto">
          <a:xfrm>
            <a:off x="3490546" y="2582802"/>
            <a:ext cx="1486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+++++++</a:t>
            </a:r>
          </a:p>
        </p:txBody>
      </p:sp>
      <p:sp>
        <p:nvSpPr>
          <p:cNvPr id="271386" name="Text Box 26"/>
          <p:cNvSpPr txBox="1">
            <a:spLocks noChangeArrowheads="1"/>
          </p:cNvSpPr>
          <p:nvPr/>
        </p:nvSpPr>
        <p:spPr bwMode="auto">
          <a:xfrm>
            <a:off x="2028093" y="2589152"/>
            <a:ext cx="13933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-------------</a:t>
            </a:r>
          </a:p>
        </p:txBody>
      </p:sp>
      <p:sp>
        <p:nvSpPr>
          <p:cNvPr id="271387" name="Text Box 27"/>
          <p:cNvSpPr txBox="1">
            <a:spLocks noChangeArrowheads="1"/>
          </p:cNvSpPr>
          <p:nvPr/>
        </p:nvSpPr>
        <p:spPr bwMode="auto">
          <a:xfrm>
            <a:off x="1330569" y="3303588"/>
            <a:ext cx="76139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Di x = 0 terjadi perubahan kecekungan, dan f(0)= -1 maka (0,-1)</a:t>
            </a:r>
          </a:p>
          <a:p>
            <a:pPr algn="l"/>
            <a:r>
              <a:rPr lang="en-US"/>
              <a:t>merupakan titik belok</a:t>
            </a:r>
          </a:p>
        </p:txBody>
      </p:sp>
      <p:sp>
        <p:nvSpPr>
          <p:cNvPr id="19472" name="Rectangle 29"/>
          <p:cNvSpPr>
            <a:spLocks noChangeArrowheads="1"/>
          </p:cNvSpPr>
          <p:nvPr/>
        </p:nvSpPr>
        <p:spPr bwMode="auto">
          <a:xfrm>
            <a:off x="4479638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71388" name="Object 28"/>
          <p:cNvGraphicFramePr>
            <a:graphicFrameLocks noChangeAspect="1"/>
          </p:cNvGraphicFramePr>
          <p:nvPr/>
        </p:nvGraphicFramePr>
        <p:xfrm>
          <a:off x="1513743" y="4652963"/>
          <a:ext cx="1661746" cy="474662"/>
        </p:xfrm>
        <a:graphic>
          <a:graphicData uri="http://schemas.openxmlformats.org/presentationml/2006/ole">
            <p:oleObj spid="_x0000_s20581" name="Equation" r:id="rId7" imgW="863225" imgH="228501" progId="Equation.3">
              <p:embed/>
            </p:oleObj>
          </a:graphicData>
        </a:graphic>
      </p:graphicFrame>
      <p:sp>
        <p:nvSpPr>
          <p:cNvPr id="271390" name="Line 30"/>
          <p:cNvSpPr>
            <a:spLocks noChangeShapeType="1"/>
          </p:cNvSpPr>
          <p:nvPr/>
        </p:nvSpPr>
        <p:spPr bwMode="auto">
          <a:xfrm>
            <a:off x="2045677" y="5424488"/>
            <a:ext cx="28589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1391" name="Text Box 31"/>
          <p:cNvSpPr txBox="1">
            <a:spLocks noChangeArrowheads="1"/>
          </p:cNvSpPr>
          <p:nvPr/>
        </p:nvSpPr>
        <p:spPr bwMode="auto">
          <a:xfrm>
            <a:off x="3357197" y="5189539"/>
            <a:ext cx="3401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cs typeface="Tahoma" pitchFamily="34" charset="0"/>
              </a:rPr>
              <a:t>●</a:t>
            </a:r>
          </a:p>
        </p:txBody>
      </p:sp>
      <p:sp>
        <p:nvSpPr>
          <p:cNvPr id="271392" name="Text Box 32"/>
          <p:cNvSpPr txBox="1">
            <a:spLocks noChangeArrowheads="1"/>
          </p:cNvSpPr>
          <p:nvPr/>
        </p:nvSpPr>
        <p:spPr bwMode="auto">
          <a:xfrm>
            <a:off x="3344008" y="5373689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0</a:t>
            </a:r>
          </a:p>
        </p:txBody>
      </p:sp>
      <p:sp>
        <p:nvSpPr>
          <p:cNvPr id="271393" name="Text Box 33"/>
          <p:cNvSpPr txBox="1">
            <a:spLocks noChangeArrowheads="1"/>
          </p:cNvSpPr>
          <p:nvPr/>
        </p:nvSpPr>
        <p:spPr bwMode="auto">
          <a:xfrm>
            <a:off x="3622431" y="5119689"/>
            <a:ext cx="1486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+++++++</a:t>
            </a:r>
          </a:p>
        </p:txBody>
      </p:sp>
      <p:sp>
        <p:nvSpPr>
          <p:cNvPr id="271394" name="Text Box 34"/>
          <p:cNvSpPr txBox="1">
            <a:spLocks noChangeArrowheads="1"/>
          </p:cNvSpPr>
          <p:nvPr/>
        </p:nvSpPr>
        <p:spPr bwMode="auto">
          <a:xfrm>
            <a:off x="2082312" y="5119689"/>
            <a:ext cx="1486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+++++++</a:t>
            </a:r>
          </a:p>
        </p:txBody>
      </p:sp>
      <p:sp>
        <p:nvSpPr>
          <p:cNvPr id="271395" name="Text Box 35"/>
          <p:cNvSpPr txBox="1">
            <a:spLocks noChangeArrowheads="1"/>
          </p:cNvSpPr>
          <p:nvPr/>
        </p:nvSpPr>
        <p:spPr bwMode="auto">
          <a:xfrm>
            <a:off x="1507887" y="5734051"/>
            <a:ext cx="611340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Tidak ada titik belok, karena tidak terjadi perubahan</a:t>
            </a:r>
          </a:p>
          <a:p>
            <a:pPr algn="l"/>
            <a:r>
              <a:rPr lang="en-US"/>
              <a:t>kecekungan</a:t>
            </a:r>
          </a:p>
        </p:txBody>
      </p:sp>
      <p:sp>
        <p:nvSpPr>
          <p:cNvPr id="24" name="Snip Diagonal Corner Rectangle 2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nip Diagonal Corner Rectangle 2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963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7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7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7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7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7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7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7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7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7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7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2" grpId="0"/>
      <p:bldP spid="271380" grpId="0" animBg="1"/>
      <p:bldP spid="271381" grpId="0"/>
      <p:bldP spid="271384" grpId="0"/>
      <p:bldP spid="271385" grpId="0"/>
      <p:bldP spid="271386" grpId="0"/>
      <p:bldP spid="271387" grpId="0"/>
      <p:bldP spid="271390" grpId="0" animBg="1"/>
      <p:bldP spid="271391" grpId="0"/>
      <p:bldP spid="271392" grpId="0"/>
      <p:bldP spid="271393" grpId="0"/>
      <p:bldP spid="271394" grpId="0"/>
      <p:bldP spid="27139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048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701BC194-1713-43D7-8F9E-E809FF78ABE2}" type="slidenum">
              <a:rPr lang="en-US" sz="1200" smtClean="0">
                <a:latin typeface="Arial Black" pitchFamily="34" charset="0"/>
              </a:rPr>
              <a:pPr algn="r" eaLnBrk="1" hangingPunct="1"/>
              <a:t>27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29901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849927" y="1330148"/>
          <a:ext cx="2392974" cy="823913"/>
        </p:xfrm>
        <a:graphic>
          <a:graphicData uri="http://schemas.openxmlformats.org/presentationml/2006/ole">
            <p:oleObj spid="_x0000_s21544" name="Equation" r:id="rId4" imgW="1320227" imgH="418918" progId="Equation.3">
              <p:embed/>
            </p:oleObj>
          </a:graphicData>
        </a:graphic>
      </p:graphicFrame>
      <p:graphicFrame>
        <p:nvGraphicFramePr>
          <p:cNvPr id="299018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1115162" y="2341380"/>
          <a:ext cx="1793631" cy="771525"/>
        </p:xfrm>
        <a:graphic>
          <a:graphicData uri="http://schemas.openxmlformats.org/presentationml/2006/ole">
            <p:oleObj spid="_x0000_s21545" name="Equation" r:id="rId5" imgW="1054100" imgH="419100" progId="Equation.3">
              <p:embed/>
            </p:oleObj>
          </a:graphicData>
        </a:graphic>
      </p:graphicFrame>
      <p:sp>
        <p:nvSpPr>
          <p:cNvPr id="299022" name="Line 14"/>
          <p:cNvSpPr>
            <a:spLocks noChangeShapeType="1"/>
          </p:cNvSpPr>
          <p:nvPr/>
        </p:nvSpPr>
        <p:spPr bwMode="auto">
          <a:xfrm>
            <a:off x="1913795" y="3616139"/>
            <a:ext cx="28589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9023" name="Text Box 15"/>
          <p:cNvSpPr txBox="1">
            <a:spLocks noChangeArrowheads="1"/>
          </p:cNvSpPr>
          <p:nvPr/>
        </p:nvSpPr>
        <p:spPr bwMode="auto">
          <a:xfrm>
            <a:off x="3225313" y="3365315"/>
            <a:ext cx="3401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cs typeface="Tahoma" pitchFamily="34" charset="0"/>
              </a:rPr>
              <a:t>●</a:t>
            </a:r>
          </a:p>
        </p:txBody>
      </p:sp>
      <p:sp>
        <p:nvSpPr>
          <p:cNvPr id="299024" name="Text Box 16"/>
          <p:cNvSpPr txBox="1">
            <a:spLocks noChangeArrowheads="1"/>
          </p:cNvSpPr>
          <p:nvPr/>
        </p:nvSpPr>
        <p:spPr bwMode="auto">
          <a:xfrm>
            <a:off x="3210658" y="3584390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2</a:t>
            </a:r>
          </a:p>
        </p:txBody>
      </p:sp>
      <p:sp>
        <p:nvSpPr>
          <p:cNvPr id="299025" name="Text Box 17"/>
          <p:cNvSpPr txBox="1">
            <a:spLocks noChangeArrowheads="1"/>
          </p:cNvSpPr>
          <p:nvPr/>
        </p:nvSpPr>
        <p:spPr bwMode="auto">
          <a:xfrm>
            <a:off x="3490546" y="3174815"/>
            <a:ext cx="1486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+++++++</a:t>
            </a:r>
          </a:p>
        </p:txBody>
      </p:sp>
      <p:sp>
        <p:nvSpPr>
          <p:cNvPr id="299026" name="Text Box 18"/>
          <p:cNvSpPr txBox="1">
            <a:spLocks noChangeArrowheads="1"/>
          </p:cNvSpPr>
          <p:nvPr/>
        </p:nvSpPr>
        <p:spPr bwMode="auto">
          <a:xfrm>
            <a:off x="1960685" y="3101790"/>
            <a:ext cx="1486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--------------</a:t>
            </a:r>
          </a:p>
        </p:txBody>
      </p:sp>
      <p:sp>
        <p:nvSpPr>
          <p:cNvPr id="299027" name="Text Box 19"/>
          <p:cNvSpPr txBox="1">
            <a:spLocks noChangeArrowheads="1"/>
          </p:cNvSpPr>
          <p:nvPr/>
        </p:nvSpPr>
        <p:spPr bwMode="auto">
          <a:xfrm>
            <a:off x="983278" y="3905071"/>
            <a:ext cx="763324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Walaupun</a:t>
            </a:r>
            <a:r>
              <a:rPr lang="en-US" sz="2400" dirty="0"/>
              <a:t> di x = 2,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kecekungan</a:t>
            </a:r>
            <a:r>
              <a:rPr lang="en-US" sz="2400" dirty="0"/>
              <a:t>, </a:t>
            </a:r>
            <a:endParaRPr lang="en-US" sz="2400" dirty="0" smtClean="0"/>
          </a:p>
          <a:p>
            <a:pPr algn="l"/>
            <a:r>
              <a:rPr lang="en-US" sz="2400" dirty="0" err="1" smtClean="0"/>
              <a:t>tidak</a:t>
            </a:r>
            <a:r>
              <a:rPr lang="en-US" sz="2400" dirty="0" smtClean="0"/>
              <a:t>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dirty="0" err="1" smtClean="0"/>
              <a:t>titik</a:t>
            </a:r>
            <a:r>
              <a:rPr lang="en-US" sz="2400" dirty="0" smtClean="0"/>
              <a:t> </a:t>
            </a:r>
            <a:r>
              <a:rPr lang="en-US" sz="2400" dirty="0" err="1"/>
              <a:t>belok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f(x)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terdefinisi</a:t>
            </a:r>
            <a:r>
              <a:rPr lang="en-US" sz="2400" dirty="0"/>
              <a:t> </a:t>
            </a:r>
            <a:endParaRPr lang="en-US" sz="2400" dirty="0" smtClean="0"/>
          </a:p>
          <a:p>
            <a:pPr algn="l"/>
            <a:r>
              <a:rPr lang="en-US" sz="2400" dirty="0" smtClean="0"/>
              <a:t>di </a:t>
            </a:r>
            <a:r>
              <a:rPr lang="en-US" sz="2400" dirty="0"/>
              <a:t>x = 2</a:t>
            </a:r>
          </a:p>
        </p:txBody>
      </p:sp>
    </p:spTree>
    <p:extLst>
      <p:ext uri="{BB962C8B-B14F-4D97-AF65-F5344CB8AC3E}">
        <p14:creationId xmlns:p14="http://schemas.microsoft.com/office/powerpoint/2010/main" xmlns="" val="2533864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9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9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9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9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9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9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22" grpId="0" animBg="1"/>
      <p:bldP spid="299023" grpId="0"/>
      <p:bldP spid="299024" grpId="0"/>
      <p:bldP spid="299025" grpId="0"/>
      <p:bldP spid="299026" grpId="0"/>
      <p:bldP spid="2990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15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8EE1D49-45CF-4763-8617-8F2CC9241B03}" type="slidenum">
              <a:rPr lang="en-US" sz="1200" smtClean="0">
                <a:latin typeface="Arial Black" pitchFamily="34" charset="0"/>
              </a:rPr>
              <a:pPr algn="r" eaLnBrk="1" hangingPunct="1"/>
              <a:t>28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30754" name="Text Box 2"/>
          <p:cNvSpPr txBox="1">
            <a:spLocks noChangeArrowheads="1"/>
          </p:cNvSpPr>
          <p:nvPr/>
        </p:nvSpPr>
        <p:spPr bwMode="auto">
          <a:xfrm>
            <a:off x="1014051" y="1301751"/>
            <a:ext cx="17764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 dirty="0" err="1"/>
              <a:t>Soal</a:t>
            </a:r>
            <a:r>
              <a:rPr lang="en-US" b="1" dirty="0"/>
              <a:t> </a:t>
            </a:r>
            <a:r>
              <a:rPr lang="en-US" b="1" dirty="0" err="1"/>
              <a:t>Latihan</a:t>
            </a:r>
            <a:endParaRPr lang="en-US" b="1" dirty="0"/>
          </a:p>
        </p:txBody>
      </p:sp>
      <p:graphicFrame>
        <p:nvGraphicFramePr>
          <p:cNvPr id="330755" name="Object 3"/>
          <p:cNvGraphicFramePr>
            <a:graphicFrameLocks noChangeAspect="1"/>
          </p:cNvGraphicFramePr>
          <p:nvPr/>
        </p:nvGraphicFramePr>
        <p:xfrm>
          <a:off x="1846385" y="2463809"/>
          <a:ext cx="3124200" cy="433387"/>
        </p:xfrm>
        <a:graphic>
          <a:graphicData uri="http://schemas.openxmlformats.org/presentationml/2006/ole">
            <p:oleObj spid="_x0000_s22625" name="Equation" r:id="rId4" imgW="1790700" imgH="228600" progId="Equation.3">
              <p:embed/>
            </p:oleObj>
          </a:graphicData>
        </a:graphic>
      </p:graphicFrame>
      <p:graphicFrame>
        <p:nvGraphicFramePr>
          <p:cNvPr id="330756" name="Object 4"/>
          <p:cNvGraphicFramePr>
            <a:graphicFrameLocks noChangeAspect="1"/>
          </p:cNvGraphicFramePr>
          <p:nvPr/>
        </p:nvGraphicFramePr>
        <p:xfrm>
          <a:off x="1846384" y="3065471"/>
          <a:ext cx="1947497" cy="766763"/>
        </p:xfrm>
        <a:graphic>
          <a:graphicData uri="http://schemas.openxmlformats.org/presentationml/2006/ole">
            <p:oleObj spid="_x0000_s22626" name="Equation" r:id="rId5" imgW="1155700" imgH="419100" progId="Equation.3">
              <p:embed/>
            </p:oleObj>
          </a:graphicData>
        </a:graphic>
      </p:graphicFrame>
      <p:graphicFrame>
        <p:nvGraphicFramePr>
          <p:cNvPr id="330757" name="Object 5"/>
          <p:cNvGraphicFramePr>
            <a:graphicFrameLocks noChangeAspect="1"/>
          </p:cNvGraphicFramePr>
          <p:nvPr/>
        </p:nvGraphicFramePr>
        <p:xfrm>
          <a:off x="1825869" y="3894137"/>
          <a:ext cx="1881554" cy="730250"/>
        </p:xfrm>
        <a:graphic>
          <a:graphicData uri="http://schemas.openxmlformats.org/presentationml/2006/ole">
            <p:oleObj spid="_x0000_s22627" name="Equation" r:id="rId6" imgW="1168400" imgH="419100" progId="Equation.3">
              <p:embed/>
            </p:oleObj>
          </a:graphicData>
        </a:graphic>
      </p:graphicFrame>
      <p:graphicFrame>
        <p:nvGraphicFramePr>
          <p:cNvPr id="330758" name="Object 6"/>
          <p:cNvGraphicFramePr>
            <a:graphicFrameLocks noChangeAspect="1"/>
          </p:cNvGraphicFramePr>
          <p:nvPr/>
        </p:nvGraphicFramePr>
        <p:xfrm>
          <a:off x="1846385" y="4695834"/>
          <a:ext cx="1570892" cy="727075"/>
        </p:xfrm>
        <a:graphic>
          <a:graphicData uri="http://schemas.openxmlformats.org/presentationml/2006/ole">
            <p:oleObj spid="_x0000_s22628" name="Equation" r:id="rId7" imgW="977900" imgH="419100" progId="Equation.3">
              <p:embed/>
            </p:oleObj>
          </a:graphicData>
        </a:graphic>
      </p:graphicFrame>
      <p:sp>
        <p:nvSpPr>
          <p:cNvPr id="330759" name="Rectangle 7"/>
          <p:cNvSpPr>
            <a:spLocks noChangeArrowheads="1"/>
          </p:cNvSpPr>
          <p:nvPr/>
        </p:nvSpPr>
        <p:spPr bwMode="auto">
          <a:xfrm>
            <a:off x="1027240" y="1830009"/>
            <a:ext cx="6789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/>
          <a:p>
            <a:r>
              <a:rPr lang="en-US">
                <a:cs typeface="Times New Roman" pitchFamily="18" charset="0"/>
              </a:rPr>
              <a:t>Tentukan selang kecekungan dan titik belok fungsi berikut :</a:t>
            </a:r>
            <a:endParaRPr lang="en-US"/>
          </a:p>
        </p:txBody>
      </p:sp>
      <p:sp>
        <p:nvSpPr>
          <p:cNvPr id="330760" name="Text Box 8"/>
          <p:cNvSpPr txBox="1">
            <a:spLocks noChangeArrowheads="1"/>
          </p:cNvSpPr>
          <p:nvPr/>
        </p:nvSpPr>
        <p:spPr bwMode="auto">
          <a:xfrm>
            <a:off x="1365232" y="2525713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</a:t>
            </a:r>
          </a:p>
        </p:txBody>
      </p:sp>
      <p:sp>
        <p:nvSpPr>
          <p:cNvPr id="330761" name="Text Box 9"/>
          <p:cNvSpPr txBox="1">
            <a:spLocks noChangeArrowheads="1"/>
          </p:cNvSpPr>
          <p:nvPr/>
        </p:nvSpPr>
        <p:spPr bwMode="auto">
          <a:xfrm>
            <a:off x="1365232" y="3317876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2.</a:t>
            </a:r>
          </a:p>
        </p:txBody>
      </p:sp>
      <p:sp>
        <p:nvSpPr>
          <p:cNvPr id="330762" name="Text Box 10"/>
          <p:cNvSpPr txBox="1">
            <a:spLocks noChangeArrowheads="1"/>
          </p:cNvSpPr>
          <p:nvPr/>
        </p:nvSpPr>
        <p:spPr bwMode="auto">
          <a:xfrm>
            <a:off x="1365232" y="4037013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3.</a:t>
            </a:r>
          </a:p>
        </p:txBody>
      </p:sp>
      <p:sp>
        <p:nvSpPr>
          <p:cNvPr id="330763" name="Text Box 11"/>
          <p:cNvSpPr txBox="1">
            <a:spLocks noChangeArrowheads="1"/>
          </p:cNvSpPr>
          <p:nvPr/>
        </p:nvSpPr>
        <p:spPr bwMode="auto">
          <a:xfrm>
            <a:off x="1366483" y="4829176"/>
            <a:ext cx="398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4.</a:t>
            </a:r>
          </a:p>
        </p:txBody>
      </p:sp>
      <p:sp>
        <p:nvSpPr>
          <p:cNvPr id="21519" name="Rectangle 13"/>
          <p:cNvSpPr>
            <a:spLocks noChangeArrowheads="1"/>
          </p:cNvSpPr>
          <p:nvPr/>
        </p:nvSpPr>
        <p:spPr bwMode="auto">
          <a:xfrm>
            <a:off x="4479638" y="360469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0764" name="Object 12"/>
          <p:cNvGraphicFramePr>
            <a:graphicFrameLocks noChangeAspect="1"/>
          </p:cNvGraphicFramePr>
          <p:nvPr/>
        </p:nvGraphicFramePr>
        <p:xfrm>
          <a:off x="1846385" y="5541962"/>
          <a:ext cx="1396512" cy="477838"/>
        </p:xfrm>
        <a:graphic>
          <a:graphicData uri="http://schemas.openxmlformats.org/presentationml/2006/ole">
            <p:oleObj spid="_x0000_s22629" name="Equation" r:id="rId8" imgW="723586" imgH="228501" progId="Equation.3">
              <p:embed/>
            </p:oleObj>
          </a:graphicData>
        </a:graphic>
      </p:graphicFrame>
      <p:sp>
        <p:nvSpPr>
          <p:cNvPr id="330766" name="Text Box 14"/>
          <p:cNvSpPr txBox="1">
            <a:spLocks noChangeArrowheads="1"/>
          </p:cNvSpPr>
          <p:nvPr/>
        </p:nvSpPr>
        <p:spPr bwMode="auto">
          <a:xfrm>
            <a:off x="1365232" y="5549901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xmlns="" val="136737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3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/>
      <p:bldP spid="330759" grpId="0"/>
      <p:bldP spid="330760" grpId="0"/>
      <p:bldP spid="330761" grpId="0"/>
      <p:bldP spid="330762" grpId="0"/>
      <p:bldP spid="330763" grpId="0"/>
      <p:bldP spid="3307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nip Diagonal Corner Rectangle 2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nip Diagonal Corner Rectangle 2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253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4B28080F-10F5-44E4-A615-F7F56F141192}" type="slidenum">
              <a:rPr lang="en-US" sz="1200" smtClean="0">
                <a:latin typeface="Arial Black" pitchFamily="34" charset="0"/>
              </a:rPr>
              <a:pPr algn="r" eaLnBrk="1" hangingPunct="1"/>
              <a:t>29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2538" name="Rectangle 5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2977666" y="1043134"/>
          <a:ext cx="2060331" cy="771525"/>
        </p:xfrm>
        <a:graphic>
          <a:graphicData uri="http://schemas.openxmlformats.org/presentationml/2006/ole">
            <p:oleObj spid="_x0000_s23668" name="Equation" r:id="rId4" imgW="1206500" imgH="419100" progId="Equation.3">
              <p:embed/>
            </p:oleObj>
          </a:graphicData>
        </a:graphic>
      </p:graphicFrame>
      <p:sp>
        <p:nvSpPr>
          <p:cNvPr id="22539" name="Rectangle 6"/>
          <p:cNvSpPr>
            <a:spLocks noChangeArrowheads="1"/>
          </p:cNvSpPr>
          <p:nvPr/>
        </p:nvSpPr>
        <p:spPr bwMode="auto">
          <a:xfrm>
            <a:off x="0" y="1035603"/>
            <a:ext cx="3577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  </a:t>
            </a:r>
            <a:r>
              <a:rPr lang="id-ID" sz="12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23916" name="Text Box 12"/>
          <p:cNvSpPr txBox="1">
            <a:spLocks noChangeArrowheads="1"/>
          </p:cNvSpPr>
          <p:nvPr/>
        </p:nvSpPr>
        <p:spPr bwMode="auto">
          <a:xfrm>
            <a:off x="898281" y="1227276"/>
            <a:ext cx="22214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Contoh: Diketahui</a:t>
            </a:r>
          </a:p>
        </p:txBody>
      </p:sp>
      <p:sp>
        <p:nvSpPr>
          <p:cNvPr id="123917" name="Text Box 13"/>
          <p:cNvSpPr txBox="1">
            <a:spLocks noChangeArrowheads="1"/>
          </p:cNvSpPr>
          <p:nvPr/>
        </p:nvSpPr>
        <p:spPr bwMode="auto">
          <a:xfrm>
            <a:off x="1097578" y="1727339"/>
            <a:ext cx="616341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AutoNum type="alphaLcPeriod"/>
            </a:pPr>
            <a:r>
              <a:rPr lang="en-US"/>
              <a:t>Tentukan selang kemonotonan dan ekstrim fungsi</a:t>
            </a:r>
          </a:p>
          <a:p>
            <a:pPr algn="l"/>
            <a:r>
              <a:rPr lang="en-US"/>
              <a:t>b. Tentukan selang kecekungan dan titik belok</a:t>
            </a:r>
          </a:p>
          <a:p>
            <a:pPr algn="l"/>
            <a:r>
              <a:rPr lang="en-US"/>
              <a:t>c. Tentukan semua asimtot</a:t>
            </a:r>
          </a:p>
          <a:p>
            <a:pPr algn="l"/>
            <a:r>
              <a:rPr lang="en-US"/>
              <a:t>d. Gambarkan grafik f(x)</a:t>
            </a: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1030167" y="3171964"/>
            <a:ext cx="48413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a. Fungsi f(x) monoton naik pada selang </a:t>
            </a:r>
          </a:p>
        </p:txBody>
      </p:sp>
      <p:graphicFrame>
        <p:nvGraphicFramePr>
          <p:cNvPr id="123919" name="Object 15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xmlns="" val="2025577254"/>
              </p:ext>
            </p:extLst>
          </p:nvPr>
        </p:nvGraphicFramePr>
        <p:xfrm>
          <a:off x="5693235" y="3202187"/>
          <a:ext cx="1723292" cy="369887"/>
        </p:xfrm>
        <a:graphic>
          <a:graphicData uri="http://schemas.openxmlformats.org/presentationml/2006/ole">
            <p:oleObj spid="_x0000_s23669" name="Equation" r:id="rId5" imgW="1028254" imgH="203112" progId="Equation.3">
              <p:embed/>
            </p:oleObj>
          </a:graphicData>
        </a:graphic>
      </p:graphicFrame>
      <p:sp>
        <p:nvSpPr>
          <p:cNvPr id="123921" name="Text Box 17"/>
          <p:cNvSpPr txBox="1">
            <a:spLocks noChangeArrowheads="1"/>
          </p:cNvSpPr>
          <p:nvPr/>
        </p:nvSpPr>
        <p:spPr bwMode="auto">
          <a:xfrm>
            <a:off x="1267562" y="3505339"/>
            <a:ext cx="339548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monoton turun pada selang </a:t>
            </a:r>
          </a:p>
        </p:txBody>
      </p:sp>
      <p:sp>
        <p:nvSpPr>
          <p:cNvPr id="123922" name="Text Box 18"/>
          <p:cNvSpPr txBox="1">
            <a:spLocks noChangeArrowheads="1"/>
          </p:cNvSpPr>
          <p:nvPr/>
        </p:nvSpPr>
        <p:spPr bwMode="auto">
          <a:xfrm>
            <a:off x="4470547" y="3505339"/>
            <a:ext cx="19431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(0,2) </a:t>
            </a:r>
            <a:r>
              <a:rPr lang="en-US" dirty="0" err="1"/>
              <a:t>dan</a:t>
            </a:r>
            <a:r>
              <a:rPr lang="en-US" dirty="0"/>
              <a:t> (2,4).</a:t>
            </a:r>
          </a:p>
        </p:txBody>
      </p:sp>
      <p:graphicFrame>
        <p:nvGraphicFramePr>
          <p:cNvPr id="1239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5577189"/>
              </p:ext>
            </p:extLst>
          </p:nvPr>
        </p:nvGraphicFramePr>
        <p:xfrm>
          <a:off x="6534817" y="3956599"/>
          <a:ext cx="888023" cy="298450"/>
        </p:xfrm>
        <a:graphic>
          <a:graphicData uri="http://schemas.openxmlformats.org/presentationml/2006/ole">
            <p:oleObj spid="_x0000_s23670" name="Equation" r:id="rId6" imgW="647419" imgH="203112" progId="Equation.3">
              <p:embed/>
            </p:oleObj>
          </a:graphicData>
        </a:graphic>
      </p:graphicFrame>
      <p:graphicFrame>
        <p:nvGraphicFramePr>
          <p:cNvPr id="1239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65319882"/>
              </p:ext>
            </p:extLst>
          </p:nvPr>
        </p:nvGraphicFramePr>
        <p:xfrm>
          <a:off x="6357345" y="4367410"/>
          <a:ext cx="789843" cy="311150"/>
        </p:xfrm>
        <a:graphic>
          <a:graphicData uri="http://schemas.openxmlformats.org/presentationml/2006/ole">
            <p:oleObj spid="_x0000_s23671" name="Equation" r:id="rId7" imgW="558558" imgH="203112" progId="Equation.3">
              <p:embed/>
            </p:oleObj>
          </a:graphicData>
        </a:graphic>
      </p:graphicFrame>
      <p:sp>
        <p:nvSpPr>
          <p:cNvPr id="123925" name="Text Box 21"/>
          <p:cNvSpPr txBox="1">
            <a:spLocks noChangeArrowheads="1"/>
          </p:cNvSpPr>
          <p:nvPr/>
        </p:nvSpPr>
        <p:spPr bwMode="auto">
          <a:xfrm>
            <a:off x="1263167" y="3878401"/>
            <a:ext cx="53639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>
                <a:latin typeface="Arial" charset="0"/>
              </a:rPr>
              <a:t>di x = 0 </a:t>
            </a:r>
            <a:r>
              <a:rPr lang="en-US" dirty="0" err="1">
                <a:latin typeface="Arial" charset="0"/>
              </a:rPr>
              <a:t>tercapai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maksimum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lokal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dengan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nilai</a:t>
            </a:r>
            <a:endParaRPr lang="en-US" dirty="0">
              <a:latin typeface="Arial" charset="0"/>
            </a:endParaRPr>
          </a:p>
        </p:txBody>
      </p:sp>
      <p:sp>
        <p:nvSpPr>
          <p:cNvPr id="123926" name="Text Box 22"/>
          <p:cNvSpPr txBox="1">
            <a:spLocks noChangeArrowheads="1"/>
          </p:cNvSpPr>
          <p:nvPr/>
        </p:nvSpPr>
        <p:spPr bwMode="auto">
          <a:xfrm>
            <a:off x="1248512" y="4278450"/>
            <a:ext cx="51651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latin typeface="Arial" charset="0"/>
              </a:rPr>
              <a:t>di x = 4 tercapai minimum lokal dengan nilai</a:t>
            </a:r>
          </a:p>
        </p:txBody>
      </p:sp>
      <p:sp>
        <p:nvSpPr>
          <p:cNvPr id="123927" name="Text Box 23"/>
          <p:cNvSpPr txBox="1">
            <a:spLocks noChangeArrowheads="1"/>
          </p:cNvSpPr>
          <p:nvPr/>
        </p:nvSpPr>
        <p:spPr bwMode="auto">
          <a:xfrm>
            <a:off x="1049219" y="4767401"/>
            <a:ext cx="3716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b. Grafik f cekung keatas pada </a:t>
            </a:r>
          </a:p>
        </p:txBody>
      </p:sp>
      <p:graphicFrame>
        <p:nvGraphicFramePr>
          <p:cNvPr id="1239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06608127"/>
              </p:ext>
            </p:extLst>
          </p:nvPr>
        </p:nvGraphicFramePr>
        <p:xfrm>
          <a:off x="4558255" y="4783306"/>
          <a:ext cx="665285" cy="368300"/>
        </p:xfrm>
        <a:graphic>
          <a:graphicData uri="http://schemas.openxmlformats.org/presentationml/2006/ole">
            <p:oleObj spid="_x0000_s23672" name="Equation" r:id="rId8" imgW="393529" imgH="203112" progId="Equation.3">
              <p:embed/>
            </p:oleObj>
          </a:graphicData>
        </a:graphic>
      </p:graphicFrame>
      <p:sp>
        <p:nvSpPr>
          <p:cNvPr id="123929" name="Text Box 25"/>
          <p:cNvSpPr txBox="1">
            <a:spLocks noChangeArrowheads="1"/>
          </p:cNvSpPr>
          <p:nvPr/>
        </p:nvSpPr>
        <p:spPr bwMode="auto">
          <a:xfrm>
            <a:off x="5147136" y="4787979"/>
            <a:ext cx="3203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dan cekung kebawah pada</a:t>
            </a:r>
          </a:p>
        </p:txBody>
      </p:sp>
      <p:sp>
        <p:nvSpPr>
          <p:cNvPr id="123930" name="Text Box 26"/>
          <p:cNvSpPr txBox="1">
            <a:spLocks noChangeArrowheads="1"/>
          </p:cNvSpPr>
          <p:nvPr/>
        </p:nvSpPr>
        <p:spPr bwMode="auto">
          <a:xfrm>
            <a:off x="1314455" y="5126176"/>
            <a:ext cx="990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selang </a:t>
            </a:r>
          </a:p>
        </p:txBody>
      </p:sp>
      <p:graphicFrame>
        <p:nvGraphicFramePr>
          <p:cNvPr id="1239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01437481"/>
              </p:ext>
            </p:extLst>
          </p:nvPr>
        </p:nvGraphicFramePr>
        <p:xfrm>
          <a:off x="2168133" y="5126176"/>
          <a:ext cx="797169" cy="377825"/>
        </p:xfrm>
        <a:graphic>
          <a:graphicData uri="http://schemas.openxmlformats.org/presentationml/2006/ole">
            <p:oleObj spid="_x0000_s23673" name="Equation" r:id="rId9" imgW="457002" imgH="203112" progId="Equation.3">
              <p:embed/>
            </p:oleObj>
          </a:graphicData>
        </a:graphic>
      </p:graphicFrame>
      <p:sp>
        <p:nvSpPr>
          <p:cNvPr id="123932" name="Text Box 28"/>
          <p:cNvSpPr txBox="1">
            <a:spLocks noChangeArrowheads="1"/>
          </p:cNvSpPr>
          <p:nvPr/>
        </p:nvSpPr>
        <p:spPr bwMode="auto">
          <a:xfrm>
            <a:off x="2896240" y="5110735"/>
            <a:ext cx="25656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belok</a:t>
            </a:r>
            <a:endParaRPr lang="en-US" dirty="0"/>
          </a:p>
        </p:txBody>
      </p:sp>
      <p:sp>
        <p:nvSpPr>
          <p:cNvPr id="123933" name="Text Box 29"/>
          <p:cNvSpPr txBox="1">
            <a:spLocks noChangeArrowheads="1"/>
          </p:cNvSpPr>
          <p:nvPr/>
        </p:nvSpPr>
        <p:spPr bwMode="auto">
          <a:xfrm>
            <a:off x="1031635" y="5692914"/>
            <a:ext cx="7289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c. Asimtot tegak x = 2, asimtot miring y = x, tidak ada asimtot</a:t>
            </a:r>
          </a:p>
          <a:p>
            <a:pPr algn="l"/>
            <a:r>
              <a:rPr lang="en-US"/>
              <a:t>   datar</a:t>
            </a:r>
          </a:p>
        </p:txBody>
      </p:sp>
    </p:spTree>
    <p:extLst>
      <p:ext uri="{BB962C8B-B14F-4D97-AF65-F5344CB8AC3E}">
        <p14:creationId xmlns:p14="http://schemas.microsoft.com/office/powerpoint/2010/main" xmlns="" val="242915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2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2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2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2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2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2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2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2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6" grpId="0"/>
      <p:bldP spid="123917" grpId="0"/>
      <p:bldP spid="123918" grpId="0"/>
      <p:bldP spid="123921" grpId="0"/>
      <p:bldP spid="123922" grpId="0"/>
      <p:bldP spid="123925" grpId="0"/>
      <p:bldP spid="123926" grpId="0"/>
      <p:bldP spid="123927" grpId="0"/>
      <p:bldP spid="123929" grpId="0"/>
      <p:bldP spid="123930" grpId="0"/>
      <p:bldP spid="123932" grpId="0"/>
      <p:bldP spid="1239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72250" y="908051"/>
            <a:ext cx="2057400" cy="3651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DE089226-94E8-42FE-B95A-1986338D00DA}" type="slidenum">
              <a:rPr lang="en-US" sz="1200" smtClean="0">
                <a:latin typeface="Arial Black" pitchFamily="34" charset="0"/>
              </a:rPr>
              <a:pPr algn="r" eaLnBrk="1" hangingPunct="1"/>
              <a:t>30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583223" y="1003301"/>
            <a:ext cx="16310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d. Grafik f(x)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647092" y="2732094"/>
            <a:ext cx="5317881" cy="3311525"/>
            <a:chOff x="1124" y="890"/>
            <a:chExt cx="3629" cy="2086"/>
          </a:xfrm>
        </p:grpSpPr>
        <p:sp>
          <p:nvSpPr>
            <p:cNvPr id="23585" name="Line 5"/>
            <p:cNvSpPr>
              <a:spLocks noChangeShapeType="1"/>
            </p:cNvSpPr>
            <p:nvPr/>
          </p:nvSpPr>
          <p:spPr bwMode="auto">
            <a:xfrm>
              <a:off x="2712" y="890"/>
              <a:ext cx="0" cy="20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6"/>
            <p:cNvSpPr>
              <a:spLocks noChangeShapeType="1"/>
            </p:cNvSpPr>
            <p:nvPr/>
          </p:nvSpPr>
          <p:spPr bwMode="auto">
            <a:xfrm>
              <a:off x="1124" y="2160"/>
              <a:ext cx="3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3113" name="Line 9"/>
          <p:cNvSpPr>
            <a:spLocks noChangeShapeType="1"/>
          </p:cNvSpPr>
          <p:nvPr/>
        </p:nvSpPr>
        <p:spPr bwMode="auto">
          <a:xfrm>
            <a:off x="4506058" y="2516188"/>
            <a:ext cx="0" cy="39608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14" name="Text Box 10"/>
          <p:cNvSpPr txBox="1">
            <a:spLocks noChangeArrowheads="1"/>
          </p:cNvSpPr>
          <p:nvPr/>
        </p:nvSpPr>
        <p:spPr bwMode="auto">
          <a:xfrm>
            <a:off x="4438650" y="4711701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2</a:t>
            </a:r>
          </a:p>
        </p:txBody>
      </p:sp>
      <p:sp>
        <p:nvSpPr>
          <p:cNvPr id="303115" name="Line 11"/>
          <p:cNvSpPr>
            <a:spLocks noChangeShapeType="1"/>
          </p:cNvSpPr>
          <p:nvPr/>
        </p:nvSpPr>
        <p:spPr bwMode="auto">
          <a:xfrm flipV="1">
            <a:off x="2511673" y="2803525"/>
            <a:ext cx="4120662" cy="30241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16" name="Text Box 12"/>
          <p:cNvSpPr txBox="1">
            <a:spLocks noChangeArrowheads="1"/>
          </p:cNvSpPr>
          <p:nvPr/>
        </p:nvSpPr>
        <p:spPr bwMode="auto">
          <a:xfrm>
            <a:off x="2138000" y="5324476"/>
            <a:ext cx="6254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y=x</a:t>
            </a:r>
          </a:p>
        </p:txBody>
      </p:sp>
      <p:sp>
        <p:nvSpPr>
          <p:cNvPr id="303118" name="Line 14"/>
          <p:cNvSpPr>
            <a:spLocks noChangeShapeType="1"/>
          </p:cNvSpPr>
          <p:nvPr/>
        </p:nvSpPr>
        <p:spPr bwMode="auto">
          <a:xfrm>
            <a:off x="1780443" y="1652588"/>
            <a:ext cx="49852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19" name="Text Box 15"/>
          <p:cNvSpPr txBox="1">
            <a:spLocks noChangeArrowheads="1"/>
          </p:cNvSpPr>
          <p:nvPr/>
        </p:nvSpPr>
        <p:spPr bwMode="auto">
          <a:xfrm>
            <a:off x="3821723" y="1543051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0</a:t>
            </a:r>
          </a:p>
        </p:txBody>
      </p:sp>
      <p:sp>
        <p:nvSpPr>
          <p:cNvPr id="303120" name="Text Box 16"/>
          <p:cNvSpPr txBox="1">
            <a:spLocks noChangeArrowheads="1"/>
          </p:cNvSpPr>
          <p:nvPr/>
        </p:nvSpPr>
        <p:spPr bwMode="auto">
          <a:xfrm>
            <a:off x="4372708" y="1543051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2</a:t>
            </a:r>
          </a:p>
        </p:txBody>
      </p:sp>
      <p:sp>
        <p:nvSpPr>
          <p:cNvPr id="303121" name="Text Box 17"/>
          <p:cNvSpPr txBox="1">
            <a:spLocks noChangeArrowheads="1"/>
          </p:cNvSpPr>
          <p:nvPr/>
        </p:nvSpPr>
        <p:spPr bwMode="auto">
          <a:xfrm>
            <a:off x="5018943" y="1543051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4</a:t>
            </a:r>
          </a:p>
        </p:txBody>
      </p:sp>
      <p:sp>
        <p:nvSpPr>
          <p:cNvPr id="303122" name="Text Box 18"/>
          <p:cNvSpPr txBox="1">
            <a:spLocks noChangeArrowheads="1"/>
          </p:cNvSpPr>
          <p:nvPr/>
        </p:nvSpPr>
        <p:spPr bwMode="auto">
          <a:xfrm>
            <a:off x="5109796" y="1255713"/>
            <a:ext cx="13003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++++++</a:t>
            </a:r>
          </a:p>
        </p:txBody>
      </p:sp>
      <p:sp>
        <p:nvSpPr>
          <p:cNvPr id="303123" name="Text Box 19"/>
          <p:cNvSpPr txBox="1">
            <a:spLocks noChangeArrowheads="1"/>
          </p:cNvSpPr>
          <p:nvPr/>
        </p:nvSpPr>
        <p:spPr bwMode="auto">
          <a:xfrm>
            <a:off x="4561747" y="1262064"/>
            <a:ext cx="6495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-----</a:t>
            </a:r>
          </a:p>
        </p:txBody>
      </p:sp>
      <p:sp>
        <p:nvSpPr>
          <p:cNvPr id="303124" name="Text Box 20"/>
          <p:cNvSpPr txBox="1">
            <a:spLocks noChangeArrowheads="1"/>
          </p:cNvSpPr>
          <p:nvPr/>
        </p:nvSpPr>
        <p:spPr bwMode="auto">
          <a:xfrm>
            <a:off x="3906718" y="1230314"/>
            <a:ext cx="6495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-----</a:t>
            </a:r>
          </a:p>
        </p:txBody>
      </p:sp>
      <p:sp>
        <p:nvSpPr>
          <p:cNvPr id="303125" name="Text Box 21"/>
          <p:cNvSpPr txBox="1">
            <a:spLocks noChangeArrowheads="1"/>
          </p:cNvSpPr>
          <p:nvPr/>
        </p:nvSpPr>
        <p:spPr bwMode="auto">
          <a:xfrm>
            <a:off x="2776904" y="1255713"/>
            <a:ext cx="13003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++++++</a:t>
            </a:r>
          </a:p>
        </p:txBody>
      </p:sp>
      <p:sp>
        <p:nvSpPr>
          <p:cNvPr id="23572" name="Rectangle 24"/>
          <p:cNvSpPr>
            <a:spLocks noChangeArrowheads="1"/>
          </p:cNvSpPr>
          <p:nvPr/>
        </p:nvSpPr>
        <p:spPr bwMode="auto">
          <a:xfrm>
            <a:off x="4479638" y="3671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03127" name="Object 23"/>
          <p:cNvGraphicFramePr>
            <a:graphicFrameLocks noChangeAspect="1"/>
          </p:cNvGraphicFramePr>
          <p:nvPr/>
        </p:nvGraphicFramePr>
        <p:xfrm>
          <a:off x="6899032" y="1292229"/>
          <a:ext cx="347297" cy="415925"/>
        </p:xfrm>
        <a:graphic>
          <a:graphicData uri="http://schemas.openxmlformats.org/presentationml/2006/ole">
            <p:oleObj spid="_x0000_s24616" name="Equation" r:id="rId3" imgW="177569" imgH="202936" progId="Equation.3">
              <p:embed/>
            </p:oleObj>
          </a:graphicData>
        </a:graphic>
      </p:graphicFrame>
      <p:sp>
        <p:nvSpPr>
          <p:cNvPr id="303129" name="Line 25"/>
          <p:cNvSpPr>
            <a:spLocks noChangeShapeType="1"/>
          </p:cNvSpPr>
          <p:nvPr/>
        </p:nvSpPr>
        <p:spPr bwMode="auto">
          <a:xfrm>
            <a:off x="1714503" y="2155825"/>
            <a:ext cx="49852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30" name="Text Box 26"/>
          <p:cNvSpPr txBox="1">
            <a:spLocks noChangeArrowheads="1"/>
          </p:cNvSpPr>
          <p:nvPr/>
        </p:nvSpPr>
        <p:spPr bwMode="auto">
          <a:xfrm>
            <a:off x="4372708" y="2046289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2</a:t>
            </a:r>
          </a:p>
        </p:txBody>
      </p:sp>
      <p:sp>
        <p:nvSpPr>
          <p:cNvPr id="303131" name="Text Box 27"/>
          <p:cNvSpPr txBox="1">
            <a:spLocks noChangeArrowheads="1"/>
          </p:cNvSpPr>
          <p:nvPr/>
        </p:nvSpPr>
        <p:spPr bwMode="auto">
          <a:xfrm>
            <a:off x="2511670" y="1795464"/>
            <a:ext cx="21371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---------------------</a:t>
            </a:r>
          </a:p>
        </p:txBody>
      </p:sp>
      <p:sp>
        <p:nvSpPr>
          <p:cNvPr id="303132" name="Text Box 28"/>
          <p:cNvSpPr txBox="1">
            <a:spLocks noChangeArrowheads="1"/>
          </p:cNvSpPr>
          <p:nvPr/>
        </p:nvSpPr>
        <p:spPr bwMode="auto">
          <a:xfrm>
            <a:off x="4637943" y="1795464"/>
            <a:ext cx="22300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+++++++++++</a:t>
            </a:r>
          </a:p>
        </p:txBody>
      </p:sp>
      <p:graphicFrame>
        <p:nvGraphicFramePr>
          <p:cNvPr id="303133" name="Object 29"/>
          <p:cNvGraphicFramePr>
            <a:graphicFrameLocks noGrp="1" noChangeAspect="1"/>
          </p:cNvGraphicFramePr>
          <p:nvPr>
            <p:ph/>
          </p:nvPr>
        </p:nvGraphicFramePr>
        <p:xfrm>
          <a:off x="6699739" y="1939925"/>
          <a:ext cx="348762" cy="355600"/>
        </p:xfrm>
        <a:graphic>
          <a:graphicData uri="http://schemas.openxmlformats.org/presentationml/2006/ole">
            <p:oleObj spid="_x0000_s24617" name="Equation" r:id="rId4" imgW="215713" imgH="203024" progId="Equation.3">
              <p:embed/>
            </p:oleObj>
          </a:graphicData>
        </a:graphic>
      </p:graphicFrame>
      <p:sp>
        <p:nvSpPr>
          <p:cNvPr id="303135" name="Text Box 31"/>
          <p:cNvSpPr txBox="1">
            <a:spLocks noChangeArrowheads="1"/>
          </p:cNvSpPr>
          <p:nvPr/>
        </p:nvSpPr>
        <p:spPr bwMode="auto">
          <a:xfrm>
            <a:off x="3641482" y="4881564"/>
            <a:ext cx="4171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-2</a:t>
            </a:r>
          </a:p>
        </p:txBody>
      </p:sp>
      <p:sp>
        <p:nvSpPr>
          <p:cNvPr id="303136" name="Text Box 32"/>
          <p:cNvSpPr txBox="1">
            <a:spLocks noChangeArrowheads="1"/>
          </p:cNvSpPr>
          <p:nvPr/>
        </p:nvSpPr>
        <p:spPr bwMode="auto">
          <a:xfrm>
            <a:off x="4953000" y="4665664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4</a:t>
            </a:r>
          </a:p>
        </p:txBody>
      </p:sp>
      <p:sp>
        <p:nvSpPr>
          <p:cNvPr id="303137" name="Text Box 33"/>
          <p:cNvSpPr txBox="1">
            <a:spLocks noChangeArrowheads="1"/>
          </p:cNvSpPr>
          <p:nvPr/>
        </p:nvSpPr>
        <p:spPr bwMode="auto">
          <a:xfrm>
            <a:off x="3707423" y="3198814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6</a:t>
            </a:r>
          </a:p>
        </p:txBody>
      </p:sp>
      <p:sp>
        <p:nvSpPr>
          <p:cNvPr id="303138" name="Line 34"/>
          <p:cNvSpPr>
            <a:spLocks noChangeShapeType="1"/>
          </p:cNvSpPr>
          <p:nvPr/>
        </p:nvSpPr>
        <p:spPr bwMode="auto">
          <a:xfrm>
            <a:off x="5037992" y="3451225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39" name="Line 35"/>
          <p:cNvSpPr>
            <a:spLocks noChangeShapeType="1"/>
          </p:cNvSpPr>
          <p:nvPr/>
        </p:nvSpPr>
        <p:spPr bwMode="auto">
          <a:xfrm flipH="1">
            <a:off x="3974128" y="3379788"/>
            <a:ext cx="106386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44" name="Freeform 40"/>
          <p:cNvSpPr>
            <a:spLocks/>
          </p:cNvSpPr>
          <p:nvPr/>
        </p:nvSpPr>
        <p:spPr bwMode="auto">
          <a:xfrm>
            <a:off x="2645023" y="5035550"/>
            <a:ext cx="1815611" cy="1225550"/>
          </a:xfrm>
          <a:custGeom>
            <a:avLst/>
            <a:gdLst>
              <a:gd name="T0" fmla="*/ 0 w 1239"/>
              <a:gd name="T1" fmla="*/ 2147483647 h 772"/>
              <a:gd name="T2" fmla="*/ 2147483647 w 1239"/>
              <a:gd name="T3" fmla="*/ 2147483647 h 772"/>
              <a:gd name="T4" fmla="*/ 2147483647 w 1239"/>
              <a:gd name="T5" fmla="*/ 0 h 772"/>
              <a:gd name="T6" fmla="*/ 2147483647 w 1239"/>
              <a:gd name="T7" fmla="*/ 2147483647 h 772"/>
              <a:gd name="T8" fmla="*/ 2147483647 w 1239"/>
              <a:gd name="T9" fmla="*/ 2147483647 h 772"/>
              <a:gd name="T10" fmla="*/ 2147483647 w 1239"/>
              <a:gd name="T11" fmla="*/ 2147483647 h 7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39"/>
              <a:gd name="T19" fmla="*/ 0 h 772"/>
              <a:gd name="T20" fmla="*/ 1239 w 1239"/>
              <a:gd name="T21" fmla="*/ 772 h 7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39" h="772">
                <a:moveTo>
                  <a:pt x="0" y="499"/>
                </a:moveTo>
                <a:cubicBezTo>
                  <a:pt x="219" y="336"/>
                  <a:pt x="438" y="174"/>
                  <a:pt x="589" y="91"/>
                </a:cubicBezTo>
                <a:cubicBezTo>
                  <a:pt x="740" y="8"/>
                  <a:pt x="816" y="0"/>
                  <a:pt x="907" y="0"/>
                </a:cubicBezTo>
                <a:cubicBezTo>
                  <a:pt x="998" y="0"/>
                  <a:pt x="1081" y="30"/>
                  <a:pt x="1134" y="91"/>
                </a:cubicBezTo>
                <a:cubicBezTo>
                  <a:pt x="1187" y="152"/>
                  <a:pt x="1209" y="250"/>
                  <a:pt x="1224" y="363"/>
                </a:cubicBezTo>
                <a:cubicBezTo>
                  <a:pt x="1239" y="476"/>
                  <a:pt x="1231" y="624"/>
                  <a:pt x="1224" y="77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150" name="Freeform 46"/>
          <p:cNvSpPr>
            <a:spLocks/>
          </p:cNvSpPr>
          <p:nvPr/>
        </p:nvSpPr>
        <p:spPr bwMode="auto">
          <a:xfrm>
            <a:off x="4572005" y="2587634"/>
            <a:ext cx="1926981" cy="792163"/>
          </a:xfrm>
          <a:custGeom>
            <a:avLst/>
            <a:gdLst>
              <a:gd name="T0" fmla="*/ 0 w 1315"/>
              <a:gd name="T1" fmla="*/ 0 h 499"/>
              <a:gd name="T2" fmla="*/ 2147483647 w 1315"/>
              <a:gd name="T3" fmla="*/ 2147483647 h 499"/>
              <a:gd name="T4" fmla="*/ 2147483647 w 1315"/>
              <a:gd name="T5" fmla="*/ 2147483647 h 499"/>
              <a:gd name="T6" fmla="*/ 2147483647 w 1315"/>
              <a:gd name="T7" fmla="*/ 2147483647 h 499"/>
              <a:gd name="T8" fmla="*/ 2147483647 w 1315"/>
              <a:gd name="T9" fmla="*/ 2147483647 h 4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5"/>
              <a:gd name="T16" fmla="*/ 0 h 499"/>
              <a:gd name="T17" fmla="*/ 1315 w 1315"/>
              <a:gd name="T18" fmla="*/ 499 h 4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5" h="499">
                <a:moveTo>
                  <a:pt x="0" y="0"/>
                </a:moveTo>
                <a:cubicBezTo>
                  <a:pt x="60" y="162"/>
                  <a:pt x="121" y="325"/>
                  <a:pt x="181" y="408"/>
                </a:cubicBezTo>
                <a:cubicBezTo>
                  <a:pt x="241" y="491"/>
                  <a:pt x="257" y="499"/>
                  <a:pt x="363" y="499"/>
                </a:cubicBezTo>
                <a:cubicBezTo>
                  <a:pt x="469" y="499"/>
                  <a:pt x="657" y="468"/>
                  <a:pt x="816" y="408"/>
                </a:cubicBezTo>
                <a:cubicBezTo>
                  <a:pt x="975" y="348"/>
                  <a:pt x="1145" y="242"/>
                  <a:pt x="1315" y="1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244408" y="0"/>
            <a:ext cx="899592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nip Diagonal Corner Rectangle 3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nip Diagonal Corner Rectangle 3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jtk-header-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66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0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0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30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0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0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0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0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0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0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0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30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30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30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3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30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30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30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0"/>
                                        <p:tgtEl>
                                          <p:spTgt spid="30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3" grpId="0" animBg="1"/>
      <p:bldP spid="303114" grpId="0"/>
      <p:bldP spid="303115" grpId="0" animBg="1"/>
      <p:bldP spid="303116" grpId="0"/>
      <p:bldP spid="303118" grpId="0" animBg="1"/>
      <p:bldP spid="303119" grpId="0"/>
      <p:bldP spid="303120" grpId="0"/>
      <p:bldP spid="303121" grpId="0"/>
      <p:bldP spid="303122" grpId="0"/>
      <p:bldP spid="303123" grpId="0"/>
      <p:bldP spid="303124" grpId="0"/>
      <p:bldP spid="303125" grpId="0"/>
      <p:bldP spid="303129" grpId="0" animBg="1"/>
      <p:bldP spid="303129" grpId="1" animBg="1"/>
      <p:bldP spid="303130" grpId="0"/>
      <p:bldP spid="303131" grpId="0"/>
      <p:bldP spid="303132" grpId="0"/>
      <p:bldP spid="303135" grpId="0"/>
      <p:bldP spid="303136" grpId="0"/>
      <p:bldP spid="303137" grpId="0"/>
      <p:bldP spid="303138" grpId="0" animBg="1"/>
      <p:bldP spid="303139" grpId="0" animBg="1"/>
      <p:bldP spid="303144" grpId="0" animBg="1"/>
      <p:bldP spid="30315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nip Diagonal Corner Rectangle 16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7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458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CB9E46B-F1B6-4BDE-AE64-7E7FF54CC05A}" type="slidenum">
              <a:rPr lang="en-US" sz="1200" smtClean="0">
                <a:latin typeface="Arial Black" pitchFamily="34" charset="0"/>
              </a:rPr>
              <a:pPr algn="r" eaLnBrk="1" hangingPunct="1"/>
              <a:t>31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325640" name="Object 8"/>
          <p:cNvGraphicFramePr>
            <a:graphicFrameLocks noChangeAspect="1"/>
          </p:cNvGraphicFramePr>
          <p:nvPr/>
        </p:nvGraphicFramePr>
        <p:xfrm>
          <a:off x="1648558" y="2316171"/>
          <a:ext cx="1395046" cy="682625"/>
        </p:xfrm>
        <a:graphic>
          <a:graphicData uri="http://schemas.openxmlformats.org/presentationml/2006/ole">
            <p:oleObj spid="_x0000_s25697" name="Equation" r:id="rId4" imgW="863225" imgH="393529" progId="Equation.3">
              <p:embed/>
            </p:oleObj>
          </a:graphicData>
        </a:graphic>
      </p:graphicFrame>
      <p:graphicFrame>
        <p:nvGraphicFramePr>
          <p:cNvPr id="325639" name="Object 7"/>
          <p:cNvGraphicFramePr>
            <a:graphicFrameLocks noChangeAspect="1"/>
          </p:cNvGraphicFramePr>
          <p:nvPr/>
        </p:nvGraphicFramePr>
        <p:xfrm>
          <a:off x="1647093" y="3179771"/>
          <a:ext cx="1263162" cy="638175"/>
        </p:xfrm>
        <a:graphic>
          <a:graphicData uri="http://schemas.openxmlformats.org/presentationml/2006/ole">
            <p:oleObj spid="_x0000_s25698" name="Equation" r:id="rId5" imgW="837836" imgH="393529" progId="Equation.3">
              <p:embed/>
            </p:oleObj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/>
        </p:nvGraphicFramePr>
        <p:xfrm>
          <a:off x="1645632" y="3978275"/>
          <a:ext cx="2195146" cy="684212"/>
        </p:xfrm>
        <a:graphic>
          <a:graphicData uri="http://schemas.openxmlformats.org/presentationml/2006/ole">
            <p:oleObj spid="_x0000_s25699" name="Equation" r:id="rId6" imgW="1460500" imgH="419100" progId="Equation.3">
              <p:embed/>
            </p:oleObj>
          </a:graphicData>
        </a:graphic>
      </p:graphicFrame>
      <p:graphicFrame>
        <p:nvGraphicFramePr>
          <p:cNvPr id="325637" name="Object 5"/>
          <p:cNvGraphicFramePr>
            <a:graphicFrameLocks noChangeAspect="1"/>
          </p:cNvGraphicFramePr>
          <p:nvPr/>
        </p:nvGraphicFramePr>
        <p:xfrm>
          <a:off x="1647093" y="4837112"/>
          <a:ext cx="1263162" cy="668338"/>
        </p:xfrm>
        <a:graphic>
          <a:graphicData uri="http://schemas.openxmlformats.org/presentationml/2006/ole">
            <p:oleObj spid="_x0000_s25700" name="Equation" r:id="rId7" imgW="799753" imgH="393529" progId="Equation.3">
              <p:embed/>
            </p:oleObj>
          </a:graphicData>
        </a:graphic>
      </p:graphicFrame>
      <p:graphicFrame>
        <p:nvGraphicFramePr>
          <p:cNvPr id="325636" name="Object 4"/>
          <p:cNvGraphicFramePr>
            <a:graphicFrameLocks noChangeAspect="1"/>
          </p:cNvGraphicFramePr>
          <p:nvPr/>
        </p:nvGraphicFramePr>
        <p:xfrm>
          <a:off x="1647092" y="5700712"/>
          <a:ext cx="1395046" cy="700088"/>
        </p:xfrm>
        <a:graphic>
          <a:graphicData uri="http://schemas.openxmlformats.org/presentationml/2006/ole">
            <p:oleObj spid="_x0000_s25701" name="Equation" r:id="rId8" imgW="901309" imgH="418918" progId="Equation.3">
              <p:embed/>
            </p:oleObj>
          </a:graphicData>
        </a:graphic>
      </p:graphicFrame>
      <p:sp>
        <p:nvSpPr>
          <p:cNvPr id="325641" name="Rectangle 9"/>
          <p:cNvSpPr>
            <a:spLocks noChangeArrowheads="1"/>
          </p:cNvSpPr>
          <p:nvPr/>
        </p:nvSpPr>
        <p:spPr bwMode="auto">
          <a:xfrm>
            <a:off x="511420" y="1558190"/>
            <a:ext cx="778450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/>
          <a:p>
            <a:r>
              <a:rPr lang="en-US" dirty="0">
                <a:cs typeface="Times New Roman" pitchFamily="18" charset="0"/>
              </a:rPr>
              <a:t>A. </a:t>
            </a:r>
            <a:r>
              <a:rPr lang="en-US" dirty="0" err="1">
                <a:cs typeface="Times New Roman" pitchFamily="18" charset="0"/>
              </a:rPr>
              <a:t>Gambarkan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grafik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berikut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dengan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mencari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terlebih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dahulu</a:t>
            </a:r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    </a:t>
            </a:r>
            <a:r>
              <a:rPr lang="en-US" dirty="0" err="1">
                <a:cs typeface="Times New Roman" pitchFamily="18" charset="0"/>
              </a:rPr>
              <a:t>selang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kemonotonan,ekstrim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 err="1">
                <a:cs typeface="Times New Roman" pitchFamily="18" charset="0"/>
              </a:rPr>
              <a:t>kecekungan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 err="1">
                <a:cs typeface="Times New Roman" pitchFamily="18" charset="0"/>
              </a:rPr>
              <a:t>titik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belok</a:t>
            </a:r>
            <a:r>
              <a:rPr lang="en-US" dirty="0">
                <a:cs typeface="Times New Roman" pitchFamily="18" charset="0"/>
              </a:rPr>
              <a:t>, </a:t>
            </a:r>
          </a:p>
          <a:p>
            <a:r>
              <a:rPr lang="en-US" dirty="0">
                <a:cs typeface="Times New Roman" pitchFamily="18" charset="0"/>
              </a:rPr>
              <a:t>    </a:t>
            </a:r>
            <a:r>
              <a:rPr lang="en-US" dirty="0" err="1">
                <a:cs typeface="Times New Roman" pitchFamily="18" charset="0"/>
              </a:rPr>
              <a:t>dan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asimtot</a:t>
            </a:r>
            <a:endParaRPr lang="en-US" dirty="0"/>
          </a:p>
        </p:txBody>
      </p:sp>
      <p:sp>
        <p:nvSpPr>
          <p:cNvPr id="325646" name="Text Box 14"/>
          <p:cNvSpPr txBox="1">
            <a:spLocks noChangeArrowheads="1"/>
          </p:cNvSpPr>
          <p:nvPr/>
        </p:nvSpPr>
        <p:spPr bwMode="auto">
          <a:xfrm>
            <a:off x="543663" y="1062465"/>
            <a:ext cx="15701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Soal Latihan</a:t>
            </a:r>
          </a:p>
        </p:txBody>
      </p:sp>
      <p:sp>
        <p:nvSpPr>
          <p:cNvPr id="325647" name="Text Box 15"/>
          <p:cNvSpPr txBox="1">
            <a:spLocks noChangeArrowheads="1"/>
          </p:cNvSpPr>
          <p:nvPr/>
        </p:nvSpPr>
        <p:spPr bwMode="auto">
          <a:xfrm>
            <a:off x="1262655" y="2432051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</a:t>
            </a:r>
          </a:p>
        </p:txBody>
      </p:sp>
      <p:sp>
        <p:nvSpPr>
          <p:cNvPr id="325648" name="Text Box 16"/>
          <p:cNvSpPr txBox="1">
            <a:spLocks noChangeArrowheads="1"/>
          </p:cNvSpPr>
          <p:nvPr/>
        </p:nvSpPr>
        <p:spPr bwMode="auto">
          <a:xfrm>
            <a:off x="1231882" y="3314701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2.</a:t>
            </a:r>
          </a:p>
        </p:txBody>
      </p:sp>
      <p:sp>
        <p:nvSpPr>
          <p:cNvPr id="325649" name="Text Box 17"/>
          <p:cNvSpPr txBox="1">
            <a:spLocks noChangeArrowheads="1"/>
          </p:cNvSpPr>
          <p:nvPr/>
        </p:nvSpPr>
        <p:spPr bwMode="auto">
          <a:xfrm>
            <a:off x="1231882" y="4116387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3.</a:t>
            </a:r>
          </a:p>
        </p:txBody>
      </p:sp>
      <p:sp>
        <p:nvSpPr>
          <p:cNvPr id="325650" name="Text Box 18"/>
          <p:cNvSpPr txBox="1">
            <a:spLocks noChangeArrowheads="1"/>
          </p:cNvSpPr>
          <p:nvPr/>
        </p:nvSpPr>
        <p:spPr bwMode="auto">
          <a:xfrm>
            <a:off x="1233136" y="4979988"/>
            <a:ext cx="398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4.</a:t>
            </a:r>
          </a:p>
        </p:txBody>
      </p:sp>
      <p:sp>
        <p:nvSpPr>
          <p:cNvPr id="325651" name="Text Box 19"/>
          <p:cNvSpPr txBox="1">
            <a:spLocks noChangeArrowheads="1"/>
          </p:cNvSpPr>
          <p:nvPr/>
        </p:nvSpPr>
        <p:spPr bwMode="auto">
          <a:xfrm>
            <a:off x="1231882" y="5845176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4408" y="0"/>
            <a:ext cx="899592" cy="735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666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3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41" grpId="0"/>
      <p:bldP spid="325646" grpId="0"/>
      <p:bldP spid="325647" grpId="0"/>
      <p:bldP spid="325648" grpId="0"/>
      <p:bldP spid="325649" grpId="0"/>
      <p:bldP spid="325650" grpId="0"/>
      <p:bldP spid="3256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1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560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B67D698-2734-47EB-93AD-689EF2816708}" type="slidenum">
              <a:rPr lang="en-US" sz="1200" smtClean="0">
                <a:latin typeface="Arial Black" pitchFamily="34" charset="0"/>
              </a:rPr>
              <a:pPr algn="r" eaLnBrk="1" hangingPunct="1"/>
              <a:t>32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332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32597954"/>
              </p:ext>
            </p:extLst>
          </p:nvPr>
        </p:nvGraphicFramePr>
        <p:xfrm>
          <a:off x="1532339" y="1772816"/>
          <a:ext cx="1063869" cy="361950"/>
        </p:xfrm>
        <a:graphic>
          <a:graphicData uri="http://schemas.openxmlformats.org/presentationml/2006/ole">
            <p:oleObj spid="_x0000_s26645" name="Equation" r:id="rId4" imgW="634725" imgH="203112" progId="Equation.3">
              <p:embed/>
            </p:oleObj>
          </a:graphicData>
        </a:graphic>
      </p:graphicFrame>
      <p:pic>
        <p:nvPicPr>
          <p:cNvPr id="332804" name="Picture 4" descr="soal-lat-5(i)"/>
          <p:cNvPicPr>
            <a:picLocks noChangeAspect="1" noChangeArrowheads="1"/>
          </p:cNvPicPr>
          <p:nvPr/>
        </p:nvPicPr>
        <p:blipFill>
          <a:blip r:embed="rId5" cstate="print">
            <a:lum bright="20000" contrast="-18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36708" y="2276872"/>
            <a:ext cx="3798277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2806" name="Rectangle 6"/>
          <p:cNvSpPr>
            <a:spLocks noChangeArrowheads="1"/>
          </p:cNvSpPr>
          <p:nvPr/>
        </p:nvSpPr>
        <p:spPr bwMode="auto">
          <a:xfrm>
            <a:off x="899592" y="1268760"/>
            <a:ext cx="69188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/>
          <a:p>
            <a:r>
              <a:rPr lang="sv-SE" dirty="0">
                <a:cs typeface="Times New Roman" pitchFamily="18" charset="0"/>
              </a:rPr>
              <a:t>B. Misalkan </a:t>
            </a:r>
            <a:r>
              <a:rPr lang="sv-SE" i="1" dirty="0">
                <a:cs typeface="Times New Roman" pitchFamily="18" charset="0"/>
              </a:rPr>
              <a:t>f</a:t>
            </a:r>
            <a:r>
              <a:rPr lang="sv-SE" dirty="0">
                <a:cs typeface="Times New Roman" pitchFamily="18" charset="0"/>
              </a:rPr>
              <a:t> suatu fungsi kontinu dan f(-3)=f(0)=2. Jika grafik </a:t>
            </a:r>
            <a:endParaRPr lang="sv-SE" dirty="0"/>
          </a:p>
        </p:txBody>
      </p:sp>
      <p:sp>
        <p:nvSpPr>
          <p:cNvPr id="332807" name="Rectangle 7"/>
          <p:cNvSpPr>
            <a:spLocks noChangeArrowheads="1"/>
          </p:cNvSpPr>
          <p:nvPr/>
        </p:nvSpPr>
        <p:spPr bwMode="auto">
          <a:xfrm>
            <a:off x="2627784" y="1772816"/>
            <a:ext cx="27122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sv-SE" sz="1200" dirty="0">
                <a:latin typeface="Arial" charset="0"/>
                <a:cs typeface="Times New Roman" pitchFamily="18" charset="0"/>
              </a:rPr>
              <a:t> </a:t>
            </a:r>
            <a:r>
              <a:rPr lang="sv-SE" dirty="0">
                <a:cs typeface="Times New Roman" pitchFamily="18" charset="0"/>
              </a:rPr>
              <a:t>seperti gambar berikut :</a:t>
            </a:r>
            <a:endParaRPr lang="sv-SE" dirty="0"/>
          </a:p>
        </p:txBody>
      </p:sp>
      <p:sp>
        <p:nvSpPr>
          <p:cNvPr id="332808" name="Rectangle 8"/>
          <p:cNvSpPr>
            <a:spLocks noChangeArrowheads="1"/>
          </p:cNvSpPr>
          <p:nvPr/>
        </p:nvSpPr>
        <p:spPr bwMode="auto">
          <a:xfrm>
            <a:off x="899592" y="5085184"/>
            <a:ext cx="576426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0" bIns="0" anchor="ctr">
            <a:spAutoFit/>
          </a:bodyPr>
          <a:lstStyle/>
          <a:p>
            <a:pPr lvl="1">
              <a:buFontTx/>
              <a:buAutoNum type="alphaLcPeriod"/>
            </a:pP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Tentukan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selang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kemonotonan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i="1" dirty="0">
                <a:cs typeface="Times New Roman" pitchFamily="18" charset="0"/>
              </a:rPr>
              <a:t>f</a:t>
            </a:r>
            <a:endParaRPr lang="en-US" dirty="0">
              <a:cs typeface="Times New Roman" pitchFamily="18" charset="0"/>
            </a:endParaRPr>
          </a:p>
          <a:p>
            <a:pPr lvl="1" eaLnBrk="0" hangingPunct="0">
              <a:buFontTx/>
              <a:buAutoNum type="alphaLcPeriod"/>
            </a:pP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Tentukan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selang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kecekungan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i="1" dirty="0">
                <a:cs typeface="Times New Roman" pitchFamily="18" charset="0"/>
              </a:rPr>
              <a:t>f</a:t>
            </a:r>
            <a:endParaRPr lang="en-US" dirty="0">
              <a:cs typeface="Times New Roman" pitchFamily="18" charset="0"/>
            </a:endParaRPr>
          </a:p>
          <a:p>
            <a:pPr lvl="1" eaLnBrk="0" hangingPunct="0">
              <a:buFontTx/>
              <a:buAutoNum type="alphaLcPeriod"/>
            </a:pPr>
            <a:r>
              <a:rPr lang="sv-SE" dirty="0">
                <a:cs typeface="Times New Roman" pitchFamily="18" charset="0"/>
              </a:rPr>
              <a:t>  Sketsa grafik fungsi </a:t>
            </a:r>
            <a:r>
              <a:rPr lang="sv-SE" i="1" dirty="0">
                <a:cs typeface="Times New Roman" pitchFamily="18" charset="0"/>
              </a:rPr>
              <a:t>f</a:t>
            </a:r>
            <a:r>
              <a:rPr lang="sv-SE" dirty="0">
                <a:cs typeface="Times New Roman" pitchFamily="18" charset="0"/>
              </a:rPr>
              <a:t>(</a:t>
            </a:r>
            <a:r>
              <a:rPr lang="sv-SE" i="1" dirty="0">
                <a:cs typeface="Times New Roman" pitchFamily="18" charset="0"/>
              </a:rPr>
              <a:t>x).</a:t>
            </a:r>
            <a:endParaRPr lang="en-US" dirty="0"/>
          </a:p>
          <a:p>
            <a:pPr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4058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6" grpId="0"/>
      <p:bldP spid="332807" grpId="0"/>
      <p:bldP spid="33280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Diagonal Corner Rectangle 1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nip Diagonal Corner Rectangle 1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66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E536DBBF-3BC2-4681-BCE0-E3CF0D5CF8E3}" type="slidenum">
              <a:rPr lang="en-US" sz="1200" smtClean="0">
                <a:latin typeface="Arial Black" pitchFamily="34" charset="0"/>
              </a:rPr>
              <a:pPr algn="r" eaLnBrk="1" hangingPunct="1"/>
              <a:t>33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54075"/>
            <a:ext cx="8229600" cy="53943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id-ID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800" b="1" dirty="0" smtClean="0">
                <a:solidFill>
                  <a:srgbClr val="3333FF"/>
                </a:solidFill>
              </a:rPr>
              <a:t>5.2 Menghitung limit fungsi dengan 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800" b="1" dirty="0" smtClean="0">
                <a:solidFill>
                  <a:srgbClr val="3333FF"/>
                </a:solidFill>
              </a:rPr>
              <a:t>	    </a:t>
            </a:r>
            <a:r>
              <a:rPr lang="id-ID" sz="2800" b="1" dirty="0" smtClean="0">
                <a:solidFill>
                  <a:srgbClr val="3333FF"/>
                </a:solidFill>
              </a:rPr>
              <a:t>Aturan L’Hôpital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400" dirty="0" smtClean="0"/>
              <a:t>Bentuk tak tentu dalam limit :</a:t>
            </a:r>
            <a:r>
              <a:rPr lang="id-ID" sz="2000" b="1" dirty="0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id-ID" sz="2000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/>
              <a:t>1. </a:t>
            </a:r>
            <a:r>
              <a:rPr lang="id-ID" sz="2000" b="1" dirty="0" smtClean="0"/>
              <a:t>Aturan L’Hôpital untuk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bentuk</a:t>
            </a:r>
            <a:r>
              <a:rPr lang="id-ID" sz="2000" b="1" dirty="0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id-ID" sz="2000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/>
              <a:t>    Andaikan  lim </a:t>
            </a:r>
            <a:r>
              <a:rPr lang="id-ID" sz="2000" i="1" dirty="0" smtClean="0"/>
              <a:t>f</a:t>
            </a:r>
            <a:r>
              <a:rPr lang="id-ID" sz="2000" dirty="0" smtClean="0"/>
              <a:t>(</a:t>
            </a:r>
            <a:r>
              <a:rPr lang="id-ID" sz="2000" i="1" dirty="0" smtClean="0"/>
              <a:t>x</a:t>
            </a:r>
            <a:r>
              <a:rPr lang="id-ID" sz="2000" dirty="0" smtClean="0"/>
              <a:t>) = lim </a:t>
            </a:r>
            <a:r>
              <a:rPr lang="id-ID" sz="2000" i="1" dirty="0" smtClean="0"/>
              <a:t>g</a:t>
            </a:r>
            <a:r>
              <a:rPr lang="id-ID" sz="2000" dirty="0" smtClean="0"/>
              <a:t>(</a:t>
            </a:r>
            <a:r>
              <a:rPr lang="id-ID" sz="2000" i="1" dirty="0" smtClean="0"/>
              <a:t>x</a:t>
            </a:r>
            <a:r>
              <a:rPr lang="id-ID" sz="2000" dirty="0" smtClean="0"/>
              <a:t>) = 0. Jika</a:t>
            </a:r>
          </a:p>
          <a:p>
            <a:pPr eaLnBrk="1" hangingPunct="1">
              <a:buFont typeface="Wingdings" pitchFamily="2" charset="2"/>
              <a:buNone/>
            </a:pPr>
            <a:endParaRPr lang="id-ID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/>
              <a:t>    </a:t>
            </a:r>
            <a:r>
              <a:rPr lang="en-US" sz="2000" dirty="0" smtClean="0"/>
              <a:t>                     </a:t>
            </a:r>
            <a:r>
              <a:rPr lang="id-ID" sz="2000" dirty="0" smtClean="0"/>
              <a:t>Maka  </a:t>
            </a:r>
          </a:p>
          <a:p>
            <a:pPr eaLnBrk="1" hangingPunct="1">
              <a:buFont typeface="Wingdings" pitchFamily="2" charset="2"/>
              <a:buNone/>
            </a:pPr>
            <a:endParaRPr lang="id-ID" sz="2000" dirty="0" smtClean="0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39928688"/>
              </p:ext>
            </p:extLst>
          </p:nvPr>
        </p:nvGraphicFramePr>
        <p:xfrm>
          <a:off x="4860032" y="2293636"/>
          <a:ext cx="2247900" cy="774700"/>
        </p:xfrm>
        <a:graphic>
          <a:graphicData uri="http://schemas.openxmlformats.org/presentationml/2006/ole">
            <p:oleObj spid="_x0000_s27726" name="Equation" r:id="rId4" imgW="1129810" imgH="393529" progId="Equation.3">
              <p:embed/>
            </p:oleObj>
          </a:graphicData>
        </a:graphic>
      </p:graphicFrame>
      <p:sp>
        <p:nvSpPr>
          <p:cNvPr id="26633" name="Rectangle 8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52546387"/>
              </p:ext>
            </p:extLst>
          </p:nvPr>
        </p:nvGraphicFramePr>
        <p:xfrm>
          <a:off x="4479638" y="3191387"/>
          <a:ext cx="322385" cy="720725"/>
        </p:xfrm>
        <a:graphic>
          <a:graphicData uri="http://schemas.openxmlformats.org/presentationml/2006/ole">
            <p:oleObj spid="_x0000_s27727" name="Equation" r:id="rId5" imgW="190417" imgH="393529" progId="Equation.3">
              <p:embed/>
            </p:oleObj>
          </a:graphicData>
        </a:graphic>
      </p:graphicFrame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0" y="389045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 b="1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4479638" y="318241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38773535"/>
              </p:ext>
            </p:extLst>
          </p:nvPr>
        </p:nvGraphicFramePr>
        <p:xfrm>
          <a:off x="5148064" y="4021828"/>
          <a:ext cx="3239966" cy="803275"/>
        </p:xfrm>
        <a:graphic>
          <a:graphicData uri="http://schemas.openxmlformats.org/presentationml/2006/ole">
            <p:oleObj spid="_x0000_s27728" name="Equation" r:id="rId6" imgW="1727200" imgH="431800" progId="Equation.3">
              <p:embed/>
            </p:oleObj>
          </a:graphicData>
        </a:graphic>
      </p:graphicFrame>
      <p:sp>
        <p:nvSpPr>
          <p:cNvPr id="26636" name="Rectangle 14"/>
          <p:cNvSpPr>
            <a:spLocks noChangeArrowheads="1"/>
          </p:cNvSpPr>
          <p:nvPr/>
        </p:nvSpPr>
        <p:spPr bwMode="auto">
          <a:xfrm>
            <a:off x="4479638" y="318241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3043609" y="5102221"/>
          <a:ext cx="2517531" cy="787400"/>
        </p:xfrm>
        <a:graphic>
          <a:graphicData uri="http://schemas.openxmlformats.org/presentationml/2006/ole">
            <p:oleObj spid="_x0000_s27729" name="Equation" r:id="rId7" imgW="1371600" imgH="4318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737585033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6571C13-7CA9-477D-B9F5-5B319388EC22}" type="slidenum">
              <a:rPr lang="en-US" sz="1200" smtClean="0">
                <a:latin typeface="Arial Black" pitchFamily="34" charset="0"/>
              </a:rPr>
              <a:pPr algn="r" eaLnBrk="1" hangingPunct="1"/>
              <a:t>34</a:t>
            </a:fld>
            <a:endParaRPr lang="en-US" sz="1200" smtClean="0">
              <a:latin typeface="Arial Black" pitchFamily="34" charset="0"/>
            </a:endParaRPr>
          </a:p>
        </p:txBody>
      </p:sp>
      <p:graphicFrame>
        <p:nvGraphicFramePr>
          <p:cNvPr id="305156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101975" y="1089025"/>
          <a:ext cx="1454150" cy="663575"/>
        </p:xfrm>
        <a:graphic>
          <a:graphicData uri="http://schemas.openxmlformats.org/presentationml/2006/ole">
            <p:oleObj spid="_x0000_s28769" name="Equation" r:id="rId3" imgW="863280" imgH="393480" progId="Equation.3">
              <p:embed/>
            </p:oleObj>
          </a:graphicData>
        </a:graphic>
      </p:graphicFrame>
      <p:graphicFrame>
        <p:nvGraphicFramePr>
          <p:cNvPr id="305158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82566" y="2125653"/>
          <a:ext cx="6447692" cy="947738"/>
        </p:xfrm>
        <a:graphic>
          <a:graphicData uri="http://schemas.openxmlformats.org/presentationml/2006/ole">
            <p:oleObj spid="_x0000_s28770" name="Equation" r:id="rId4" imgW="3175000" imgH="431800" progId="Equation.3">
              <p:embed/>
            </p:oleObj>
          </a:graphicData>
        </a:graphic>
      </p:graphicFrame>
      <p:graphicFrame>
        <p:nvGraphicFramePr>
          <p:cNvPr id="305166" name="Object 1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xmlns="" val="2759398656"/>
              </p:ext>
            </p:extLst>
          </p:nvPr>
        </p:nvGraphicFramePr>
        <p:xfrm>
          <a:off x="5833207" y="3990828"/>
          <a:ext cx="382466" cy="754063"/>
        </p:xfrm>
        <a:graphic>
          <a:graphicData uri="http://schemas.openxmlformats.org/presentationml/2006/ole">
            <p:oleObj spid="_x0000_s28771" name="Equation" r:id="rId5" imgW="215713" imgH="393359" progId="Equation.3">
              <p:embed/>
            </p:oleObj>
          </a:graphicData>
        </a:graphic>
      </p:graphicFrame>
      <p:sp>
        <p:nvSpPr>
          <p:cNvPr id="305161" name="Text Box 9"/>
          <p:cNvSpPr txBox="1">
            <a:spLocks noChangeArrowheads="1"/>
          </p:cNvSpPr>
          <p:nvPr/>
        </p:nvSpPr>
        <p:spPr bwMode="auto">
          <a:xfrm>
            <a:off x="898281" y="1144592"/>
            <a:ext cx="2235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Hitung</a:t>
            </a:r>
            <a:r>
              <a:rPr lang="en-US" sz="2400" dirty="0"/>
              <a:t> </a:t>
            </a:r>
          </a:p>
        </p:txBody>
      </p:sp>
      <p:sp>
        <p:nvSpPr>
          <p:cNvPr id="305162" name="Text Box 10"/>
          <p:cNvSpPr txBox="1">
            <a:spLocks noChangeArrowheads="1"/>
          </p:cNvSpPr>
          <p:nvPr/>
        </p:nvSpPr>
        <p:spPr bwMode="auto">
          <a:xfrm>
            <a:off x="964228" y="1709728"/>
            <a:ext cx="1031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Jawab</a:t>
            </a:r>
            <a:endParaRPr lang="en-US" sz="2400" dirty="0"/>
          </a:p>
        </p:txBody>
      </p:sp>
      <p:sp>
        <p:nvSpPr>
          <p:cNvPr id="305163" name="Text Box 11"/>
          <p:cNvSpPr txBox="1">
            <a:spLocks noChangeArrowheads="1"/>
          </p:cNvSpPr>
          <p:nvPr/>
        </p:nvSpPr>
        <p:spPr bwMode="auto">
          <a:xfrm>
            <a:off x="4771293" y="1169989"/>
            <a:ext cx="16129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bentuk (0/0)</a:t>
            </a:r>
          </a:p>
        </p:txBody>
      </p:sp>
      <p:sp>
        <p:nvSpPr>
          <p:cNvPr id="305164" name="Text Box 12"/>
          <p:cNvSpPr txBox="1">
            <a:spLocks noChangeArrowheads="1"/>
          </p:cNvSpPr>
          <p:nvPr/>
        </p:nvSpPr>
        <p:spPr bwMode="auto">
          <a:xfrm>
            <a:off x="983278" y="3282942"/>
            <a:ext cx="68004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Ctt</a:t>
            </a:r>
            <a:r>
              <a:rPr lang="en-US" dirty="0"/>
              <a:t> :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L’hopital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kali </a:t>
            </a:r>
            <a:r>
              <a:rPr lang="en-US" dirty="0" err="1"/>
              <a:t>asalkan</a:t>
            </a:r>
            <a:endParaRPr lang="en-US" dirty="0"/>
          </a:p>
          <a:p>
            <a:pPr algn="l"/>
            <a:r>
              <a:rPr lang="en-US" dirty="0"/>
              <a:t>       </a:t>
            </a:r>
            <a:r>
              <a:rPr lang="en-US" dirty="0" err="1"/>
              <a:t>syaratnya</a:t>
            </a:r>
            <a:r>
              <a:rPr lang="en-US" dirty="0"/>
              <a:t> </a:t>
            </a:r>
            <a:r>
              <a:rPr lang="en-US" dirty="0" err="1"/>
              <a:t>dipenuhi</a:t>
            </a:r>
            <a:endParaRPr lang="en-US" dirty="0"/>
          </a:p>
        </p:txBody>
      </p:sp>
      <p:sp>
        <p:nvSpPr>
          <p:cNvPr id="305165" name="Text Box 13"/>
          <p:cNvSpPr txBox="1">
            <a:spLocks noChangeArrowheads="1"/>
          </p:cNvSpPr>
          <p:nvPr/>
        </p:nvSpPr>
        <p:spPr bwMode="auto">
          <a:xfrm>
            <a:off x="716577" y="4217978"/>
            <a:ext cx="5307863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/>
              <a:t>2. </a:t>
            </a:r>
            <a:r>
              <a:rPr lang="id-ID" sz="2400" b="1" dirty="0"/>
              <a:t>Aturan L’Hôpital untuk bentuk</a:t>
            </a:r>
            <a:r>
              <a:rPr lang="id-ID" b="1" dirty="0"/>
              <a:t> </a:t>
            </a:r>
          </a:p>
          <a:p>
            <a:pPr algn="l"/>
            <a:endParaRPr lang="en-US" dirty="0"/>
          </a:p>
        </p:txBody>
      </p:sp>
      <p:sp>
        <p:nvSpPr>
          <p:cNvPr id="27662" name="Text Box 17"/>
          <p:cNvSpPr txBox="1">
            <a:spLocks noChangeArrowheads="1"/>
          </p:cNvSpPr>
          <p:nvPr/>
        </p:nvSpPr>
        <p:spPr bwMode="auto">
          <a:xfrm>
            <a:off x="1296870" y="4856154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sp>
        <p:nvSpPr>
          <p:cNvPr id="305170" name="Text Box 18"/>
          <p:cNvSpPr txBox="1">
            <a:spLocks noChangeArrowheads="1"/>
          </p:cNvSpPr>
          <p:nvPr/>
        </p:nvSpPr>
        <p:spPr bwMode="auto">
          <a:xfrm>
            <a:off x="1115163" y="5075229"/>
            <a:ext cx="44587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id-ID"/>
              <a:t>Andaikan lim </a:t>
            </a:r>
            <a:r>
              <a:rPr lang="id-ID" i="1"/>
              <a:t>f</a:t>
            </a:r>
            <a:r>
              <a:rPr lang="id-ID"/>
              <a:t>(</a:t>
            </a:r>
            <a:r>
              <a:rPr lang="id-ID" i="1"/>
              <a:t>x</a:t>
            </a:r>
            <a:r>
              <a:rPr lang="id-ID"/>
              <a:t>) = lim </a:t>
            </a:r>
            <a:r>
              <a:rPr lang="id-ID" i="1"/>
              <a:t>g</a:t>
            </a:r>
            <a:r>
              <a:rPr lang="id-ID"/>
              <a:t>(</a:t>
            </a:r>
            <a:r>
              <a:rPr lang="id-ID" i="1"/>
              <a:t>x</a:t>
            </a:r>
            <a:r>
              <a:rPr lang="id-ID"/>
              <a:t>) = </a:t>
            </a:r>
            <a:r>
              <a:rPr lang="id-ID">
                <a:sym typeface="Symbol" pitchFamily="18" charset="2"/>
              </a:rPr>
              <a:t></a:t>
            </a:r>
            <a:r>
              <a:rPr lang="id-ID"/>
              <a:t>. Jika</a:t>
            </a:r>
            <a:endParaRPr lang="en-US"/>
          </a:p>
        </p:txBody>
      </p:sp>
      <p:graphicFrame>
        <p:nvGraphicFramePr>
          <p:cNvPr id="305171" name="Object 19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xmlns="" val="2958070543"/>
              </p:ext>
            </p:extLst>
          </p:nvPr>
        </p:nvGraphicFramePr>
        <p:xfrm>
          <a:off x="5530097" y="4830814"/>
          <a:ext cx="3190143" cy="850900"/>
        </p:xfrm>
        <a:graphic>
          <a:graphicData uri="http://schemas.openxmlformats.org/presentationml/2006/ole">
            <p:oleObj spid="_x0000_s28772" name="Equation" r:id="rId6" imgW="1752600" imgH="431800" progId="Equation.3">
              <p:embed/>
            </p:oleObj>
          </a:graphicData>
        </a:graphic>
      </p:graphicFrame>
      <p:graphicFrame>
        <p:nvGraphicFramePr>
          <p:cNvPr id="305174" name="Object 22"/>
          <p:cNvGraphicFramePr>
            <a:graphicFrameLocks noChangeAspect="1"/>
          </p:cNvGraphicFramePr>
          <p:nvPr/>
        </p:nvGraphicFramePr>
        <p:xfrm>
          <a:off x="1938704" y="5622925"/>
          <a:ext cx="2368062" cy="777875"/>
        </p:xfrm>
        <a:graphic>
          <a:graphicData uri="http://schemas.openxmlformats.org/presentationml/2006/ole">
            <p:oleObj spid="_x0000_s28773" name="Equation" r:id="rId7" imgW="1307532" imgH="431613" progId="Equation.3">
              <p:embed/>
            </p:oleObj>
          </a:graphicData>
        </a:graphic>
      </p:graphicFrame>
      <p:sp>
        <p:nvSpPr>
          <p:cNvPr id="305175" name="Text Box 23"/>
          <p:cNvSpPr txBox="1">
            <a:spLocks noChangeArrowheads="1"/>
          </p:cNvSpPr>
          <p:nvPr/>
        </p:nvSpPr>
        <p:spPr bwMode="auto">
          <a:xfrm>
            <a:off x="1097578" y="5751504"/>
            <a:ext cx="7970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maka</a:t>
            </a:r>
          </a:p>
        </p:txBody>
      </p:sp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343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0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0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0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0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30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0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0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30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30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61" grpId="0"/>
      <p:bldP spid="305162" grpId="0"/>
      <p:bldP spid="305163" grpId="0"/>
      <p:bldP spid="305164" grpId="0"/>
      <p:bldP spid="305165" grpId="0"/>
      <p:bldP spid="305170" grpId="0"/>
      <p:bldP spid="30517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7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97031EE1-53B1-42B1-AB8C-69ED04A732F2}" type="slidenum">
              <a:rPr lang="en-US" sz="1200" smtClean="0">
                <a:latin typeface="Arial Black" pitchFamily="34" charset="0"/>
              </a:rPr>
              <a:pPr algn="r" eaLnBrk="1" hangingPunct="1"/>
              <a:t>35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10276" name="Text Box 4"/>
          <p:cNvSpPr txBox="1">
            <a:spLocks noChangeArrowheads="1"/>
          </p:cNvSpPr>
          <p:nvPr/>
        </p:nvSpPr>
        <p:spPr bwMode="auto">
          <a:xfrm>
            <a:off x="764931" y="927103"/>
            <a:ext cx="2139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Hitung</a:t>
            </a:r>
            <a:endParaRPr lang="en-US" sz="2400" dirty="0"/>
          </a:p>
        </p:txBody>
      </p:sp>
      <p:graphicFrame>
        <p:nvGraphicFramePr>
          <p:cNvPr id="310279" name="Object 7"/>
          <p:cNvGraphicFramePr>
            <a:graphicFrameLocks noChangeAspect="1"/>
          </p:cNvGraphicFramePr>
          <p:nvPr/>
        </p:nvGraphicFramePr>
        <p:xfrm>
          <a:off x="2776906" y="698500"/>
          <a:ext cx="1795096" cy="846138"/>
        </p:xfrm>
        <a:graphic>
          <a:graphicData uri="http://schemas.openxmlformats.org/presentationml/2006/ole">
            <p:oleObj spid="_x0000_s29926" name="Equation" r:id="rId3" imgW="965200" imgH="419100" progId="Equation.3">
              <p:embed/>
            </p:oleObj>
          </a:graphicData>
        </a:graphic>
      </p:graphicFrame>
      <p:graphicFrame>
        <p:nvGraphicFramePr>
          <p:cNvPr id="310278" name="Object 6"/>
          <p:cNvGraphicFramePr>
            <a:graphicFrameLocks noChangeAspect="1"/>
          </p:cNvGraphicFramePr>
          <p:nvPr/>
        </p:nvGraphicFramePr>
        <p:xfrm>
          <a:off x="3308843" y="1847850"/>
          <a:ext cx="1462454" cy="795338"/>
        </p:xfrm>
        <a:graphic>
          <a:graphicData uri="http://schemas.openxmlformats.org/presentationml/2006/ole">
            <p:oleObj spid="_x0000_s29927" name="Equation" r:id="rId4" imgW="774364" imgH="393529" progId="Equation.3">
              <p:embed/>
            </p:oleObj>
          </a:graphicData>
        </a:graphic>
      </p:graphicFrame>
      <p:graphicFrame>
        <p:nvGraphicFramePr>
          <p:cNvPr id="310277" name="Object 5"/>
          <p:cNvGraphicFramePr>
            <a:graphicFrameLocks noChangeAspect="1"/>
          </p:cNvGraphicFramePr>
          <p:nvPr/>
        </p:nvGraphicFramePr>
        <p:xfrm>
          <a:off x="4889989" y="1795464"/>
          <a:ext cx="1277815" cy="776287"/>
        </p:xfrm>
        <a:graphic>
          <a:graphicData uri="http://schemas.openxmlformats.org/presentationml/2006/ole">
            <p:oleObj spid="_x0000_s29928" name="Equation" r:id="rId5" imgW="698197" imgH="393529" progId="Equation.3">
              <p:embed/>
            </p:oleObj>
          </a:graphicData>
        </a:graphic>
      </p:graphicFrame>
      <p:sp>
        <p:nvSpPr>
          <p:cNvPr id="28689" name="Rectangle 8"/>
          <p:cNvSpPr>
            <a:spLocks noChangeArrowheads="1"/>
          </p:cNvSpPr>
          <p:nvPr/>
        </p:nvSpPr>
        <p:spPr bwMode="auto">
          <a:xfrm>
            <a:off x="4479638" y="28665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8690" name="Rectangle 10"/>
          <p:cNvSpPr>
            <a:spLocks noChangeArrowheads="1"/>
          </p:cNvSpPr>
          <p:nvPr/>
        </p:nvSpPr>
        <p:spPr bwMode="auto">
          <a:xfrm>
            <a:off x="4479638" y="3676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310283" name="Text Box 11"/>
          <p:cNvSpPr txBox="1">
            <a:spLocks noChangeArrowheads="1"/>
          </p:cNvSpPr>
          <p:nvPr/>
        </p:nvSpPr>
        <p:spPr bwMode="auto">
          <a:xfrm>
            <a:off x="4686304" y="890589"/>
            <a:ext cx="10583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(</a:t>
            </a:r>
            <a:r>
              <a:rPr lang="en-US" dirty="0" err="1"/>
              <a:t>bentuk</a:t>
            </a:r>
            <a:endParaRPr lang="en-US" dirty="0"/>
          </a:p>
        </p:txBody>
      </p:sp>
      <p:graphicFrame>
        <p:nvGraphicFramePr>
          <p:cNvPr id="310284" name="Object 1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687493" y="882652"/>
          <a:ext cx="271097" cy="536575"/>
        </p:xfrm>
        <a:graphic>
          <a:graphicData uri="http://schemas.openxmlformats.org/presentationml/2006/ole">
            <p:oleObj spid="_x0000_s29929" name="Equation" r:id="rId6" imgW="215713" imgH="393359" progId="Equation.3">
              <p:embed/>
            </p:oleObj>
          </a:graphicData>
        </a:graphic>
      </p:graphicFrame>
      <p:graphicFrame>
        <p:nvGraphicFramePr>
          <p:cNvPr id="310288" name="Object 1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13743" y="1779592"/>
          <a:ext cx="1661746" cy="782637"/>
        </p:xfrm>
        <a:graphic>
          <a:graphicData uri="http://schemas.openxmlformats.org/presentationml/2006/ole">
            <p:oleObj spid="_x0000_s29930" name="Equation" r:id="rId7" imgW="965200" imgH="419100" progId="Equation.3">
              <p:embed/>
            </p:oleObj>
          </a:graphicData>
        </a:graphic>
      </p:graphicFrame>
      <p:graphicFrame>
        <p:nvGraphicFramePr>
          <p:cNvPr id="310302" name="Object 3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15158" y="4684722"/>
          <a:ext cx="1928446" cy="860425"/>
        </p:xfrm>
        <a:graphic>
          <a:graphicData uri="http://schemas.openxmlformats.org/presentationml/2006/ole">
            <p:oleObj spid="_x0000_s29931" name="Equation" r:id="rId8" imgW="1079032" imgH="444307" progId="Equation.3">
              <p:embed/>
            </p:oleObj>
          </a:graphicData>
        </a:graphic>
      </p:graphicFrame>
      <p:sp>
        <p:nvSpPr>
          <p:cNvPr id="310286" name="Text Box 14"/>
          <p:cNvSpPr txBox="1">
            <a:spLocks noChangeArrowheads="1"/>
          </p:cNvSpPr>
          <p:nvPr/>
        </p:nvSpPr>
        <p:spPr bwMode="auto">
          <a:xfrm>
            <a:off x="5769098" y="877889"/>
            <a:ext cx="362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smtClean="0"/>
              <a:t> )</a:t>
            </a:r>
            <a:endParaRPr lang="en-US" dirty="0"/>
          </a:p>
        </p:txBody>
      </p:sp>
      <p:sp>
        <p:nvSpPr>
          <p:cNvPr id="310287" name="Text Box 15"/>
          <p:cNvSpPr txBox="1">
            <a:spLocks noChangeArrowheads="1"/>
          </p:cNvSpPr>
          <p:nvPr/>
        </p:nvSpPr>
        <p:spPr bwMode="auto">
          <a:xfrm>
            <a:off x="849928" y="1347796"/>
            <a:ext cx="1031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Jawab</a:t>
            </a:r>
            <a:endParaRPr lang="en-US" sz="2400" dirty="0"/>
          </a:p>
        </p:txBody>
      </p:sp>
      <p:sp>
        <p:nvSpPr>
          <p:cNvPr id="310292" name="Text Box 20"/>
          <p:cNvSpPr txBox="1">
            <a:spLocks noChangeArrowheads="1"/>
          </p:cNvSpPr>
          <p:nvPr/>
        </p:nvSpPr>
        <p:spPr bwMode="auto">
          <a:xfrm>
            <a:off x="783982" y="2684472"/>
            <a:ext cx="77050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Ctt: walaupun syarat di penuhi, belum tentu limit dapat</a:t>
            </a:r>
          </a:p>
          <a:p>
            <a:pPr algn="l"/>
            <a:r>
              <a:rPr lang="en-US" sz="2400"/>
              <a:t>      dihitung dengan menggunakan dalil L’Hopital</a:t>
            </a:r>
          </a:p>
        </p:txBody>
      </p:sp>
      <p:sp>
        <p:nvSpPr>
          <p:cNvPr id="310293" name="Text Box 21"/>
          <p:cNvSpPr txBox="1">
            <a:spLocks noChangeArrowheads="1"/>
          </p:cNvSpPr>
          <p:nvPr/>
        </p:nvSpPr>
        <p:spPr bwMode="auto">
          <a:xfrm>
            <a:off x="820616" y="3698876"/>
            <a:ext cx="2139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Hitung</a:t>
            </a:r>
            <a:endParaRPr lang="en-US" sz="2400" dirty="0"/>
          </a:p>
        </p:txBody>
      </p:sp>
      <p:sp>
        <p:nvSpPr>
          <p:cNvPr id="28696" name="Rectangle 23"/>
          <p:cNvSpPr>
            <a:spLocks noChangeArrowheads="1"/>
          </p:cNvSpPr>
          <p:nvPr/>
        </p:nvSpPr>
        <p:spPr bwMode="auto">
          <a:xfrm>
            <a:off x="4479638" y="32427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0294" name="Object 22"/>
          <p:cNvGraphicFramePr>
            <a:graphicFrameLocks noChangeAspect="1"/>
          </p:cNvGraphicFramePr>
          <p:nvPr/>
        </p:nvGraphicFramePr>
        <p:xfrm>
          <a:off x="2776909" y="3579813"/>
          <a:ext cx="1861038" cy="838200"/>
        </p:xfrm>
        <a:graphic>
          <a:graphicData uri="http://schemas.openxmlformats.org/presentationml/2006/ole">
            <p:oleObj spid="_x0000_s29932" name="Equation" r:id="rId9" imgW="1079032" imgH="444307" progId="Equation.3">
              <p:embed/>
            </p:oleObj>
          </a:graphicData>
        </a:graphic>
      </p:graphicFrame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4479638" y="3233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0296" name="Object 24"/>
          <p:cNvGraphicFramePr>
            <a:graphicFrameLocks noChangeAspect="1"/>
          </p:cNvGraphicFramePr>
          <p:nvPr/>
        </p:nvGraphicFramePr>
        <p:xfrm>
          <a:off x="3109546" y="4697422"/>
          <a:ext cx="3389435" cy="898525"/>
        </p:xfrm>
        <a:graphic>
          <a:graphicData uri="http://schemas.openxmlformats.org/presentationml/2006/ole">
            <p:oleObj spid="_x0000_s29933" name="Equation" r:id="rId10" imgW="1905000" imgH="469900" progId="Equation.3">
              <p:embed/>
            </p:oleObj>
          </a:graphicData>
        </a:graphic>
      </p:graphicFrame>
      <p:sp>
        <p:nvSpPr>
          <p:cNvPr id="28698" name="Rectangle 27"/>
          <p:cNvSpPr>
            <a:spLocks noChangeArrowheads="1"/>
          </p:cNvSpPr>
          <p:nvPr/>
        </p:nvSpPr>
        <p:spPr bwMode="auto">
          <a:xfrm>
            <a:off x="4479638" y="32427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0298" name="Object 26"/>
          <p:cNvGraphicFramePr>
            <a:graphicFrameLocks noChangeAspect="1"/>
          </p:cNvGraphicFramePr>
          <p:nvPr/>
        </p:nvGraphicFramePr>
        <p:xfrm>
          <a:off x="6632334" y="4659313"/>
          <a:ext cx="1994389" cy="800100"/>
        </p:xfrm>
        <a:graphic>
          <a:graphicData uri="http://schemas.openxmlformats.org/presentationml/2006/ole">
            <p:oleObj spid="_x0000_s29934" name="Equation" r:id="rId11" imgW="1205977" imgH="444307" progId="Equation.3">
              <p:embed/>
            </p:oleObj>
          </a:graphicData>
        </a:graphic>
      </p:graphicFrame>
      <p:sp>
        <p:nvSpPr>
          <p:cNvPr id="28699" name="Rectangle 29"/>
          <p:cNvSpPr>
            <a:spLocks noChangeArrowheads="1"/>
          </p:cNvSpPr>
          <p:nvPr/>
        </p:nvSpPr>
        <p:spPr bwMode="auto">
          <a:xfrm>
            <a:off x="4479638" y="32379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0300" name="Object 28"/>
          <p:cNvGraphicFramePr>
            <a:graphicFrameLocks noChangeAspect="1"/>
          </p:cNvGraphicFramePr>
          <p:nvPr/>
        </p:nvGraphicFramePr>
        <p:xfrm>
          <a:off x="3175489" y="5595938"/>
          <a:ext cx="3390900" cy="881062"/>
        </p:xfrm>
        <a:graphic>
          <a:graphicData uri="http://schemas.openxmlformats.org/presentationml/2006/ole">
            <p:oleObj spid="_x0000_s29935" name="Equation" r:id="rId12" imgW="1905000" imgH="457200" progId="Equation.3">
              <p:embed/>
            </p:oleObj>
          </a:graphicData>
        </a:graphic>
      </p:graphicFrame>
      <p:graphicFrame>
        <p:nvGraphicFramePr>
          <p:cNvPr id="310305" name="Object 33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6699743" y="5564188"/>
          <a:ext cx="2259623" cy="895350"/>
        </p:xfrm>
        <a:graphic>
          <a:graphicData uri="http://schemas.openxmlformats.org/presentationml/2006/ole">
            <p:oleObj spid="_x0000_s29936" name="Equation" r:id="rId13" imgW="1180588" imgH="431613" progId="Equation.3">
              <p:embed/>
            </p:oleObj>
          </a:graphicData>
        </a:graphic>
      </p:graphicFrame>
      <p:sp>
        <p:nvSpPr>
          <p:cNvPr id="310308" name="Text Box 36"/>
          <p:cNvSpPr txBox="1">
            <a:spLocks noChangeArrowheads="1"/>
          </p:cNvSpPr>
          <p:nvPr/>
        </p:nvSpPr>
        <p:spPr bwMode="auto">
          <a:xfrm>
            <a:off x="849928" y="4130679"/>
            <a:ext cx="1031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Jawab</a:t>
            </a:r>
            <a:endParaRPr lang="en-US" sz="2400" dirty="0"/>
          </a:p>
        </p:txBody>
      </p:sp>
      <p:graphicFrame>
        <p:nvGraphicFramePr>
          <p:cNvPr id="310309" name="Object 37"/>
          <p:cNvGraphicFramePr>
            <a:graphicFrameLocks noChangeAspect="1"/>
          </p:cNvGraphicFramePr>
          <p:nvPr/>
        </p:nvGraphicFramePr>
        <p:xfrm>
          <a:off x="4848963" y="3690939"/>
          <a:ext cx="382465" cy="536575"/>
        </p:xfrm>
        <a:graphic>
          <a:graphicData uri="http://schemas.openxmlformats.org/presentationml/2006/ole">
            <p:oleObj spid="_x0000_s29937" name="Equation" r:id="rId14" imgW="304536" imgH="393359" progId="Equation.3">
              <p:embed/>
            </p:oleObj>
          </a:graphicData>
        </a:graphic>
      </p:graphicFrame>
      <p:sp>
        <p:nvSpPr>
          <p:cNvPr id="30" name="Snip Diagonal Corner Rectangle 2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nip Diagonal Corner Rectangle 3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jtk-header-v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2934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1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3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3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31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3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31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31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3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6" grpId="0"/>
      <p:bldP spid="310283" grpId="0"/>
      <p:bldP spid="310286" grpId="0"/>
      <p:bldP spid="310287" grpId="0"/>
      <p:bldP spid="310292" grpId="0"/>
      <p:bldP spid="310293" grpId="0"/>
      <p:bldP spid="31030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297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BA7449CE-063F-4A7A-A599-A9B42A217318}" type="slidenum">
              <a:rPr lang="en-US" sz="1200" smtClean="0">
                <a:latin typeface="Arial Black" pitchFamily="34" charset="0"/>
              </a:rPr>
              <a:pPr algn="r" eaLnBrk="1" hangingPunct="1"/>
              <a:t>36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393399" y="1023234"/>
            <a:ext cx="74222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just"/>
            <a:r>
              <a:rPr lang="en-US" sz="2400" dirty="0" err="1"/>
              <a:t>Soal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diatas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diselesaikan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endParaRPr lang="en-US" sz="2400" dirty="0"/>
          </a:p>
          <a:p>
            <a:pPr algn="just"/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aturan</a:t>
            </a:r>
            <a:r>
              <a:rPr lang="en-US" sz="2400" dirty="0"/>
              <a:t> </a:t>
            </a:r>
            <a:r>
              <a:rPr lang="en-US" sz="2400" dirty="0" err="1"/>
              <a:t>L’Hopital</a:t>
            </a:r>
            <a:r>
              <a:rPr lang="en-US" sz="2400" dirty="0"/>
              <a:t>,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setelah</a:t>
            </a:r>
            <a:r>
              <a:rPr lang="en-US" sz="2400" dirty="0"/>
              <a:t> </a:t>
            </a:r>
          </a:p>
          <a:p>
            <a:pPr algn="just"/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aturan</a:t>
            </a:r>
            <a:r>
              <a:rPr lang="en-US" sz="2400" dirty="0"/>
              <a:t> </a:t>
            </a:r>
            <a:r>
              <a:rPr lang="en-US" sz="2400" dirty="0" err="1"/>
              <a:t>L’Hopital</a:t>
            </a:r>
            <a:r>
              <a:rPr lang="en-US" sz="2400" dirty="0"/>
              <a:t> </a:t>
            </a:r>
            <a:r>
              <a:rPr lang="en-US" sz="2400" dirty="0" err="1"/>
              <a:t>muncul</a:t>
            </a:r>
            <a:r>
              <a:rPr lang="en-US" sz="2400" dirty="0"/>
              <a:t> </a:t>
            </a:r>
            <a:r>
              <a:rPr lang="en-US" sz="2400" dirty="0" err="1"/>
              <a:t>lagi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semula</a:t>
            </a:r>
            <a:endParaRPr lang="en-US" sz="2400" dirty="0"/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665285" y="2239446"/>
            <a:ext cx="67394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>
                <a:solidFill>
                  <a:srgbClr val="FF3399"/>
                </a:solidFill>
              </a:rPr>
              <a:t>Soal</a:t>
            </a:r>
            <a:r>
              <a:rPr lang="en-US" sz="2400" dirty="0">
                <a:solidFill>
                  <a:srgbClr val="FF3399"/>
                </a:solidFill>
              </a:rPr>
              <a:t> </a:t>
            </a:r>
            <a:r>
              <a:rPr lang="en-US" sz="2400" dirty="0" err="1">
                <a:solidFill>
                  <a:srgbClr val="FF3399"/>
                </a:solidFill>
              </a:rPr>
              <a:t>seperti</a:t>
            </a:r>
            <a:r>
              <a:rPr lang="en-US" sz="2400" dirty="0">
                <a:solidFill>
                  <a:srgbClr val="FF3399"/>
                </a:solidFill>
              </a:rPr>
              <a:t> </a:t>
            </a:r>
            <a:r>
              <a:rPr lang="en-US" sz="2400" dirty="0" err="1">
                <a:solidFill>
                  <a:srgbClr val="FF3399"/>
                </a:solidFill>
              </a:rPr>
              <a:t>diatas</a:t>
            </a:r>
            <a:r>
              <a:rPr lang="en-US" sz="2400" dirty="0">
                <a:solidFill>
                  <a:srgbClr val="FF3399"/>
                </a:solidFill>
              </a:rPr>
              <a:t> </a:t>
            </a:r>
            <a:r>
              <a:rPr lang="en-US" sz="2400" dirty="0" err="1">
                <a:solidFill>
                  <a:srgbClr val="FF3399"/>
                </a:solidFill>
              </a:rPr>
              <a:t>diselesaikan</a:t>
            </a:r>
            <a:r>
              <a:rPr lang="en-US" sz="2400" dirty="0">
                <a:solidFill>
                  <a:srgbClr val="FF3399"/>
                </a:solidFill>
              </a:rPr>
              <a:t> </a:t>
            </a:r>
            <a:r>
              <a:rPr lang="en-US" sz="2400" dirty="0" err="1">
                <a:solidFill>
                  <a:srgbClr val="FF3399"/>
                </a:solidFill>
              </a:rPr>
              <a:t>dengan</a:t>
            </a:r>
            <a:r>
              <a:rPr lang="en-US" sz="2400" dirty="0">
                <a:solidFill>
                  <a:srgbClr val="FF3399"/>
                </a:solidFill>
              </a:rPr>
              <a:t> </a:t>
            </a:r>
            <a:r>
              <a:rPr lang="en-US" sz="2400" dirty="0" err="1">
                <a:solidFill>
                  <a:srgbClr val="FF3399"/>
                </a:solidFill>
              </a:rPr>
              <a:t>cara</a:t>
            </a:r>
            <a:r>
              <a:rPr lang="en-US" sz="2400" dirty="0">
                <a:solidFill>
                  <a:srgbClr val="FF3399"/>
                </a:solidFill>
              </a:rPr>
              <a:t> </a:t>
            </a:r>
            <a:r>
              <a:rPr lang="en-US" sz="2400" dirty="0" err="1">
                <a:solidFill>
                  <a:srgbClr val="FF3399"/>
                </a:solidFill>
              </a:rPr>
              <a:t>sbb</a:t>
            </a:r>
            <a:endParaRPr lang="en-US" sz="2400" dirty="0">
              <a:solidFill>
                <a:srgbClr val="FF3399"/>
              </a:solidFill>
            </a:endParaRPr>
          </a:p>
        </p:txBody>
      </p:sp>
      <p:graphicFrame>
        <p:nvGraphicFramePr>
          <p:cNvPr id="315401" name="Object 9"/>
          <p:cNvGraphicFramePr>
            <a:graphicFrameLocks noChangeAspect="1"/>
          </p:cNvGraphicFramePr>
          <p:nvPr/>
        </p:nvGraphicFramePr>
        <p:xfrm>
          <a:off x="5482006" y="2701925"/>
          <a:ext cx="2633296" cy="1076325"/>
        </p:xfrm>
        <a:graphic>
          <a:graphicData uri="http://schemas.openxmlformats.org/presentationml/2006/ole">
            <p:oleObj spid="_x0000_s30836" name="Equation" r:id="rId4" imgW="1358900" imgH="508000" progId="Equation.3">
              <p:embed/>
            </p:oleObj>
          </a:graphicData>
        </a:graphic>
      </p:graphicFrame>
      <p:graphicFrame>
        <p:nvGraphicFramePr>
          <p:cNvPr id="315400" name="Object 8"/>
          <p:cNvGraphicFramePr>
            <a:graphicFrameLocks noChangeAspect="1"/>
          </p:cNvGraphicFramePr>
          <p:nvPr/>
        </p:nvGraphicFramePr>
        <p:xfrm>
          <a:off x="2910254" y="3787766"/>
          <a:ext cx="2592266" cy="1003300"/>
        </p:xfrm>
        <a:graphic>
          <a:graphicData uri="http://schemas.openxmlformats.org/presentationml/2006/ole">
            <p:oleObj spid="_x0000_s30837" name="Equation" r:id="rId5" imgW="1256755" imgH="495085" progId="Equation.3">
              <p:embed/>
            </p:oleObj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/>
        </p:nvGraphicFramePr>
        <p:xfrm>
          <a:off x="5600700" y="3852863"/>
          <a:ext cx="2264020" cy="1068387"/>
        </p:xfrm>
        <a:graphic>
          <a:graphicData uri="http://schemas.openxmlformats.org/presentationml/2006/ole">
            <p:oleObj spid="_x0000_s30838" name="Equation" r:id="rId6" imgW="1129810" imgH="495085" progId="Equation.3">
              <p:embed/>
            </p:oleObj>
          </a:graphicData>
        </a:graphic>
      </p:graphicFrame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2910254" y="4932363"/>
          <a:ext cx="2378320" cy="1011237"/>
        </p:xfrm>
        <a:graphic>
          <a:graphicData uri="http://schemas.openxmlformats.org/presentationml/2006/ole">
            <p:oleObj spid="_x0000_s30839" name="Equation" r:id="rId7" imgW="1282700" imgH="508000" progId="Equation.3">
              <p:embed/>
            </p:oleObj>
          </a:graphicData>
        </a:graphic>
      </p:graphicFrame>
      <p:graphicFrame>
        <p:nvGraphicFramePr>
          <p:cNvPr id="315403" name="Object 11"/>
          <p:cNvGraphicFramePr>
            <a:graphicFrameLocks noChangeAspect="1"/>
          </p:cNvGraphicFramePr>
          <p:nvPr/>
        </p:nvGraphicFramePr>
        <p:xfrm>
          <a:off x="822086" y="2728904"/>
          <a:ext cx="1888880" cy="838200"/>
        </p:xfrm>
        <a:graphic>
          <a:graphicData uri="http://schemas.openxmlformats.org/presentationml/2006/ole">
            <p:oleObj spid="_x0000_s30840" name="Equation" r:id="rId8" imgW="1054100" imgH="431800" progId="Equation.3">
              <p:embed/>
            </p:oleObj>
          </a:graphicData>
        </a:graphic>
      </p:graphicFrame>
      <p:graphicFrame>
        <p:nvGraphicFramePr>
          <p:cNvPr id="315402" name="Object 10"/>
          <p:cNvGraphicFramePr>
            <a:graphicFrameLocks noChangeAspect="1"/>
          </p:cNvGraphicFramePr>
          <p:nvPr/>
        </p:nvGraphicFramePr>
        <p:xfrm>
          <a:off x="2910257" y="2743191"/>
          <a:ext cx="2327031" cy="984250"/>
        </p:xfrm>
        <a:graphic>
          <a:graphicData uri="http://schemas.openxmlformats.org/presentationml/2006/ole">
            <p:oleObj spid="_x0000_s30841" name="Equation" r:id="rId9" imgW="1333500" imgH="520700" progId="Equation.3">
              <p:embed/>
            </p:oleObj>
          </a:graphicData>
        </a:graphic>
      </p:graphicFrame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4479638" y="232941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4479638" y="232941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4479638" y="26807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1607480" y="352531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4479638" y="38142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244408" y="0"/>
            <a:ext cx="899592" cy="7647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244408" y="0"/>
            <a:ext cx="899592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7205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/>
      <p:bldP spid="31539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nip Diagonal Corner Rectangle 2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nip Diagonal Corner Rectangle 2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07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BE191B39-98A1-4640-B407-711FD2B79B1E}" type="slidenum">
              <a:rPr lang="en-US" sz="1200" smtClean="0">
                <a:latin typeface="Arial Black" pitchFamily="34" charset="0"/>
              </a:rPr>
              <a:pPr algn="r" eaLnBrk="1" hangingPunct="1"/>
              <a:t>37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262" y="1162050"/>
            <a:ext cx="7995138" cy="42481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dirty="0" smtClean="0"/>
              <a:t>3.  </a:t>
            </a:r>
            <a:r>
              <a:rPr lang="id-ID" sz="2400" b="1" dirty="0" smtClean="0"/>
              <a:t>Bentuk 0 . </a:t>
            </a:r>
            <a:r>
              <a:rPr lang="id-ID" sz="2400" b="1" dirty="0" smtClean="0">
                <a:sym typeface="Symbol" pitchFamily="18" charset="2"/>
              </a:rPr>
              <a:t></a:t>
            </a:r>
            <a:endParaRPr lang="id-ID" sz="2400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400" dirty="0" smtClean="0"/>
              <a:t>   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400" dirty="0" smtClean="0"/>
              <a:t>	</a:t>
            </a:r>
            <a:r>
              <a:rPr lang="id-ID" sz="2400" dirty="0" smtClean="0"/>
              <a:t>Untuk menyelesaikannya ubah </a:t>
            </a:r>
            <a:r>
              <a:rPr lang="en-US" sz="2400" dirty="0" err="1" smtClean="0"/>
              <a:t>kedalam</a:t>
            </a:r>
            <a:r>
              <a:rPr lang="id-ID" sz="2400" dirty="0" smtClean="0"/>
              <a:t> bentuk </a:t>
            </a:r>
            <a:endParaRPr lang="en-US" sz="2400" dirty="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id-ID" sz="2400" dirty="0" smtClean="0"/>
              <a:t> </a:t>
            </a:r>
            <a:r>
              <a:rPr lang="en-US" sz="2400" dirty="0" smtClean="0"/>
              <a:t>       </a:t>
            </a:r>
            <a:r>
              <a:rPr lang="id-ID" sz="2400" dirty="0" smtClean="0"/>
              <a:t>atau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id-ID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400" dirty="0" smtClean="0">
                <a:solidFill>
                  <a:srgbClr val="FF0066"/>
                </a:solidFill>
              </a:rPr>
              <a:t>Contoh </a:t>
            </a:r>
            <a:r>
              <a:rPr lang="id-ID" sz="2400" dirty="0" smtClean="0"/>
              <a:t>: Hitung</a:t>
            </a:r>
            <a:r>
              <a:rPr lang="id-ID" sz="2000" dirty="0" smtClean="0"/>
              <a:t>   </a:t>
            </a:r>
            <a:endParaRPr lang="en-US" sz="20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err="1" smtClean="0">
                <a:latin typeface="Tahoma" pitchFamily="34" charset="0"/>
              </a:rPr>
              <a:t>Jawab</a:t>
            </a:r>
            <a:r>
              <a:rPr lang="en-US" sz="2400" dirty="0" smtClean="0">
                <a:latin typeface="Tahoma" pitchFamily="34" charset="0"/>
              </a:rPr>
              <a:t>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dirty="0" smtClean="0"/>
              <a:t>  </a:t>
            </a:r>
          </a:p>
        </p:txBody>
      </p:sp>
      <p:sp>
        <p:nvSpPr>
          <p:cNvPr id="30729" name="Rectangle 5"/>
          <p:cNvSpPr>
            <a:spLocks noChangeArrowheads="1"/>
          </p:cNvSpPr>
          <p:nvPr/>
        </p:nvSpPr>
        <p:spPr bwMode="auto">
          <a:xfrm>
            <a:off x="4479638" y="358247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30730" name="Rectangle 6"/>
          <p:cNvSpPr>
            <a:spLocks noChangeArrowheads="1"/>
          </p:cNvSpPr>
          <p:nvPr/>
        </p:nvSpPr>
        <p:spPr bwMode="auto">
          <a:xfrm>
            <a:off x="0" y="4156177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 b="1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695700" y="4313342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30732" name="Rectangle 11"/>
          <p:cNvSpPr>
            <a:spLocks noChangeArrowheads="1"/>
          </p:cNvSpPr>
          <p:nvPr/>
        </p:nvSpPr>
        <p:spPr bwMode="auto">
          <a:xfrm>
            <a:off x="1" y="684619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0733" name="Rectangle 12"/>
          <p:cNvSpPr>
            <a:spLocks noChangeArrowheads="1"/>
          </p:cNvSpPr>
          <p:nvPr/>
        </p:nvSpPr>
        <p:spPr bwMode="auto">
          <a:xfrm>
            <a:off x="0" y="1387582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915866" y="2130424"/>
          <a:ext cx="290146" cy="649288"/>
        </p:xfrm>
        <a:graphic>
          <a:graphicData uri="http://schemas.openxmlformats.org/presentationml/2006/ole">
            <p:oleObj spid="_x0000_s31822" name="Equation" r:id="rId4" imgW="190417" imgH="393529" progId="Equation.3">
              <p:embed/>
            </p:oleObj>
          </a:graphicData>
        </a:graphic>
      </p:graphicFrame>
      <p:sp>
        <p:nvSpPr>
          <p:cNvPr id="30734" name="Rectangle 19"/>
          <p:cNvSpPr>
            <a:spLocks noChangeArrowheads="1"/>
          </p:cNvSpPr>
          <p:nvPr/>
        </p:nvSpPr>
        <p:spPr bwMode="auto">
          <a:xfrm>
            <a:off x="-96758" y="371661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endParaRPr lang="en-US" sz="1800">
              <a:latin typeface="Arial" charset="0"/>
            </a:endParaRPr>
          </a:p>
        </p:txBody>
      </p:sp>
      <p:sp>
        <p:nvSpPr>
          <p:cNvPr id="30735" name="Rectangle 20"/>
          <p:cNvSpPr>
            <a:spLocks noChangeArrowheads="1"/>
          </p:cNvSpPr>
          <p:nvPr/>
        </p:nvSpPr>
        <p:spPr bwMode="auto">
          <a:xfrm>
            <a:off x="90858" y="414524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0736" name="Rectangle 22"/>
          <p:cNvSpPr>
            <a:spLocks noChangeArrowheads="1"/>
          </p:cNvSpPr>
          <p:nvPr/>
        </p:nvSpPr>
        <p:spPr bwMode="auto">
          <a:xfrm>
            <a:off x="1" y="684619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0737" name="Rectangle 23"/>
          <p:cNvSpPr>
            <a:spLocks noChangeArrowheads="1"/>
          </p:cNvSpPr>
          <p:nvPr/>
        </p:nvSpPr>
        <p:spPr bwMode="auto">
          <a:xfrm>
            <a:off x="0" y="1349482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30738" name="Rectangle 25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56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71475984"/>
              </p:ext>
            </p:extLst>
          </p:nvPr>
        </p:nvGraphicFramePr>
        <p:xfrm>
          <a:off x="2123728" y="2170583"/>
          <a:ext cx="315058" cy="677862"/>
        </p:xfrm>
        <a:graphic>
          <a:graphicData uri="http://schemas.openxmlformats.org/presentationml/2006/ole">
            <p:oleObj spid="_x0000_s31823" name="Equation" r:id="rId5" imgW="177646" imgH="393359" progId="Equation.3">
              <p:embed/>
            </p:oleObj>
          </a:graphicData>
        </a:graphic>
      </p:graphicFrame>
      <p:sp>
        <p:nvSpPr>
          <p:cNvPr id="30739" name="Rectangle 26"/>
          <p:cNvSpPr>
            <a:spLocks noChangeArrowheads="1"/>
          </p:cNvSpPr>
          <p:nvPr/>
        </p:nvSpPr>
        <p:spPr bwMode="auto">
          <a:xfrm>
            <a:off x="0" y="1074844"/>
            <a:ext cx="3209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 b="1">
                <a:latin typeface="Arial" charset="0"/>
                <a:cs typeface="Times New Roman" pitchFamily="18" charset="0"/>
              </a:rPr>
              <a:t> 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30740" name="Rectangle 29"/>
          <p:cNvSpPr>
            <a:spLocks noChangeArrowheads="1"/>
          </p:cNvSpPr>
          <p:nvPr/>
        </p:nvSpPr>
        <p:spPr bwMode="auto">
          <a:xfrm>
            <a:off x="90858" y="41547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>
              <a:latin typeface="Arial" charset="0"/>
            </a:endParaRPr>
          </a:p>
        </p:txBody>
      </p:sp>
      <p:graphicFrame>
        <p:nvGraphicFramePr>
          <p:cNvPr id="256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11483434"/>
              </p:ext>
            </p:extLst>
          </p:nvPr>
        </p:nvGraphicFramePr>
        <p:xfrm>
          <a:off x="3042141" y="3180557"/>
          <a:ext cx="1529862" cy="720725"/>
        </p:xfrm>
        <a:graphic>
          <a:graphicData uri="http://schemas.openxmlformats.org/presentationml/2006/ole">
            <p:oleObj spid="_x0000_s31824" name="Equation" r:id="rId6" imgW="876300" imgH="381000" progId="Equation.3">
              <p:embed/>
            </p:oleObj>
          </a:graphicData>
        </a:graphic>
      </p:graphicFrame>
      <p:sp>
        <p:nvSpPr>
          <p:cNvPr id="30741" name="Rectangle 32"/>
          <p:cNvSpPr>
            <a:spLocks noChangeArrowheads="1"/>
          </p:cNvSpPr>
          <p:nvPr/>
        </p:nvSpPr>
        <p:spPr bwMode="auto">
          <a:xfrm>
            <a:off x="90858" y="41214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>
              <a:latin typeface="Arial" charset="0"/>
            </a:endParaRPr>
          </a:p>
        </p:txBody>
      </p:sp>
      <p:graphicFrame>
        <p:nvGraphicFramePr>
          <p:cNvPr id="25633" name="Object 33"/>
          <p:cNvGraphicFramePr>
            <a:graphicFrameLocks noChangeAspect="1"/>
          </p:cNvGraphicFramePr>
          <p:nvPr/>
        </p:nvGraphicFramePr>
        <p:xfrm>
          <a:off x="1780447" y="4044952"/>
          <a:ext cx="4393223" cy="862013"/>
        </p:xfrm>
        <a:graphic>
          <a:graphicData uri="http://schemas.openxmlformats.org/presentationml/2006/ole">
            <p:oleObj spid="_x0000_s31825" name="Equation" r:id="rId7" imgW="2184400" imgH="4572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475000141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nip Diagonal Corner Rectangle 1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17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B8F4EFD2-4491-4EC3-AD64-43A9C89754AC}" type="slidenum">
              <a:rPr lang="en-US" sz="1200" smtClean="0">
                <a:latin typeface="Arial Black" pitchFamily="34" charset="0"/>
              </a:rPr>
              <a:pPr algn="r" eaLnBrk="1" hangingPunct="1"/>
              <a:t>38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927" y="1055678"/>
            <a:ext cx="8675077" cy="4681538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ahoma" pitchFamily="34" charset="0"/>
              </a:rPr>
              <a:t>4. </a:t>
            </a:r>
            <a:r>
              <a:rPr lang="id-ID" b="1" dirty="0" smtClean="0">
                <a:latin typeface="Tahoma" pitchFamily="34" charset="0"/>
              </a:rPr>
              <a:t>Bentuk </a:t>
            </a:r>
            <a:r>
              <a:rPr lang="id-ID" b="1" dirty="0" smtClean="0">
                <a:latin typeface="Tahoma" pitchFamily="34" charset="0"/>
                <a:sym typeface="Symbol" pitchFamily="18" charset="2"/>
              </a:rPr>
              <a:t></a:t>
            </a:r>
            <a:r>
              <a:rPr lang="id-ID" b="1" dirty="0" smtClean="0">
                <a:latin typeface="Tahoma" pitchFamily="34" charset="0"/>
              </a:rPr>
              <a:t> - </a:t>
            </a:r>
            <a:r>
              <a:rPr lang="id-ID" b="1" dirty="0" smtClean="0">
                <a:latin typeface="Tahoma" pitchFamily="34" charset="0"/>
                <a:sym typeface="Symbol" pitchFamily="18" charset="2"/>
              </a:rPr>
              <a:t></a:t>
            </a:r>
            <a:endParaRPr lang="id-ID" dirty="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id-ID" dirty="0" smtClean="0"/>
              <a:t>   </a:t>
            </a:r>
            <a:r>
              <a:rPr lang="id-ID" sz="2400" dirty="0" smtClean="0">
                <a:latin typeface="Tahoma" pitchFamily="34" charset="0"/>
              </a:rPr>
              <a:t>Misalkan  lim </a:t>
            </a:r>
            <a:r>
              <a:rPr lang="id-ID" sz="2400" i="1" dirty="0" smtClean="0">
                <a:latin typeface="Tahoma" pitchFamily="34" charset="0"/>
              </a:rPr>
              <a:t>f</a:t>
            </a:r>
            <a:r>
              <a:rPr lang="id-ID" sz="2400" dirty="0" smtClean="0">
                <a:latin typeface="Tahoma" pitchFamily="34" charset="0"/>
              </a:rPr>
              <a:t>(</a:t>
            </a:r>
            <a:r>
              <a:rPr lang="id-ID" sz="2400" i="1" dirty="0" smtClean="0">
                <a:latin typeface="Tahoma" pitchFamily="34" charset="0"/>
              </a:rPr>
              <a:t>x</a:t>
            </a:r>
            <a:r>
              <a:rPr lang="id-ID" sz="2400" dirty="0" smtClean="0">
                <a:latin typeface="Tahoma" pitchFamily="34" charset="0"/>
              </a:rPr>
              <a:t>)=lim </a:t>
            </a:r>
            <a:r>
              <a:rPr lang="id-ID" sz="2400" i="1" dirty="0" smtClean="0">
                <a:latin typeface="Tahoma" pitchFamily="34" charset="0"/>
              </a:rPr>
              <a:t>g</a:t>
            </a:r>
            <a:r>
              <a:rPr lang="id-ID" sz="2400" dirty="0" smtClean="0">
                <a:latin typeface="Tahoma" pitchFamily="34" charset="0"/>
              </a:rPr>
              <a:t>(</a:t>
            </a:r>
            <a:r>
              <a:rPr lang="id-ID" sz="2400" i="1" dirty="0" smtClean="0">
                <a:latin typeface="Tahoma" pitchFamily="34" charset="0"/>
              </a:rPr>
              <a:t>x</a:t>
            </a:r>
            <a:r>
              <a:rPr lang="id-ID" sz="2400" dirty="0" smtClean="0">
                <a:latin typeface="Tahoma" pitchFamily="34" charset="0"/>
              </a:rPr>
              <a:t>) = </a:t>
            </a:r>
            <a:r>
              <a:rPr lang="id-ID" sz="2400" dirty="0" smtClean="0">
                <a:latin typeface="Tahoma" pitchFamily="34" charset="0"/>
                <a:sym typeface="Symbol" pitchFamily="18" charset="2"/>
              </a:rPr>
              <a:t></a:t>
            </a:r>
            <a:r>
              <a:rPr lang="id-ID" sz="2400" dirty="0" smtClean="0">
                <a:latin typeface="Tahoma" pitchFamily="34" charset="0"/>
              </a:rPr>
              <a:t>. </a:t>
            </a:r>
            <a:r>
              <a:rPr lang="en-US" sz="2400" dirty="0" smtClean="0">
                <a:latin typeface="Tahoma" pitchFamily="34" charset="0"/>
              </a:rPr>
              <a:t>U</a:t>
            </a:r>
            <a:r>
              <a:rPr lang="id-ID" sz="2400" dirty="0" smtClean="0">
                <a:latin typeface="Tahoma" pitchFamily="34" charset="0"/>
              </a:rPr>
              <a:t>ntuk </a:t>
            </a:r>
            <a:r>
              <a:rPr lang="en-US" sz="2400" dirty="0" err="1" smtClean="0">
                <a:latin typeface="Tahoma" pitchFamily="34" charset="0"/>
              </a:rPr>
              <a:t>menghitung</a:t>
            </a:r>
            <a:r>
              <a:rPr lang="id-ID" sz="2400" dirty="0" smtClean="0">
                <a:latin typeface="Tahoma" pitchFamily="34" charset="0"/>
              </a:rPr>
              <a:t> </a:t>
            </a:r>
            <a:endParaRPr lang="en-US" sz="2400" dirty="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 dirty="0" smtClean="0">
                <a:latin typeface="Tahoma" pitchFamily="34" charset="0"/>
              </a:rPr>
              <a:t>   </a:t>
            </a:r>
            <a:r>
              <a:rPr lang="id-ID" sz="2400" dirty="0" smtClean="0">
                <a:latin typeface="Tahoma" pitchFamily="34" charset="0"/>
              </a:rPr>
              <a:t>lim [ </a:t>
            </a:r>
            <a:r>
              <a:rPr lang="id-ID" sz="2400" i="1" dirty="0" smtClean="0">
                <a:latin typeface="Tahoma" pitchFamily="34" charset="0"/>
              </a:rPr>
              <a:t>f</a:t>
            </a:r>
            <a:r>
              <a:rPr lang="id-ID" sz="2400" dirty="0" smtClean="0">
                <a:latin typeface="Tahoma" pitchFamily="34" charset="0"/>
              </a:rPr>
              <a:t>(</a:t>
            </a:r>
            <a:r>
              <a:rPr lang="id-ID" sz="2400" i="1" dirty="0" smtClean="0">
                <a:latin typeface="Tahoma" pitchFamily="34" charset="0"/>
              </a:rPr>
              <a:t>x</a:t>
            </a:r>
            <a:r>
              <a:rPr lang="id-ID" sz="2400" dirty="0" smtClean="0">
                <a:latin typeface="Tahoma" pitchFamily="34" charset="0"/>
              </a:rPr>
              <a:t>) - </a:t>
            </a:r>
            <a:r>
              <a:rPr lang="id-ID" sz="2400" i="1" dirty="0" smtClean="0">
                <a:latin typeface="Tahoma" pitchFamily="34" charset="0"/>
              </a:rPr>
              <a:t>g</a:t>
            </a:r>
            <a:r>
              <a:rPr lang="id-ID" sz="2400" dirty="0" smtClean="0">
                <a:latin typeface="Tahoma" pitchFamily="34" charset="0"/>
              </a:rPr>
              <a:t>(</a:t>
            </a:r>
            <a:r>
              <a:rPr lang="id-ID" sz="2400" i="1" dirty="0" smtClean="0">
                <a:latin typeface="Tahoma" pitchFamily="34" charset="0"/>
              </a:rPr>
              <a:t>x</a:t>
            </a:r>
            <a:r>
              <a:rPr lang="id-ID" sz="2400" dirty="0" smtClean="0">
                <a:latin typeface="Tahoma" pitchFamily="34" charset="0"/>
              </a:rPr>
              <a:t>) ] dilakukan dengan menyederhanakan </a:t>
            </a:r>
            <a:endParaRPr lang="en-US" sz="2400" dirty="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 dirty="0" smtClean="0">
                <a:latin typeface="Tahoma" pitchFamily="34" charset="0"/>
              </a:rPr>
              <a:t>   </a:t>
            </a:r>
            <a:r>
              <a:rPr lang="id-ID" sz="2400" smtClean="0">
                <a:latin typeface="Tahoma" pitchFamily="34" charset="0"/>
              </a:rPr>
              <a:t>bentuk [ </a:t>
            </a:r>
            <a:r>
              <a:rPr lang="id-ID" sz="2400" i="1" smtClean="0">
                <a:latin typeface="Tahoma" pitchFamily="34" charset="0"/>
              </a:rPr>
              <a:t>f</a:t>
            </a:r>
            <a:r>
              <a:rPr lang="id-ID" sz="2400" smtClean="0">
                <a:latin typeface="Tahoma" pitchFamily="34" charset="0"/>
              </a:rPr>
              <a:t>(</a:t>
            </a:r>
            <a:r>
              <a:rPr lang="id-ID" sz="2400" i="1" smtClean="0">
                <a:latin typeface="Tahoma" pitchFamily="34" charset="0"/>
              </a:rPr>
              <a:t>x</a:t>
            </a:r>
            <a:r>
              <a:rPr lang="id-ID" sz="2400" smtClean="0">
                <a:latin typeface="Tahoma" pitchFamily="34" charset="0"/>
              </a:rPr>
              <a:t>)- </a:t>
            </a:r>
            <a:r>
              <a:rPr lang="id-ID" sz="2400" i="1" smtClean="0">
                <a:latin typeface="Tahoma" pitchFamily="34" charset="0"/>
              </a:rPr>
              <a:t>g</a:t>
            </a:r>
            <a:r>
              <a:rPr lang="id-ID" sz="2400" smtClean="0">
                <a:latin typeface="Tahoma" pitchFamily="34" charset="0"/>
              </a:rPr>
              <a:t>(</a:t>
            </a:r>
            <a:r>
              <a:rPr lang="id-ID" sz="2400" i="1" smtClean="0">
                <a:latin typeface="Tahoma" pitchFamily="34" charset="0"/>
              </a:rPr>
              <a:t>x</a:t>
            </a:r>
            <a:r>
              <a:rPr lang="id-ID" sz="2400" smtClean="0">
                <a:latin typeface="Tahoma" pitchFamily="34" charset="0"/>
              </a:rPr>
              <a:t>) ] sehingga dapat dikerjakan menggunakan cara </a:t>
            </a:r>
            <a:r>
              <a:rPr lang="id-ID" sz="2400" dirty="0" smtClean="0">
                <a:latin typeface="Tahoma" pitchFamily="34" charset="0"/>
              </a:rPr>
              <a:t>yang telah dikenal sebelumnya</a:t>
            </a:r>
          </a:p>
          <a:p>
            <a:pPr eaLnBrk="1" hangingPunct="1">
              <a:buFont typeface="Wingdings" pitchFamily="2" charset="2"/>
              <a:buNone/>
            </a:pPr>
            <a:r>
              <a:rPr lang="id-ID" sz="2400" dirty="0" smtClean="0">
                <a:latin typeface="Tahoma" pitchFamily="34" charset="0"/>
              </a:rPr>
              <a:t>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id-ID" sz="2400" dirty="0" smtClean="0">
                <a:latin typeface="Tahoma" pitchFamily="34" charset="0"/>
              </a:rPr>
              <a:t>    </a:t>
            </a:r>
            <a:r>
              <a:rPr lang="id-ID" sz="2400" dirty="0" smtClean="0">
                <a:solidFill>
                  <a:srgbClr val="FF0066"/>
                </a:solidFill>
                <a:latin typeface="Tahoma" pitchFamily="34" charset="0"/>
              </a:rPr>
              <a:t>Contoh</a:t>
            </a:r>
            <a:r>
              <a:rPr lang="id-ID" sz="2400" dirty="0" smtClean="0">
                <a:latin typeface="Tahoma" pitchFamily="34" charset="0"/>
              </a:rPr>
              <a:t> : Hitung </a:t>
            </a:r>
          </a:p>
          <a:p>
            <a:pPr eaLnBrk="1" hangingPunct="1">
              <a:buFont typeface="Wingdings" pitchFamily="2" charset="2"/>
              <a:buNone/>
            </a:pPr>
            <a:endParaRPr lang="id-ID" sz="2400" dirty="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id-ID" sz="2400" dirty="0" smtClean="0">
                <a:latin typeface="Tahoma" pitchFamily="34" charset="0"/>
              </a:rPr>
              <a:t>    Jawab :</a:t>
            </a:r>
            <a:endParaRPr lang="id-ID" b="1" dirty="0" smtClean="0">
              <a:solidFill>
                <a:srgbClr val="3366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id-ID" sz="2400" dirty="0" smtClean="0">
              <a:latin typeface="Tahom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id-ID" sz="2800" dirty="0" smtClean="0"/>
          </a:p>
        </p:txBody>
      </p:sp>
      <p:sp>
        <p:nvSpPr>
          <p:cNvPr id="31751" name="Rectangle 5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3143255" y="3792537"/>
          <a:ext cx="2159977" cy="671513"/>
        </p:xfrm>
        <a:graphic>
          <a:graphicData uri="http://schemas.openxmlformats.org/presentationml/2006/ole">
            <p:oleObj spid="_x0000_s32806" name="Equation" r:id="rId4" imgW="1193800" imgH="368300" progId="Equation.3">
              <p:embed/>
            </p:oleObj>
          </a:graphicData>
        </a:graphic>
      </p:graphicFrame>
      <p:sp>
        <p:nvSpPr>
          <p:cNvPr id="31752" name="Rectangle 6"/>
          <p:cNvSpPr>
            <a:spLocks noChangeArrowheads="1"/>
          </p:cNvSpPr>
          <p:nvPr/>
        </p:nvSpPr>
        <p:spPr bwMode="auto">
          <a:xfrm>
            <a:off x="1" y="1165624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 sz="1800">
              <a:latin typeface="Arial" charset="0"/>
            </a:endParaRPr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650635" y="5241925"/>
          <a:ext cx="8310197" cy="854075"/>
        </p:xfrm>
        <a:graphic>
          <a:graphicData uri="http://schemas.openxmlformats.org/presentationml/2006/ole">
            <p:oleObj spid="_x0000_s32807" name="Equation" r:id="rId5" imgW="4724400" imgH="482600" progId="Equation.3">
              <p:embed/>
            </p:oleObj>
          </a:graphicData>
        </a:graphic>
      </p:graphicFrame>
      <p:sp>
        <p:nvSpPr>
          <p:cNvPr id="31754" name="Rectangle 9"/>
          <p:cNvSpPr>
            <a:spLocks noChangeArrowheads="1"/>
          </p:cNvSpPr>
          <p:nvPr/>
        </p:nvSpPr>
        <p:spPr bwMode="auto">
          <a:xfrm>
            <a:off x="4200460" y="5659853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 sz="1800">
              <a:latin typeface="Arial" charset="0"/>
            </a:endParaRP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0" y="993873"/>
            <a:ext cx="2776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31757" name="Rectangle 14"/>
          <p:cNvSpPr>
            <a:spLocks noChangeArrowheads="1"/>
          </p:cNvSpPr>
          <p:nvPr/>
        </p:nvSpPr>
        <p:spPr bwMode="auto">
          <a:xfrm>
            <a:off x="1" y="794148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1758" name="Rectangle 15"/>
          <p:cNvSpPr>
            <a:spLocks noChangeArrowheads="1"/>
          </p:cNvSpPr>
          <p:nvPr/>
        </p:nvSpPr>
        <p:spPr bwMode="auto">
          <a:xfrm>
            <a:off x="0" y="1306611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44408" y="0"/>
            <a:ext cx="899592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1305196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nip Diagonal Corner Rectangle 2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nip Diagonal Corner Rectangle 2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27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40B4A96F-DE48-41F5-A243-7E1FA667CFB9}" type="slidenum">
              <a:rPr lang="en-US" sz="1200" smtClean="0">
                <a:latin typeface="Arial Black" pitchFamily="34" charset="0"/>
              </a:rPr>
              <a:pPr algn="r" eaLnBrk="1" hangingPunct="1"/>
              <a:t>39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898285" y="1023938"/>
            <a:ext cx="17764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 dirty="0" err="1"/>
              <a:t>Soal</a:t>
            </a:r>
            <a:r>
              <a:rPr lang="en-US" b="1" dirty="0"/>
              <a:t> </a:t>
            </a:r>
            <a:r>
              <a:rPr lang="en-US" b="1" dirty="0" err="1"/>
              <a:t>Latihan</a:t>
            </a:r>
            <a:endParaRPr lang="en-US" b="1" dirty="0"/>
          </a:p>
        </p:txBody>
      </p:sp>
      <p:sp>
        <p:nvSpPr>
          <p:cNvPr id="32779" name="Rectangle 6"/>
          <p:cNvSpPr>
            <a:spLocks noChangeArrowheads="1"/>
          </p:cNvSpPr>
          <p:nvPr/>
        </p:nvSpPr>
        <p:spPr bwMode="auto">
          <a:xfrm>
            <a:off x="4479638" y="34443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1781" name="Object 5"/>
          <p:cNvGraphicFramePr>
            <a:graphicFrameLocks noChangeAspect="1"/>
          </p:cNvGraphicFramePr>
          <p:nvPr/>
        </p:nvGraphicFramePr>
        <p:xfrm>
          <a:off x="1513743" y="4203700"/>
          <a:ext cx="1395046" cy="708025"/>
        </p:xfrm>
        <a:graphic>
          <a:graphicData uri="http://schemas.openxmlformats.org/presentationml/2006/ole">
            <p:oleObj spid="_x0000_s33902" name="Equation" r:id="rId4" imgW="914400" imgH="431800" progId="Equation.3">
              <p:embed/>
            </p:oleObj>
          </a:graphicData>
        </a:graphic>
      </p:graphicFrame>
      <p:sp>
        <p:nvSpPr>
          <p:cNvPr id="32780" name="Rectangle 8"/>
          <p:cNvSpPr>
            <a:spLocks noChangeArrowheads="1"/>
          </p:cNvSpPr>
          <p:nvPr/>
        </p:nvSpPr>
        <p:spPr bwMode="auto">
          <a:xfrm>
            <a:off x="4479638" y="35015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1783" name="Object 7"/>
          <p:cNvGraphicFramePr>
            <a:graphicFrameLocks noChangeAspect="1"/>
          </p:cNvGraphicFramePr>
          <p:nvPr/>
        </p:nvGraphicFramePr>
        <p:xfrm>
          <a:off x="1647092" y="3613150"/>
          <a:ext cx="1330569" cy="533400"/>
        </p:xfrm>
        <a:graphic>
          <a:graphicData uri="http://schemas.openxmlformats.org/presentationml/2006/ole">
            <p:oleObj spid="_x0000_s33903" name="Equation" r:id="rId5" imgW="850531" imgH="317362" progId="Equation.3">
              <p:embed/>
            </p:oleObj>
          </a:graphicData>
        </a:graphic>
      </p:graphicFrame>
      <p:sp>
        <p:nvSpPr>
          <p:cNvPr id="32781" name="Rectangle 10"/>
          <p:cNvSpPr>
            <a:spLocks noChangeArrowheads="1"/>
          </p:cNvSpPr>
          <p:nvPr/>
        </p:nvSpPr>
        <p:spPr bwMode="auto">
          <a:xfrm>
            <a:off x="4479638" y="34443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1785" name="Object 9"/>
          <p:cNvGraphicFramePr>
            <a:graphicFrameLocks noChangeAspect="1"/>
          </p:cNvGraphicFramePr>
          <p:nvPr/>
        </p:nvGraphicFramePr>
        <p:xfrm>
          <a:off x="1581151" y="2790834"/>
          <a:ext cx="1928446" cy="676275"/>
        </p:xfrm>
        <a:graphic>
          <a:graphicData uri="http://schemas.openxmlformats.org/presentationml/2006/ole">
            <p:oleObj spid="_x0000_s33904" name="Equation" r:id="rId6" imgW="1320227" imgH="431613" progId="Equation.3">
              <p:embed/>
            </p:oleObj>
          </a:graphicData>
        </a:graphic>
      </p:graphicFrame>
      <p:sp>
        <p:nvSpPr>
          <p:cNvPr id="32782" name="Rectangle 12"/>
          <p:cNvSpPr>
            <a:spLocks noChangeArrowheads="1"/>
          </p:cNvSpPr>
          <p:nvPr/>
        </p:nvSpPr>
        <p:spPr bwMode="auto">
          <a:xfrm>
            <a:off x="4479638" y="34443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1787" name="Object 11"/>
          <p:cNvGraphicFramePr>
            <a:graphicFrameLocks noChangeAspect="1"/>
          </p:cNvGraphicFramePr>
          <p:nvPr/>
        </p:nvGraphicFramePr>
        <p:xfrm>
          <a:off x="1648558" y="2008187"/>
          <a:ext cx="1263162" cy="668338"/>
        </p:xfrm>
        <a:graphic>
          <a:graphicData uri="http://schemas.openxmlformats.org/presentationml/2006/ole">
            <p:oleObj spid="_x0000_s33905" name="Equation" r:id="rId7" imgW="876300" imgH="431800" progId="Equation.3">
              <p:embed/>
            </p:oleObj>
          </a:graphicData>
        </a:graphic>
      </p:graphicFrame>
      <p:sp>
        <p:nvSpPr>
          <p:cNvPr id="32783" name="Rectangle 14"/>
          <p:cNvSpPr>
            <a:spLocks noChangeArrowheads="1"/>
          </p:cNvSpPr>
          <p:nvPr/>
        </p:nvSpPr>
        <p:spPr bwMode="auto">
          <a:xfrm>
            <a:off x="4479638" y="3472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1789" name="Object 13"/>
          <p:cNvGraphicFramePr>
            <a:graphicFrameLocks noChangeAspect="1"/>
          </p:cNvGraphicFramePr>
          <p:nvPr/>
        </p:nvGraphicFramePr>
        <p:xfrm>
          <a:off x="1579685" y="5086350"/>
          <a:ext cx="2327031" cy="628650"/>
        </p:xfrm>
        <a:graphic>
          <a:graphicData uri="http://schemas.openxmlformats.org/presentationml/2006/ole">
            <p:oleObj spid="_x0000_s33906" name="Equation" r:id="rId8" imgW="1485900" imgH="368300" progId="Equation.3">
              <p:embed/>
            </p:oleObj>
          </a:graphicData>
        </a:graphic>
      </p:graphicFrame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4479638" y="34443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1791" name="Object 15"/>
          <p:cNvGraphicFramePr>
            <a:graphicFrameLocks noChangeAspect="1"/>
          </p:cNvGraphicFramePr>
          <p:nvPr/>
        </p:nvGraphicFramePr>
        <p:xfrm>
          <a:off x="4306770" y="2043112"/>
          <a:ext cx="2791557" cy="704850"/>
        </p:xfrm>
        <a:graphic>
          <a:graphicData uri="http://schemas.openxmlformats.org/presentationml/2006/ole">
            <p:oleObj spid="_x0000_s33907" name="Equation" r:id="rId9" imgW="1841500" imgH="431800" progId="Equation.3">
              <p:embed/>
            </p:oleObj>
          </a:graphicData>
        </a:graphic>
      </p:graphicFrame>
      <p:sp>
        <p:nvSpPr>
          <p:cNvPr id="331793" name="Rectangle 17"/>
          <p:cNvSpPr>
            <a:spLocks noChangeArrowheads="1"/>
          </p:cNvSpPr>
          <p:nvPr/>
        </p:nvSpPr>
        <p:spPr bwMode="auto">
          <a:xfrm>
            <a:off x="792699" y="1480623"/>
            <a:ext cx="3531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sv-SE"/>
              <a:t>Hitung limit berikut ( bila ada )</a:t>
            </a:r>
          </a:p>
        </p:txBody>
      </p:sp>
      <p:sp>
        <p:nvSpPr>
          <p:cNvPr id="331794" name="Text Box 18"/>
          <p:cNvSpPr txBox="1">
            <a:spLocks noChangeArrowheads="1"/>
          </p:cNvSpPr>
          <p:nvPr/>
        </p:nvSpPr>
        <p:spPr bwMode="auto">
          <a:xfrm>
            <a:off x="1098532" y="2176463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</a:t>
            </a:r>
          </a:p>
        </p:txBody>
      </p:sp>
      <p:sp>
        <p:nvSpPr>
          <p:cNvPr id="331795" name="Text Box 19"/>
          <p:cNvSpPr txBox="1">
            <a:spLocks noChangeArrowheads="1"/>
          </p:cNvSpPr>
          <p:nvPr/>
        </p:nvSpPr>
        <p:spPr bwMode="auto">
          <a:xfrm>
            <a:off x="1075086" y="2968626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2.</a:t>
            </a:r>
          </a:p>
        </p:txBody>
      </p:sp>
      <p:sp>
        <p:nvSpPr>
          <p:cNvPr id="331796" name="Text Box 20"/>
          <p:cNvSpPr txBox="1">
            <a:spLocks noChangeArrowheads="1"/>
          </p:cNvSpPr>
          <p:nvPr/>
        </p:nvSpPr>
        <p:spPr bwMode="auto">
          <a:xfrm>
            <a:off x="1086809" y="3616326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3.</a:t>
            </a:r>
          </a:p>
        </p:txBody>
      </p:sp>
      <p:sp>
        <p:nvSpPr>
          <p:cNvPr id="331797" name="Text Box 21"/>
          <p:cNvSpPr txBox="1">
            <a:spLocks noChangeArrowheads="1"/>
          </p:cNvSpPr>
          <p:nvPr/>
        </p:nvSpPr>
        <p:spPr bwMode="auto">
          <a:xfrm>
            <a:off x="1088060" y="4419601"/>
            <a:ext cx="398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4.</a:t>
            </a:r>
          </a:p>
        </p:txBody>
      </p:sp>
      <p:sp>
        <p:nvSpPr>
          <p:cNvPr id="331798" name="Text Box 22"/>
          <p:cNvSpPr txBox="1">
            <a:spLocks noChangeArrowheads="1"/>
          </p:cNvSpPr>
          <p:nvPr/>
        </p:nvSpPr>
        <p:spPr bwMode="auto">
          <a:xfrm>
            <a:off x="1098532" y="5200651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5.</a:t>
            </a:r>
          </a:p>
        </p:txBody>
      </p:sp>
      <p:sp>
        <p:nvSpPr>
          <p:cNvPr id="331799" name="Text Box 23"/>
          <p:cNvSpPr txBox="1">
            <a:spLocks noChangeArrowheads="1"/>
          </p:cNvSpPr>
          <p:nvPr/>
        </p:nvSpPr>
        <p:spPr bwMode="auto">
          <a:xfrm>
            <a:off x="3906209" y="2249488"/>
            <a:ext cx="401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xmlns="" val="3593793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33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3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3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/>
      <p:bldP spid="331793" grpId="0"/>
      <p:bldP spid="331794" grpId="0"/>
      <p:bldP spid="331795" grpId="0"/>
      <p:bldP spid="331796" grpId="0"/>
      <p:bldP spid="331797" grpId="0"/>
      <p:bldP spid="331798" grpId="0"/>
      <p:bldP spid="33179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nip Diagonal Corner Rectangle 1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nip Diagonal Corner Rectangle 1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491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9FDE26BE-26C2-4DF8-99C9-EE800467E728}" type="slidenum">
              <a:rPr lang="en-US" sz="1200" smtClean="0">
                <a:latin typeface="Arial Black" pitchFamily="34" charset="0"/>
              </a:rPr>
              <a:pPr algn="r" eaLnBrk="1" hangingPunct="1"/>
              <a:t>40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6830" y="1577752"/>
            <a:ext cx="8817170" cy="3756248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b="1" dirty="0" smtClean="0">
                <a:solidFill>
                  <a:srgbClr val="3333FF"/>
                </a:solidFill>
              </a:rPr>
              <a:t>5.</a:t>
            </a:r>
            <a:r>
              <a:rPr lang="en-US" b="1" dirty="0" smtClean="0">
                <a:solidFill>
                  <a:srgbClr val="3333FF"/>
                </a:solidFill>
              </a:rPr>
              <a:t>3</a:t>
            </a:r>
            <a:r>
              <a:rPr lang="id-ID" b="1" dirty="0" smtClean="0">
                <a:solidFill>
                  <a:srgbClr val="3333FF"/>
                </a:solidFill>
              </a:rPr>
              <a:t> Masalah maksimum minimum lainnya</a:t>
            </a:r>
            <a:endParaRPr lang="id-ID" dirty="0" smtClean="0">
              <a:solidFill>
                <a:srgbClr val="3333FF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dirty="0" smtClean="0"/>
              <a:t>Turunan dapat juga dipergunakan dalam menyelesaikan masala</a:t>
            </a:r>
            <a:r>
              <a:rPr lang="en-US" sz="2000" dirty="0" smtClean="0"/>
              <a:t>h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dirty="0" smtClean="0"/>
              <a:t>sehari-hari</a:t>
            </a:r>
            <a:r>
              <a:rPr lang="en-US" sz="2000" dirty="0" smtClean="0"/>
              <a:t> yang </a:t>
            </a:r>
            <a:r>
              <a:rPr lang="en-US" sz="2000" dirty="0" err="1" smtClean="0"/>
              <a:t>berkaitan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masalah</a:t>
            </a:r>
            <a:r>
              <a:rPr lang="en-US" sz="2000" dirty="0" smtClean="0"/>
              <a:t> </a:t>
            </a:r>
            <a:r>
              <a:rPr lang="en-US" sz="2000" dirty="0" err="1" smtClean="0"/>
              <a:t>memaksimumkan</a:t>
            </a:r>
            <a:r>
              <a:rPr lang="en-US" sz="2000" dirty="0" smtClean="0"/>
              <a:t>/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err="1" smtClean="0"/>
              <a:t>meminimumkan</a:t>
            </a:r>
            <a:r>
              <a:rPr lang="en-US" sz="2000" dirty="0" smtClean="0"/>
              <a:t> </a:t>
            </a:r>
            <a:r>
              <a:rPr lang="en-US" sz="2000" dirty="0" err="1" smtClean="0"/>
              <a:t>fungsi</a:t>
            </a:r>
            <a:r>
              <a:rPr lang="en-US" sz="2000" dirty="0" smtClean="0"/>
              <a:t>. </a:t>
            </a:r>
            <a:r>
              <a:rPr lang="en-US" sz="2000" dirty="0" err="1" smtClean="0"/>
              <a:t>Langkah</a:t>
            </a:r>
            <a:r>
              <a:rPr lang="en-US" sz="2000" dirty="0" smtClean="0"/>
              <a:t> </a:t>
            </a:r>
            <a:r>
              <a:rPr lang="en-US" sz="2000" dirty="0" err="1" smtClean="0"/>
              <a:t>pertama</a:t>
            </a:r>
            <a:r>
              <a:rPr lang="en-US" sz="2000" dirty="0" smtClean="0"/>
              <a:t> yang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dilakukan</a:t>
            </a:r>
            <a:r>
              <a:rPr lang="en-US" sz="2000" dirty="0" smtClean="0"/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err="1" smtClean="0"/>
              <a:t>adalah</a:t>
            </a:r>
            <a:r>
              <a:rPr lang="en-US" sz="2000" dirty="0" smtClean="0"/>
              <a:t> </a:t>
            </a:r>
            <a:r>
              <a:rPr lang="en-US" sz="2000" dirty="0" err="1" smtClean="0"/>
              <a:t>memodelkan</a:t>
            </a:r>
            <a:r>
              <a:rPr lang="en-US" sz="2000" dirty="0" smtClean="0"/>
              <a:t> </a:t>
            </a:r>
            <a:r>
              <a:rPr lang="en-US" sz="2000" dirty="0" err="1" smtClean="0"/>
              <a:t>masalah</a:t>
            </a:r>
            <a:r>
              <a:rPr lang="en-US" sz="2000" dirty="0" smtClean="0"/>
              <a:t> </a:t>
            </a:r>
            <a:r>
              <a:rPr lang="en-US" sz="2000" dirty="0" err="1" smtClean="0"/>
              <a:t>tersebut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</a:t>
            </a:r>
            <a:r>
              <a:rPr lang="en-US" sz="2000" dirty="0" err="1" smtClean="0"/>
              <a:t>fungsi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peubah</a:t>
            </a:r>
            <a:r>
              <a:rPr lang="en-US" sz="2000" dirty="0" smtClean="0"/>
              <a:t>. </a:t>
            </a:r>
            <a:endParaRPr lang="id-ID" sz="2000" b="1" dirty="0" smtClean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err="1" smtClean="0">
                <a:solidFill>
                  <a:srgbClr val="FF0066"/>
                </a:solidFill>
              </a:rPr>
              <a:t>Setelah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itu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gunakan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aturan-aturan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turunan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untuk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menentukan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err="1" smtClean="0">
                <a:solidFill>
                  <a:srgbClr val="FF0066"/>
                </a:solidFill>
              </a:rPr>
              <a:t>nilai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maksimum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atau</a:t>
            </a:r>
            <a:r>
              <a:rPr lang="en-US" sz="2000" b="1" dirty="0" smtClean="0">
                <a:solidFill>
                  <a:srgbClr val="FF0066"/>
                </a:solidFill>
              </a:rPr>
              <a:t> </a:t>
            </a:r>
            <a:r>
              <a:rPr lang="en-US" sz="2000" b="1" dirty="0" err="1" smtClean="0">
                <a:solidFill>
                  <a:srgbClr val="FF0066"/>
                </a:solidFill>
              </a:rPr>
              <a:t>nilai</a:t>
            </a:r>
            <a:r>
              <a:rPr lang="en-US" sz="2000" b="1" dirty="0" smtClean="0">
                <a:solidFill>
                  <a:srgbClr val="FF0066"/>
                </a:solidFill>
              </a:rPr>
              <a:t> minimum</a:t>
            </a:r>
            <a:endParaRPr lang="id-ID" sz="2000" b="1" dirty="0" smtClean="0">
              <a:solidFill>
                <a:srgbClr val="FF0066"/>
              </a:solidFill>
            </a:endParaRP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1" y="-1180"/>
            <a:ext cx="227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0" y="1044682"/>
            <a:ext cx="234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id-ID" sz="1400">
                <a:latin typeface="Arial" charset="0"/>
              </a:rPr>
              <a:t> </a:t>
            </a:r>
            <a:endParaRPr lang="id-ID" sz="1800">
              <a:latin typeface="Arial" charset="0"/>
            </a:endParaRPr>
          </a:p>
        </p:txBody>
      </p:sp>
      <p:sp>
        <p:nvSpPr>
          <p:cNvPr id="49159" name="Rectangle 11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9160" name="Rectangle 12"/>
          <p:cNvSpPr>
            <a:spLocks noChangeArrowheads="1"/>
          </p:cNvSpPr>
          <p:nvPr/>
        </p:nvSpPr>
        <p:spPr bwMode="auto">
          <a:xfrm>
            <a:off x="4479638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49161" name="Rectangle 23"/>
          <p:cNvSpPr>
            <a:spLocks noChangeArrowheads="1"/>
          </p:cNvSpPr>
          <p:nvPr/>
        </p:nvSpPr>
        <p:spPr bwMode="auto">
          <a:xfrm>
            <a:off x="4479638" y="352532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572506"/>
      </p:ext>
    </p:extLst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BBD9A700-379A-47B0-B329-EB08580A23C3}" type="slidenum">
              <a:rPr lang="en-US" sz="1200" smtClean="0">
                <a:latin typeface="Arial Black" pitchFamily="34" charset="0"/>
              </a:rPr>
              <a:pPr algn="r" eaLnBrk="1" hangingPunct="1"/>
              <a:t>41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363421" y="919639"/>
            <a:ext cx="12570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Contoh</a:t>
            </a:r>
            <a:r>
              <a:rPr lang="en-US" sz="2400" dirty="0"/>
              <a:t>:</a:t>
            </a:r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337039" y="1347934"/>
            <a:ext cx="81084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AutoNum type="arabicPeriod"/>
            </a:pPr>
            <a:r>
              <a:rPr lang="en-US" sz="2400"/>
              <a:t>Tentukan ukuran persegi panjang yang dapat dibuat </a:t>
            </a:r>
          </a:p>
          <a:p>
            <a:pPr algn="l"/>
            <a:r>
              <a:rPr lang="en-US" sz="2400"/>
              <a:t>	dari kawat sepanjang 100 cm agar luasnya maksimum  </a:t>
            </a:r>
          </a:p>
        </p:txBody>
      </p:sp>
      <p:sp>
        <p:nvSpPr>
          <p:cNvPr id="316423" name="Rectangle 7"/>
          <p:cNvSpPr>
            <a:spLocks noChangeArrowheads="1"/>
          </p:cNvSpPr>
          <p:nvPr/>
        </p:nvSpPr>
        <p:spPr bwMode="auto">
          <a:xfrm>
            <a:off x="2910254" y="3135459"/>
            <a:ext cx="2857500" cy="93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16424" name="Text Box 8"/>
          <p:cNvSpPr txBox="1">
            <a:spLocks noChangeArrowheads="1"/>
          </p:cNvSpPr>
          <p:nvPr/>
        </p:nvSpPr>
        <p:spPr bwMode="auto">
          <a:xfrm>
            <a:off x="665289" y="2127396"/>
            <a:ext cx="9900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>
                <a:solidFill>
                  <a:srgbClr val="FF0066"/>
                </a:solidFill>
              </a:rPr>
              <a:t>jawab</a:t>
            </a:r>
          </a:p>
        </p:txBody>
      </p:sp>
      <p:sp>
        <p:nvSpPr>
          <p:cNvPr id="316425" name="Text Box 9"/>
          <p:cNvSpPr txBox="1">
            <a:spLocks noChangeArrowheads="1"/>
          </p:cNvSpPr>
          <p:nvPr/>
        </p:nvSpPr>
        <p:spPr bwMode="auto">
          <a:xfrm>
            <a:off x="898282" y="2549664"/>
            <a:ext cx="285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Misal panjang y, lebar x</a:t>
            </a:r>
          </a:p>
        </p:txBody>
      </p:sp>
      <p:sp>
        <p:nvSpPr>
          <p:cNvPr id="316426" name="Text Box 10"/>
          <p:cNvSpPr txBox="1">
            <a:spLocks noChangeArrowheads="1"/>
          </p:cNvSpPr>
          <p:nvPr/>
        </p:nvSpPr>
        <p:spPr bwMode="auto">
          <a:xfrm>
            <a:off x="4021016" y="2703651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y</a:t>
            </a:r>
          </a:p>
        </p:txBody>
      </p:sp>
      <p:sp>
        <p:nvSpPr>
          <p:cNvPr id="316427" name="Text Box 11"/>
          <p:cNvSpPr txBox="1">
            <a:spLocks noChangeArrowheads="1"/>
          </p:cNvSpPr>
          <p:nvPr/>
        </p:nvSpPr>
        <p:spPr bwMode="auto">
          <a:xfrm>
            <a:off x="5816112" y="3279914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316428" name="Text Box 12"/>
          <p:cNvSpPr txBox="1">
            <a:spLocks noChangeArrowheads="1"/>
          </p:cNvSpPr>
          <p:nvPr/>
        </p:nvSpPr>
        <p:spPr bwMode="auto">
          <a:xfrm>
            <a:off x="915866" y="4203839"/>
            <a:ext cx="18340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Luas= L = x y,</a:t>
            </a:r>
          </a:p>
        </p:txBody>
      </p:sp>
      <p:sp>
        <p:nvSpPr>
          <p:cNvPr id="33808" name="Text Box 13"/>
          <p:cNvSpPr txBox="1">
            <a:spLocks noChangeArrowheads="1"/>
          </p:cNvSpPr>
          <p:nvPr/>
        </p:nvSpPr>
        <p:spPr bwMode="auto">
          <a:xfrm>
            <a:off x="2426681" y="42054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sp>
        <p:nvSpPr>
          <p:cNvPr id="316430" name="Text Box 14"/>
          <p:cNvSpPr txBox="1">
            <a:spLocks noChangeArrowheads="1"/>
          </p:cNvSpPr>
          <p:nvPr/>
        </p:nvSpPr>
        <p:spPr bwMode="auto">
          <a:xfrm>
            <a:off x="2562958" y="4229239"/>
            <a:ext cx="43014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/>
              <a:t>2x + 2y = 100 </a:t>
            </a:r>
            <a:r>
              <a:rPr lang="en-US" dirty="0">
                <a:sym typeface="Wingdings" pitchFamily="2" charset="2"/>
              </a:rPr>
              <a:t> y = 50 - x</a:t>
            </a:r>
            <a:endParaRPr lang="en-US" dirty="0"/>
          </a:p>
        </p:txBody>
      </p:sp>
      <p:sp>
        <p:nvSpPr>
          <p:cNvPr id="316431" name="Text Box 15"/>
          <p:cNvSpPr txBox="1">
            <a:spLocks noChangeArrowheads="1"/>
          </p:cNvSpPr>
          <p:nvPr/>
        </p:nvSpPr>
        <p:spPr bwMode="auto">
          <a:xfrm>
            <a:off x="914400" y="4611826"/>
            <a:ext cx="38613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Sehingga Luas = L(x) = x(50-x) </a:t>
            </a:r>
          </a:p>
        </p:txBody>
      </p:sp>
      <p:sp>
        <p:nvSpPr>
          <p:cNvPr id="33811" name="Rectangle 23"/>
          <p:cNvSpPr>
            <a:spLocks noChangeArrowheads="1"/>
          </p:cNvSpPr>
          <p:nvPr/>
        </p:nvSpPr>
        <p:spPr bwMode="auto">
          <a:xfrm>
            <a:off x="4479638" y="33555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64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32968120"/>
              </p:ext>
            </p:extLst>
          </p:nvPr>
        </p:nvGraphicFramePr>
        <p:xfrm>
          <a:off x="4681660" y="4556323"/>
          <a:ext cx="1337897" cy="455613"/>
        </p:xfrm>
        <a:graphic>
          <a:graphicData uri="http://schemas.openxmlformats.org/presentationml/2006/ole">
            <p:oleObj spid="_x0000_s34890" name="Equation" r:id="rId3" imgW="711200" imgH="228600" progId="Equation.3">
              <p:embed/>
            </p:oleObj>
          </a:graphicData>
        </a:graphic>
      </p:graphicFrame>
      <p:sp>
        <p:nvSpPr>
          <p:cNvPr id="33812" name="Rectangle 25"/>
          <p:cNvSpPr>
            <a:spLocks noChangeArrowheads="1"/>
          </p:cNvSpPr>
          <p:nvPr/>
        </p:nvSpPr>
        <p:spPr bwMode="auto">
          <a:xfrm>
            <a:off x="4479638" y="33651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64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42422647"/>
              </p:ext>
            </p:extLst>
          </p:nvPr>
        </p:nvGraphicFramePr>
        <p:xfrm>
          <a:off x="5992933" y="4635639"/>
          <a:ext cx="1129811" cy="336550"/>
        </p:xfrm>
        <a:graphic>
          <a:graphicData uri="http://schemas.openxmlformats.org/presentationml/2006/ole">
            <p:oleObj spid="_x0000_s34891" name="Equation" r:id="rId4" imgW="660113" imgH="177723" progId="Equation.3">
              <p:embed/>
            </p:oleObj>
          </a:graphicData>
        </a:graphic>
      </p:graphicFrame>
      <p:sp>
        <p:nvSpPr>
          <p:cNvPr id="33813" name="Rectangle 27"/>
          <p:cNvSpPr>
            <a:spLocks noChangeArrowheads="1"/>
          </p:cNvSpPr>
          <p:nvPr/>
        </p:nvSpPr>
        <p:spPr bwMode="auto">
          <a:xfrm>
            <a:off x="4479638" y="33555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6442" name="Object 26"/>
          <p:cNvGraphicFramePr>
            <a:graphicFrameLocks noChangeAspect="1"/>
          </p:cNvGraphicFramePr>
          <p:nvPr/>
        </p:nvGraphicFramePr>
        <p:xfrm>
          <a:off x="1182571" y="5008709"/>
          <a:ext cx="1595803" cy="352425"/>
        </p:xfrm>
        <a:graphic>
          <a:graphicData uri="http://schemas.openxmlformats.org/presentationml/2006/ole">
            <p:oleObj spid="_x0000_s34892" name="Equation" r:id="rId5" imgW="977476" imgH="203112" progId="Equation.3">
              <p:embed/>
            </p:oleObj>
          </a:graphicData>
        </a:graphic>
      </p:graphicFrame>
      <p:sp>
        <p:nvSpPr>
          <p:cNvPr id="316444" name="Text Box 28"/>
          <p:cNvSpPr txBox="1">
            <a:spLocks noChangeArrowheads="1"/>
          </p:cNvSpPr>
          <p:nvPr/>
        </p:nvSpPr>
        <p:spPr bwMode="auto">
          <a:xfrm>
            <a:off x="2776905" y="4972189"/>
            <a:ext cx="4363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316445" name="Text Box 29"/>
          <p:cNvSpPr txBox="1">
            <a:spLocks noChangeArrowheads="1"/>
          </p:cNvSpPr>
          <p:nvPr/>
        </p:nvSpPr>
        <p:spPr bwMode="auto">
          <a:xfrm>
            <a:off x="3109550" y="4935676"/>
            <a:ext cx="9364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 = 25</a:t>
            </a:r>
          </a:p>
        </p:txBody>
      </p:sp>
      <p:sp>
        <p:nvSpPr>
          <p:cNvPr id="33816" name="Rectangle 32"/>
          <p:cNvSpPr>
            <a:spLocks noChangeArrowheads="1"/>
          </p:cNvSpPr>
          <p:nvPr/>
        </p:nvSpPr>
        <p:spPr bwMode="auto">
          <a:xfrm>
            <a:off x="4479638" y="33555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6447" name="Object 31"/>
          <p:cNvGraphicFramePr>
            <a:graphicFrameLocks noChangeAspect="1"/>
          </p:cNvGraphicFramePr>
          <p:nvPr/>
        </p:nvGraphicFramePr>
        <p:xfrm>
          <a:off x="1831731" y="5345250"/>
          <a:ext cx="1861038" cy="395288"/>
        </p:xfrm>
        <a:graphic>
          <a:graphicData uri="http://schemas.openxmlformats.org/presentationml/2006/ole">
            <p:oleObj spid="_x0000_s34893" name="Equation" r:id="rId6" imgW="1016000" imgH="203200" progId="Equation.3">
              <p:embed/>
            </p:oleObj>
          </a:graphicData>
        </a:graphic>
      </p:graphicFrame>
      <p:sp>
        <p:nvSpPr>
          <p:cNvPr id="316449" name="Text Box 33"/>
          <p:cNvSpPr txBox="1">
            <a:spLocks noChangeArrowheads="1"/>
          </p:cNvSpPr>
          <p:nvPr/>
        </p:nvSpPr>
        <p:spPr bwMode="auto">
          <a:xfrm>
            <a:off x="955431" y="5296039"/>
            <a:ext cx="10481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Karena </a:t>
            </a:r>
          </a:p>
        </p:txBody>
      </p:sp>
      <p:sp>
        <p:nvSpPr>
          <p:cNvPr id="316450" name="Text Box 34"/>
          <p:cNvSpPr txBox="1">
            <a:spLocks noChangeArrowheads="1"/>
          </p:cNvSpPr>
          <p:nvPr/>
        </p:nvSpPr>
        <p:spPr bwMode="auto">
          <a:xfrm>
            <a:off x="3727943" y="5296039"/>
            <a:ext cx="40607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maka di x = 25 terjadi maks lokal.</a:t>
            </a:r>
          </a:p>
        </p:txBody>
      </p:sp>
      <p:sp>
        <p:nvSpPr>
          <p:cNvPr id="316452" name="Text Box 36"/>
          <p:cNvSpPr txBox="1">
            <a:spLocks noChangeArrowheads="1"/>
          </p:cNvSpPr>
          <p:nvPr/>
        </p:nvSpPr>
        <p:spPr bwMode="auto">
          <a:xfrm>
            <a:off x="961298" y="5692914"/>
            <a:ext cx="79282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Karena L(0) = 0, L(25) = 625, L(50) = 0 </a:t>
            </a:r>
            <a:r>
              <a:rPr lang="en-US">
                <a:sym typeface="Wingdings" pitchFamily="2" charset="2"/>
              </a:rPr>
              <a:t> agar luas maks haruslah</a:t>
            </a:r>
          </a:p>
          <a:p>
            <a:pPr algn="l"/>
            <a:r>
              <a:rPr lang="en-US">
                <a:sym typeface="Wingdings" pitchFamily="2" charset="2"/>
              </a:rPr>
              <a:t>x = 25 dan y = 25</a:t>
            </a:r>
            <a:endParaRPr lang="en-US"/>
          </a:p>
        </p:txBody>
      </p:sp>
      <p:sp>
        <p:nvSpPr>
          <p:cNvPr id="29" name="Snip Diagonal Corner Rectangle 2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nip Diagonal Corner Rectangle 2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361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3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31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3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3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3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31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3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3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1" grpId="0"/>
      <p:bldP spid="316422" grpId="0"/>
      <p:bldP spid="316423" grpId="0" animBg="1"/>
      <p:bldP spid="316424" grpId="0"/>
      <p:bldP spid="316425" grpId="0"/>
      <p:bldP spid="316426" grpId="0"/>
      <p:bldP spid="316427" grpId="0"/>
      <p:bldP spid="316428" grpId="0"/>
      <p:bldP spid="316430" grpId="0"/>
      <p:bldP spid="316431" grpId="0"/>
      <p:bldP spid="316444" grpId="0"/>
      <p:bldP spid="316445" grpId="0"/>
      <p:bldP spid="316449" grpId="0"/>
      <p:bldP spid="316450" grpId="0"/>
      <p:bldP spid="31645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nip Diagonal Corner Rectangle 3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nip Diagonal Corner Rectangle 3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48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85CFEE30-A370-4F60-A6FA-D88147498B45}" type="slidenum">
              <a:rPr lang="en-US" sz="1200" smtClean="0">
                <a:latin typeface="Arial Black" pitchFamily="34" charset="0"/>
              </a:rPr>
              <a:pPr algn="r" eaLnBrk="1" hangingPunct="1"/>
              <a:t>42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184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2051" y="922338"/>
            <a:ext cx="8412700" cy="143986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Tahoma" pitchFamily="34" charset="0"/>
              </a:rPr>
              <a:t>2. </a:t>
            </a:r>
            <a:r>
              <a:rPr lang="id-ID" sz="1800" dirty="0" smtClean="0">
                <a:latin typeface="Tahoma" pitchFamily="34" charset="0"/>
              </a:rPr>
              <a:t> </a:t>
            </a:r>
            <a:r>
              <a:rPr lang="id-ID" sz="2000" dirty="0" smtClean="0">
                <a:latin typeface="Tahoma" pitchFamily="34" charset="0"/>
              </a:rPr>
              <a:t>Sehelai karton berbentuk persegipanjang dengan ukuran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45 x 24 cm. Karton ini akan dibuat kotak tanpa tutup dengan cara </a:t>
            </a:r>
            <a:endParaRPr lang="en-US" sz="2000" dirty="0" smtClean="0">
              <a:latin typeface="Tahoma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memotong keempat</a:t>
            </a:r>
            <a:r>
              <a:rPr lang="en-US" sz="2000" dirty="0" smtClean="0">
                <a:latin typeface="Tahoma" pitchFamily="34" charset="0"/>
              </a:rPr>
              <a:t> </a:t>
            </a:r>
            <a:r>
              <a:rPr lang="en-US" sz="2000" dirty="0" err="1" smtClean="0">
                <a:latin typeface="Tahoma" pitchFamily="34" charset="0"/>
              </a:rPr>
              <a:t>pojoknya</a:t>
            </a:r>
            <a:r>
              <a:rPr lang="en-US" sz="2000" dirty="0" smtClean="0">
                <a:latin typeface="Tahoma" pitchFamily="34" charset="0"/>
              </a:rPr>
              <a:t> </a:t>
            </a:r>
            <a:r>
              <a:rPr lang="en-US" sz="2000" dirty="0" err="1" smtClean="0">
                <a:latin typeface="Tahoma" pitchFamily="34" charset="0"/>
              </a:rPr>
              <a:t>berupa</a:t>
            </a:r>
            <a:r>
              <a:rPr lang="id-ID" sz="2000" dirty="0" smtClean="0">
                <a:latin typeface="Tahoma" pitchFamily="34" charset="0"/>
              </a:rPr>
              <a:t> bujur sangkar dan</a:t>
            </a:r>
            <a:r>
              <a:rPr lang="en-US" sz="2000" dirty="0" smtClean="0">
                <a:latin typeface="Tahoma" pitchFamily="34" charset="0"/>
              </a:rPr>
              <a:t> </a:t>
            </a:r>
            <a:r>
              <a:rPr lang="id-ID" sz="2000" dirty="0" smtClean="0">
                <a:latin typeface="Tahoma" pitchFamily="34" charset="0"/>
              </a:rPr>
              <a:t>melipatnya.</a:t>
            </a:r>
            <a:endParaRPr lang="en-US" sz="2000" dirty="0" smtClean="0">
              <a:latin typeface="Tahoma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>
                <a:latin typeface="Tahoma" pitchFamily="34" charset="0"/>
              </a:rPr>
              <a:t>Tentukan ukuran kotak agar volume kotak maksimum.</a:t>
            </a:r>
          </a:p>
        </p:txBody>
      </p:sp>
      <p:sp>
        <p:nvSpPr>
          <p:cNvPr id="318469" name="Rectangle 5"/>
          <p:cNvSpPr>
            <a:spLocks noChangeArrowheads="1"/>
          </p:cNvSpPr>
          <p:nvPr/>
        </p:nvSpPr>
        <p:spPr bwMode="auto">
          <a:xfrm>
            <a:off x="1115162" y="2625725"/>
            <a:ext cx="2659673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18470" name="Rectangle 6"/>
          <p:cNvSpPr>
            <a:spLocks noChangeArrowheads="1"/>
          </p:cNvSpPr>
          <p:nvPr/>
        </p:nvSpPr>
        <p:spPr bwMode="auto">
          <a:xfrm>
            <a:off x="3308839" y="2636846"/>
            <a:ext cx="465992" cy="4238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18471" name="Rectangle 7"/>
          <p:cNvSpPr>
            <a:spLocks noChangeArrowheads="1"/>
          </p:cNvSpPr>
          <p:nvPr/>
        </p:nvSpPr>
        <p:spPr bwMode="auto">
          <a:xfrm>
            <a:off x="1115162" y="3497268"/>
            <a:ext cx="465992" cy="4238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18472" name="Rectangle 8"/>
          <p:cNvSpPr>
            <a:spLocks noChangeArrowheads="1"/>
          </p:cNvSpPr>
          <p:nvPr/>
        </p:nvSpPr>
        <p:spPr bwMode="auto">
          <a:xfrm>
            <a:off x="1115162" y="2625725"/>
            <a:ext cx="465992" cy="42386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18473" name="Rectangle 9"/>
          <p:cNvSpPr>
            <a:spLocks noChangeArrowheads="1"/>
          </p:cNvSpPr>
          <p:nvPr/>
        </p:nvSpPr>
        <p:spPr bwMode="auto">
          <a:xfrm>
            <a:off x="3308839" y="3497268"/>
            <a:ext cx="465992" cy="4238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18474" name="Text Box 10"/>
          <p:cNvSpPr txBox="1">
            <a:spLocks noChangeArrowheads="1"/>
          </p:cNvSpPr>
          <p:nvPr/>
        </p:nvSpPr>
        <p:spPr bwMode="auto">
          <a:xfrm>
            <a:off x="3490547" y="2182813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318475" name="Text Box 11"/>
          <p:cNvSpPr txBox="1">
            <a:spLocks noChangeArrowheads="1"/>
          </p:cNvSpPr>
          <p:nvPr/>
        </p:nvSpPr>
        <p:spPr bwMode="auto">
          <a:xfrm>
            <a:off x="3755781" y="2543176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318476" name="Text Box 12"/>
          <p:cNvSpPr txBox="1">
            <a:spLocks noChangeArrowheads="1"/>
          </p:cNvSpPr>
          <p:nvPr/>
        </p:nvSpPr>
        <p:spPr bwMode="auto">
          <a:xfrm>
            <a:off x="3821724" y="3406776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3423139" y="3840163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318478" name="Text Box 14"/>
          <p:cNvSpPr txBox="1">
            <a:spLocks noChangeArrowheads="1"/>
          </p:cNvSpPr>
          <p:nvPr/>
        </p:nvSpPr>
        <p:spPr bwMode="auto">
          <a:xfrm>
            <a:off x="1894747" y="2255838"/>
            <a:ext cx="8226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45-2x</a:t>
            </a:r>
          </a:p>
        </p:txBody>
      </p:sp>
      <p:sp>
        <p:nvSpPr>
          <p:cNvPr id="318479" name="Text Box 15"/>
          <p:cNvSpPr txBox="1">
            <a:spLocks noChangeArrowheads="1"/>
          </p:cNvSpPr>
          <p:nvPr/>
        </p:nvSpPr>
        <p:spPr bwMode="auto">
          <a:xfrm>
            <a:off x="383935" y="2990851"/>
            <a:ext cx="8226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24-2x</a:t>
            </a:r>
          </a:p>
        </p:txBody>
      </p:sp>
      <p:sp>
        <p:nvSpPr>
          <p:cNvPr id="318480" name="Text Box 16"/>
          <p:cNvSpPr txBox="1">
            <a:spLocks noChangeArrowheads="1"/>
          </p:cNvSpPr>
          <p:nvPr/>
        </p:nvSpPr>
        <p:spPr bwMode="auto">
          <a:xfrm>
            <a:off x="4552953" y="2312989"/>
            <a:ext cx="44502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 err="1"/>
              <a:t>Misal</a:t>
            </a:r>
            <a:r>
              <a:rPr lang="en-US" dirty="0"/>
              <a:t>,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potongan</a:t>
            </a:r>
            <a:r>
              <a:rPr lang="en-US" dirty="0"/>
              <a:t> di </a:t>
            </a:r>
            <a:r>
              <a:rPr lang="en-US" dirty="0" err="1"/>
              <a:t>pojok</a:t>
            </a:r>
            <a:r>
              <a:rPr lang="en-US" dirty="0"/>
              <a:t> </a:t>
            </a:r>
          </a:p>
          <a:p>
            <a:pPr algn="l"/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x, </a:t>
            </a:r>
            <a:r>
              <a:rPr lang="en-US" dirty="0" err="1"/>
              <a:t>sehingga</a:t>
            </a:r>
            <a:endParaRPr lang="en-US" dirty="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915870" y="4652963"/>
            <a:ext cx="2725615" cy="1655762"/>
            <a:chOff x="625" y="2795"/>
            <a:chExt cx="1860" cy="1043"/>
          </a:xfrm>
        </p:grpSpPr>
        <p:sp>
          <p:nvSpPr>
            <p:cNvPr id="34851" name="AutoShape 17"/>
            <p:cNvSpPr>
              <a:spLocks noChangeArrowheads="1"/>
            </p:cNvSpPr>
            <p:nvPr/>
          </p:nvSpPr>
          <p:spPr bwMode="auto">
            <a:xfrm>
              <a:off x="626" y="2795"/>
              <a:ext cx="1859" cy="1043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/>
            </a:p>
          </p:txBody>
        </p:sp>
        <p:sp>
          <p:nvSpPr>
            <p:cNvPr id="34852" name="Line 18"/>
            <p:cNvSpPr>
              <a:spLocks noChangeShapeType="1"/>
            </p:cNvSpPr>
            <p:nvPr/>
          </p:nvSpPr>
          <p:spPr bwMode="auto">
            <a:xfrm flipV="1">
              <a:off x="625" y="3566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Line 19"/>
            <p:cNvSpPr>
              <a:spLocks noChangeShapeType="1"/>
            </p:cNvSpPr>
            <p:nvPr/>
          </p:nvSpPr>
          <p:spPr bwMode="auto">
            <a:xfrm>
              <a:off x="897" y="2795"/>
              <a:ext cx="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Line 20"/>
            <p:cNvSpPr>
              <a:spLocks noChangeShapeType="1"/>
            </p:cNvSpPr>
            <p:nvPr/>
          </p:nvSpPr>
          <p:spPr bwMode="auto">
            <a:xfrm>
              <a:off x="897" y="3566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8485" name="AutoShape 21"/>
          <p:cNvSpPr>
            <a:spLocks noChangeArrowheads="1"/>
          </p:cNvSpPr>
          <p:nvPr/>
        </p:nvSpPr>
        <p:spPr bwMode="auto">
          <a:xfrm>
            <a:off x="2113089" y="4138612"/>
            <a:ext cx="448408" cy="43338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/>
            <a:endParaRPr lang="en-US"/>
          </a:p>
        </p:txBody>
      </p:sp>
      <p:sp>
        <p:nvSpPr>
          <p:cNvPr id="318487" name="Text Box 23"/>
          <p:cNvSpPr txBox="1">
            <a:spLocks noChangeArrowheads="1"/>
          </p:cNvSpPr>
          <p:nvPr/>
        </p:nvSpPr>
        <p:spPr bwMode="auto">
          <a:xfrm>
            <a:off x="1629512" y="6226176"/>
            <a:ext cx="8226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45-2x</a:t>
            </a:r>
          </a:p>
        </p:txBody>
      </p:sp>
      <p:sp>
        <p:nvSpPr>
          <p:cNvPr id="318488" name="Text Box 24"/>
          <p:cNvSpPr txBox="1">
            <a:spLocks noChangeArrowheads="1"/>
          </p:cNvSpPr>
          <p:nvPr/>
        </p:nvSpPr>
        <p:spPr bwMode="auto">
          <a:xfrm>
            <a:off x="3490552" y="5867401"/>
            <a:ext cx="8226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24-2x</a:t>
            </a:r>
          </a:p>
        </p:txBody>
      </p:sp>
      <p:sp>
        <p:nvSpPr>
          <p:cNvPr id="318489" name="Text Box 25"/>
          <p:cNvSpPr txBox="1">
            <a:spLocks noChangeArrowheads="1"/>
          </p:cNvSpPr>
          <p:nvPr/>
        </p:nvSpPr>
        <p:spPr bwMode="auto">
          <a:xfrm>
            <a:off x="3755781" y="4859339"/>
            <a:ext cx="311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318491" name="Text Box 27"/>
          <p:cNvSpPr txBox="1">
            <a:spLocks noChangeArrowheads="1"/>
          </p:cNvSpPr>
          <p:nvPr/>
        </p:nvSpPr>
        <p:spPr bwMode="auto">
          <a:xfrm>
            <a:off x="4620362" y="3130551"/>
            <a:ext cx="29594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V(x) = (45-2x) (24-2x) x</a:t>
            </a:r>
          </a:p>
        </p:txBody>
      </p:sp>
      <p:sp>
        <p:nvSpPr>
          <p:cNvPr id="34843" name="Text Box 28"/>
          <p:cNvSpPr txBox="1">
            <a:spLocks noChangeArrowheads="1"/>
          </p:cNvSpPr>
          <p:nvPr/>
        </p:nvSpPr>
        <p:spPr bwMode="auto">
          <a:xfrm>
            <a:off x="4752247" y="363537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sp>
        <p:nvSpPr>
          <p:cNvPr id="34844" name="Rectangle 30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8493" name="Object 29"/>
          <p:cNvGraphicFramePr>
            <a:graphicFrameLocks noChangeAspect="1"/>
          </p:cNvGraphicFramePr>
          <p:nvPr/>
        </p:nvGraphicFramePr>
        <p:xfrm>
          <a:off x="4668715" y="3551239"/>
          <a:ext cx="2961543" cy="414337"/>
        </p:xfrm>
        <a:graphic>
          <a:graphicData uri="http://schemas.openxmlformats.org/presentationml/2006/ole">
            <p:oleObj spid="_x0000_s35914" name="Equation" r:id="rId4" imgW="1739900" imgH="228600" progId="Equation.3">
              <p:embed/>
            </p:oleObj>
          </a:graphicData>
        </a:graphic>
      </p:graphicFrame>
      <p:sp>
        <p:nvSpPr>
          <p:cNvPr id="34845" name="Rectangle 33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8496" name="Object 32"/>
          <p:cNvGraphicFramePr>
            <a:graphicFrameLocks noChangeAspect="1"/>
          </p:cNvGraphicFramePr>
          <p:nvPr/>
        </p:nvGraphicFramePr>
        <p:xfrm>
          <a:off x="7628797" y="3616325"/>
          <a:ext cx="1063869" cy="317500"/>
        </p:xfrm>
        <a:graphic>
          <a:graphicData uri="http://schemas.openxmlformats.org/presentationml/2006/ole">
            <p:oleObj spid="_x0000_s35915" name="Equation" r:id="rId5" imgW="660113" imgH="177723" progId="Equation.3">
              <p:embed/>
            </p:oleObj>
          </a:graphicData>
        </a:graphic>
      </p:graphicFrame>
      <p:sp>
        <p:nvSpPr>
          <p:cNvPr id="34846" name="Rectangle 36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8499" name="Object 35"/>
          <p:cNvGraphicFramePr>
            <a:graphicFrameLocks noChangeAspect="1"/>
          </p:cNvGraphicFramePr>
          <p:nvPr/>
        </p:nvGraphicFramePr>
        <p:xfrm>
          <a:off x="4637943" y="4054475"/>
          <a:ext cx="2924908" cy="452438"/>
        </p:xfrm>
        <a:graphic>
          <a:graphicData uri="http://schemas.openxmlformats.org/presentationml/2006/ole">
            <p:oleObj spid="_x0000_s35916" name="Equation" r:id="rId6" imgW="1600200" imgH="228600" progId="Equation.3">
              <p:embed/>
            </p:oleObj>
          </a:graphicData>
        </a:graphic>
      </p:graphicFrame>
      <p:sp>
        <p:nvSpPr>
          <p:cNvPr id="34847" name="Text Box 37"/>
          <p:cNvSpPr txBox="1">
            <a:spLocks noChangeArrowheads="1"/>
          </p:cNvSpPr>
          <p:nvPr/>
        </p:nvSpPr>
        <p:spPr bwMode="auto">
          <a:xfrm>
            <a:off x="4686304" y="4570414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endParaRPr lang="en-US"/>
          </a:p>
        </p:txBody>
      </p:sp>
      <p:sp>
        <p:nvSpPr>
          <p:cNvPr id="34848" name="Rectangle 39"/>
          <p:cNvSpPr>
            <a:spLocks noChangeArrowheads="1"/>
          </p:cNvSpPr>
          <p:nvPr/>
        </p:nvSpPr>
        <p:spPr bwMode="auto">
          <a:xfrm>
            <a:off x="4479638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18502" name="Object 38"/>
          <p:cNvGraphicFramePr>
            <a:graphicFrameLocks noChangeAspect="1"/>
          </p:cNvGraphicFramePr>
          <p:nvPr/>
        </p:nvGraphicFramePr>
        <p:xfrm>
          <a:off x="5303227" y="4570413"/>
          <a:ext cx="2327031" cy="430212"/>
        </p:xfrm>
        <a:graphic>
          <a:graphicData uri="http://schemas.openxmlformats.org/presentationml/2006/ole">
            <p:oleObj spid="_x0000_s35917" name="Equation" r:id="rId7" imgW="1167893" imgH="203112" progId="Equation.3">
              <p:embed/>
            </p:oleObj>
          </a:graphicData>
        </a:graphic>
      </p:graphicFrame>
      <p:sp>
        <p:nvSpPr>
          <p:cNvPr id="318504" name="Text Box 40"/>
          <p:cNvSpPr txBox="1">
            <a:spLocks noChangeArrowheads="1"/>
          </p:cNvSpPr>
          <p:nvPr/>
        </p:nvSpPr>
        <p:spPr bwMode="auto">
          <a:xfrm>
            <a:off x="4637943" y="5075239"/>
            <a:ext cx="402680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Sehingga diperoleh titik stasioner </a:t>
            </a:r>
          </a:p>
          <a:p>
            <a:pPr algn="l"/>
            <a:r>
              <a:rPr lang="en-US"/>
              <a:t>x = 18 dan x = 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44408" y="0"/>
            <a:ext cx="899592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9506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18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18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18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3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2000"/>
                                        <p:tgtEl>
                                          <p:spTgt spid="3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3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3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31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3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31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31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2000"/>
                                        <p:tgtEl>
                                          <p:spTgt spid="3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31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7" dur="2000"/>
                                        <p:tgtEl>
                                          <p:spTgt spid="318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0" dur="2000"/>
                                        <p:tgtEl>
                                          <p:spTgt spid="318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animBg="1"/>
      <p:bldP spid="318470" grpId="0" animBg="1"/>
      <p:bldP spid="318471" grpId="0" animBg="1"/>
      <p:bldP spid="318472" grpId="0" animBg="1"/>
      <p:bldP spid="318473" grpId="0" animBg="1"/>
      <p:bldP spid="318474" grpId="0"/>
      <p:bldP spid="318475" grpId="0"/>
      <p:bldP spid="318476" grpId="0"/>
      <p:bldP spid="318477" grpId="0"/>
      <p:bldP spid="318478" grpId="0"/>
      <p:bldP spid="318479" grpId="0"/>
      <p:bldP spid="318480" grpId="0"/>
      <p:bldP spid="318485" grpId="0" animBg="1"/>
      <p:bldP spid="318487" grpId="0"/>
      <p:bldP spid="318488" grpId="0"/>
      <p:bldP spid="318489" grpId="0"/>
      <p:bldP spid="31849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nip Diagonal Corner Rectangle 2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nip Diagonal Corner Rectangle 2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58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C0E3D5A6-0439-436F-A828-3A0C37BDF25B}" type="slidenum">
              <a:rPr lang="en-US" sz="1200" smtClean="0">
                <a:latin typeface="Arial Black" pitchFamily="34" charset="0"/>
              </a:rPr>
              <a:pPr algn="r" eaLnBrk="1" hangingPunct="1"/>
              <a:t>43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5847" name="Rectangle 5"/>
          <p:cNvSpPr>
            <a:spLocks noChangeArrowheads="1"/>
          </p:cNvSpPr>
          <p:nvPr/>
        </p:nvSpPr>
        <p:spPr bwMode="auto">
          <a:xfrm>
            <a:off x="4479638" y="34594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0516" name="Object 4"/>
          <p:cNvGraphicFramePr>
            <a:graphicFrameLocks noChangeAspect="1"/>
          </p:cNvGraphicFramePr>
          <p:nvPr/>
        </p:nvGraphicFramePr>
        <p:xfrm>
          <a:off x="983278" y="1048594"/>
          <a:ext cx="2392973" cy="439738"/>
        </p:xfrm>
        <a:graphic>
          <a:graphicData uri="http://schemas.openxmlformats.org/presentationml/2006/ole">
            <p:oleObj spid="_x0000_s36920" name="Equation" r:id="rId4" imgW="1180588" imgH="203112" progId="Equation.3">
              <p:embed/>
            </p:oleObj>
          </a:graphicData>
        </a:graphic>
      </p:graphicFrame>
      <p:sp>
        <p:nvSpPr>
          <p:cNvPr id="320518" name="Text Box 6"/>
          <p:cNvSpPr txBox="1">
            <a:spLocks noChangeArrowheads="1"/>
          </p:cNvSpPr>
          <p:nvPr/>
        </p:nvSpPr>
        <p:spPr bwMode="auto">
          <a:xfrm>
            <a:off x="764931" y="1451827"/>
            <a:ext cx="15301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Sehingga </a:t>
            </a:r>
          </a:p>
        </p:txBody>
      </p:sp>
      <p:sp>
        <p:nvSpPr>
          <p:cNvPr id="35849" name="Rectangle 8"/>
          <p:cNvSpPr>
            <a:spLocks noChangeArrowheads="1"/>
          </p:cNvSpPr>
          <p:nvPr/>
        </p:nvSpPr>
        <p:spPr bwMode="auto">
          <a:xfrm>
            <a:off x="4479638" y="34594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0519" name="Object 7"/>
          <p:cNvGraphicFramePr>
            <a:graphicFrameLocks noChangeAspect="1"/>
          </p:cNvGraphicFramePr>
          <p:nvPr/>
        </p:nvGraphicFramePr>
        <p:xfrm>
          <a:off x="1329109" y="1891557"/>
          <a:ext cx="2246434" cy="450850"/>
        </p:xfrm>
        <a:graphic>
          <a:graphicData uri="http://schemas.openxmlformats.org/presentationml/2006/ole">
            <p:oleObj spid="_x0000_s36921" name="Equation" r:id="rId5" imgW="1079032" imgH="203112" progId="Equation.3">
              <p:embed/>
            </p:oleObj>
          </a:graphicData>
        </a:graphic>
      </p:graphicFrame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479638" y="34594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0521" name="Object 9"/>
          <p:cNvGraphicFramePr>
            <a:graphicFrameLocks noChangeAspect="1"/>
          </p:cNvGraphicFramePr>
          <p:nvPr/>
        </p:nvGraphicFramePr>
        <p:xfrm>
          <a:off x="1314451" y="2524969"/>
          <a:ext cx="2193680" cy="427038"/>
        </p:xfrm>
        <a:graphic>
          <a:graphicData uri="http://schemas.openxmlformats.org/presentationml/2006/ole">
            <p:oleObj spid="_x0000_s36922" name="Equation" r:id="rId6" imgW="1117115" imgH="203112" progId="Equation.3">
              <p:embed/>
            </p:oleObj>
          </a:graphicData>
        </a:graphic>
      </p:graphicFrame>
      <p:sp>
        <p:nvSpPr>
          <p:cNvPr id="320523" name="Line 11"/>
          <p:cNvSpPr>
            <a:spLocks noChangeShapeType="1"/>
          </p:cNvSpPr>
          <p:nvPr/>
        </p:nvSpPr>
        <p:spPr bwMode="auto">
          <a:xfrm>
            <a:off x="3707427" y="2128094"/>
            <a:ext cx="3985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524" name="Text Box 12"/>
          <p:cNvSpPr txBox="1">
            <a:spLocks noChangeArrowheads="1"/>
          </p:cNvSpPr>
          <p:nvPr/>
        </p:nvSpPr>
        <p:spPr bwMode="auto">
          <a:xfrm>
            <a:off x="4221774" y="1883619"/>
            <a:ext cx="36070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di x =18 terjadi min lokal</a:t>
            </a:r>
          </a:p>
        </p:txBody>
      </p:sp>
      <p:sp>
        <p:nvSpPr>
          <p:cNvPr id="35853" name="Rectangle 14"/>
          <p:cNvSpPr>
            <a:spLocks noChangeArrowheads="1"/>
          </p:cNvSpPr>
          <p:nvPr/>
        </p:nvSpPr>
        <p:spPr bwMode="auto">
          <a:xfrm>
            <a:off x="4479638" y="34594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320527" name="Line 15"/>
          <p:cNvSpPr>
            <a:spLocks noChangeShapeType="1"/>
          </p:cNvSpPr>
          <p:nvPr/>
        </p:nvSpPr>
        <p:spPr bwMode="auto">
          <a:xfrm>
            <a:off x="3575538" y="2736107"/>
            <a:ext cx="3985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528" name="Text Box 16"/>
          <p:cNvSpPr txBox="1">
            <a:spLocks noChangeArrowheads="1"/>
          </p:cNvSpPr>
          <p:nvPr/>
        </p:nvSpPr>
        <p:spPr bwMode="auto">
          <a:xfrm>
            <a:off x="4221773" y="2467827"/>
            <a:ext cx="3746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/>
              <a:t>di x = 5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maks</a:t>
            </a:r>
            <a:r>
              <a:rPr lang="en-US" sz="2400" dirty="0"/>
              <a:t> </a:t>
            </a:r>
            <a:r>
              <a:rPr lang="en-US" sz="2400" dirty="0" err="1"/>
              <a:t>lokal</a:t>
            </a:r>
            <a:endParaRPr lang="en-US" sz="2400" dirty="0"/>
          </a:p>
        </p:txBody>
      </p:sp>
      <p:sp>
        <p:nvSpPr>
          <p:cNvPr id="320529" name="Text Box 17"/>
          <p:cNvSpPr txBox="1">
            <a:spLocks noChangeArrowheads="1"/>
          </p:cNvSpPr>
          <p:nvPr/>
        </p:nvSpPr>
        <p:spPr bwMode="auto">
          <a:xfrm>
            <a:off x="783981" y="2993291"/>
            <a:ext cx="77214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Untuk menentukan volume maksimum bandingkan nilai</a:t>
            </a:r>
          </a:p>
          <a:p>
            <a:pPr algn="l"/>
            <a:r>
              <a:rPr lang="en-US" sz="2400"/>
              <a:t>Volume jika x = 5 dan x = 0, x = 12 (batas Df)</a:t>
            </a:r>
          </a:p>
        </p:txBody>
      </p:sp>
      <p:sp>
        <p:nvSpPr>
          <p:cNvPr id="320530" name="Text Box 18"/>
          <p:cNvSpPr txBox="1">
            <a:spLocks noChangeArrowheads="1"/>
          </p:cNvSpPr>
          <p:nvPr/>
        </p:nvSpPr>
        <p:spPr bwMode="auto">
          <a:xfrm>
            <a:off x="1362808" y="3828309"/>
            <a:ext cx="13596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V(0) = 0</a:t>
            </a:r>
          </a:p>
        </p:txBody>
      </p:sp>
      <p:sp>
        <p:nvSpPr>
          <p:cNvPr id="320531" name="Text Box 19"/>
          <p:cNvSpPr txBox="1">
            <a:spLocks noChangeArrowheads="1"/>
          </p:cNvSpPr>
          <p:nvPr/>
        </p:nvSpPr>
        <p:spPr bwMode="auto">
          <a:xfrm>
            <a:off x="1378929" y="4268044"/>
            <a:ext cx="1431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V(12)= 0</a:t>
            </a:r>
          </a:p>
        </p:txBody>
      </p:sp>
      <p:sp>
        <p:nvSpPr>
          <p:cNvPr id="320532" name="Text Box 20"/>
          <p:cNvSpPr txBox="1">
            <a:spLocks noChangeArrowheads="1"/>
          </p:cNvSpPr>
          <p:nvPr/>
        </p:nvSpPr>
        <p:spPr bwMode="auto">
          <a:xfrm>
            <a:off x="1352555" y="4799865"/>
            <a:ext cx="1864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V(5) =2450 </a:t>
            </a:r>
          </a:p>
        </p:txBody>
      </p:sp>
      <p:sp>
        <p:nvSpPr>
          <p:cNvPr id="320533" name="Text Box 21"/>
          <p:cNvSpPr txBox="1">
            <a:spLocks noChangeArrowheads="1"/>
          </p:cNvSpPr>
          <p:nvPr/>
        </p:nvSpPr>
        <p:spPr bwMode="auto">
          <a:xfrm>
            <a:off x="848458" y="5341203"/>
            <a:ext cx="72841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Agar volume kotak maksimum maka ukuran kotak : </a:t>
            </a:r>
          </a:p>
          <a:p>
            <a:pPr algn="l"/>
            <a:r>
              <a:rPr lang="en-US" sz="2400"/>
              <a:t>panjang 35 cm lebar 14 cm  tinggi 5 cm</a:t>
            </a:r>
          </a:p>
        </p:txBody>
      </p:sp>
    </p:spTree>
    <p:extLst>
      <p:ext uri="{BB962C8B-B14F-4D97-AF65-F5344CB8AC3E}">
        <p14:creationId xmlns:p14="http://schemas.microsoft.com/office/powerpoint/2010/main" xmlns="" val="103087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3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32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3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2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8" grpId="0"/>
      <p:bldP spid="320523" grpId="0" animBg="1"/>
      <p:bldP spid="320524" grpId="0"/>
      <p:bldP spid="320524" grpId="1"/>
      <p:bldP spid="320527" grpId="0" animBg="1"/>
      <p:bldP spid="320528" grpId="0"/>
      <p:bldP spid="320529" grpId="0"/>
      <p:bldP spid="320530" grpId="0"/>
      <p:bldP spid="320531" grpId="0"/>
      <p:bldP spid="320532" grpId="0"/>
      <p:bldP spid="32053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nip Diagonal Corner Rectangle 2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nip Diagonal Corner Rectangle 2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686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D8B1C129-4576-46EC-AD99-12C596F5CCCD}" type="slidenum">
              <a:rPr lang="en-US" sz="1200" smtClean="0">
                <a:latin typeface="Arial Black" pitchFamily="34" charset="0"/>
              </a:rPr>
              <a:pPr algn="r" eaLnBrk="1" hangingPunct="1"/>
              <a:t>44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730770" y="921603"/>
            <a:ext cx="7467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yang </a:t>
            </a:r>
            <a:r>
              <a:rPr lang="en-US" sz="2400" dirty="0" err="1"/>
              <a:t>dihadapi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dimodelkan</a:t>
            </a:r>
            <a:endParaRPr lang="en-US" sz="2400" dirty="0"/>
          </a:p>
          <a:p>
            <a:pPr algn="l"/>
            <a:r>
              <a:rPr lang="en-US" sz="2400" dirty="0" err="1"/>
              <a:t>kedalam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implisit</a:t>
            </a:r>
            <a:r>
              <a:rPr lang="en-US" sz="2400" dirty="0"/>
              <a:t>,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endParaRPr lang="en-US" sz="2400" dirty="0"/>
          </a:p>
        </p:txBody>
      </p:sp>
      <p:sp>
        <p:nvSpPr>
          <p:cNvPr id="321541" name="Text Box 5"/>
          <p:cNvSpPr txBox="1">
            <a:spLocks noChangeArrowheads="1"/>
          </p:cNvSpPr>
          <p:nvPr/>
        </p:nvSpPr>
        <p:spPr bwMode="auto">
          <a:xfrm>
            <a:off x="735623" y="1663700"/>
            <a:ext cx="10695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Contoh </a:t>
            </a:r>
          </a:p>
        </p:txBody>
      </p:sp>
      <p:sp>
        <p:nvSpPr>
          <p:cNvPr id="321542" name="Text Box 6"/>
          <p:cNvSpPr txBox="1">
            <a:spLocks noChangeArrowheads="1"/>
          </p:cNvSpPr>
          <p:nvPr/>
        </p:nvSpPr>
        <p:spPr bwMode="auto">
          <a:xfrm>
            <a:off x="830874" y="2193934"/>
            <a:ext cx="780547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Sebuah roket yang diluncurkan vertikal diamati dari menara kontrol</a:t>
            </a:r>
          </a:p>
          <a:p>
            <a:pPr algn="l"/>
            <a:r>
              <a:rPr lang="en-US"/>
              <a:t>yang berjarak 3 km dari tempat peluncuran. Tentukan kecepatan </a:t>
            </a:r>
          </a:p>
          <a:p>
            <a:pPr algn="l"/>
            <a:r>
              <a:rPr lang="en-US"/>
              <a:t>vertikal roket pada saat jaraknya dari menara kontrol 5 km dan</a:t>
            </a:r>
          </a:p>
          <a:p>
            <a:pPr algn="l"/>
            <a:r>
              <a:rPr lang="en-US"/>
              <a:t>dan jarak ini bertambah dengan kecepatan 5000 km/jam</a:t>
            </a:r>
          </a:p>
        </p:txBody>
      </p:sp>
      <p:sp>
        <p:nvSpPr>
          <p:cNvPr id="321543" name="AutoShape 7"/>
          <p:cNvSpPr>
            <a:spLocks noChangeArrowheads="1"/>
          </p:cNvSpPr>
          <p:nvPr/>
        </p:nvSpPr>
        <p:spPr bwMode="auto">
          <a:xfrm>
            <a:off x="1248508" y="5522921"/>
            <a:ext cx="133350" cy="36036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21544" name="Text Box 8"/>
          <p:cNvSpPr txBox="1">
            <a:spLocks noChangeArrowheads="1"/>
          </p:cNvSpPr>
          <p:nvPr/>
        </p:nvSpPr>
        <p:spPr bwMode="auto">
          <a:xfrm>
            <a:off x="942247" y="5849938"/>
            <a:ext cx="101707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Menara</a:t>
            </a:r>
          </a:p>
          <a:p>
            <a:pPr algn="l"/>
            <a:r>
              <a:rPr lang="en-US"/>
              <a:t>kontrol</a:t>
            </a:r>
          </a:p>
        </p:txBody>
      </p:sp>
      <p:sp>
        <p:nvSpPr>
          <p:cNvPr id="321545" name="Line 9"/>
          <p:cNvSpPr>
            <a:spLocks noChangeShapeType="1"/>
          </p:cNvSpPr>
          <p:nvPr/>
        </p:nvSpPr>
        <p:spPr bwMode="auto">
          <a:xfrm>
            <a:off x="1447805" y="5738812"/>
            <a:ext cx="2259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1546" name="Text Box 10"/>
          <p:cNvSpPr txBox="1">
            <a:spLocks noChangeArrowheads="1"/>
          </p:cNvSpPr>
          <p:nvPr/>
        </p:nvSpPr>
        <p:spPr bwMode="auto">
          <a:xfrm>
            <a:off x="2293325" y="5729288"/>
            <a:ext cx="7473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3 km</a:t>
            </a:r>
          </a:p>
        </p:txBody>
      </p:sp>
      <p:sp>
        <p:nvSpPr>
          <p:cNvPr id="321550" name="Rectangle 14"/>
          <p:cNvSpPr>
            <a:spLocks noChangeArrowheads="1"/>
          </p:cNvSpPr>
          <p:nvPr/>
        </p:nvSpPr>
        <p:spPr bwMode="auto">
          <a:xfrm>
            <a:off x="3494947" y="3795712"/>
            <a:ext cx="13188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21551" name="AutoShape 15"/>
          <p:cNvSpPr>
            <a:spLocks noChangeArrowheads="1"/>
          </p:cNvSpPr>
          <p:nvPr/>
        </p:nvSpPr>
        <p:spPr bwMode="auto">
          <a:xfrm>
            <a:off x="3486150" y="3657600"/>
            <a:ext cx="133350" cy="1444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21553" name="AutoShape 17"/>
          <p:cNvSpPr>
            <a:spLocks noChangeArrowheads="1"/>
          </p:cNvSpPr>
          <p:nvPr/>
        </p:nvSpPr>
        <p:spPr bwMode="auto">
          <a:xfrm>
            <a:off x="3635619" y="3867159"/>
            <a:ext cx="133350" cy="503237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21556" name="AutoShape 20"/>
          <p:cNvSpPr>
            <a:spLocks noChangeArrowheads="1"/>
          </p:cNvSpPr>
          <p:nvPr/>
        </p:nvSpPr>
        <p:spPr bwMode="auto">
          <a:xfrm flipH="1">
            <a:off x="3376250" y="3859221"/>
            <a:ext cx="117231" cy="511175"/>
          </a:xfrm>
          <a:prstGeom prst="rtTriangl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321557" name="Text Box 21"/>
          <p:cNvSpPr txBox="1">
            <a:spLocks noChangeArrowheads="1"/>
          </p:cNvSpPr>
          <p:nvPr/>
        </p:nvSpPr>
        <p:spPr bwMode="auto">
          <a:xfrm>
            <a:off x="4637947" y="3778250"/>
            <a:ext cx="398877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Misal ketinggian roket y dan jarak dari menara z</a:t>
            </a:r>
          </a:p>
        </p:txBody>
      </p:sp>
      <p:sp>
        <p:nvSpPr>
          <p:cNvPr id="321558" name="Line 22"/>
          <p:cNvSpPr>
            <a:spLocks noChangeShapeType="1"/>
          </p:cNvSpPr>
          <p:nvPr/>
        </p:nvSpPr>
        <p:spPr bwMode="auto">
          <a:xfrm>
            <a:off x="3575538" y="4443421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1559" name="Line 23"/>
          <p:cNvSpPr>
            <a:spLocks noChangeShapeType="1"/>
          </p:cNvSpPr>
          <p:nvPr/>
        </p:nvSpPr>
        <p:spPr bwMode="auto">
          <a:xfrm flipV="1">
            <a:off x="1447804" y="4298950"/>
            <a:ext cx="1795097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1560" name="Text Box 24"/>
          <p:cNvSpPr txBox="1">
            <a:spLocks noChangeArrowheads="1"/>
          </p:cNvSpPr>
          <p:nvPr/>
        </p:nvSpPr>
        <p:spPr bwMode="auto">
          <a:xfrm>
            <a:off x="3550974" y="4792663"/>
            <a:ext cx="3129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y</a:t>
            </a:r>
          </a:p>
        </p:txBody>
      </p:sp>
      <p:sp>
        <p:nvSpPr>
          <p:cNvPr id="321561" name="Text Box 25"/>
          <p:cNvSpPr txBox="1">
            <a:spLocks noChangeArrowheads="1"/>
          </p:cNvSpPr>
          <p:nvPr/>
        </p:nvSpPr>
        <p:spPr bwMode="auto">
          <a:xfrm>
            <a:off x="1964578" y="4576763"/>
            <a:ext cx="298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z</a:t>
            </a:r>
          </a:p>
        </p:txBody>
      </p:sp>
      <p:sp>
        <p:nvSpPr>
          <p:cNvPr id="321562" name="Text Box 26"/>
          <p:cNvSpPr txBox="1">
            <a:spLocks noChangeArrowheads="1"/>
          </p:cNvSpPr>
          <p:nvPr/>
        </p:nvSpPr>
        <p:spPr bwMode="auto">
          <a:xfrm>
            <a:off x="4635420" y="4643439"/>
            <a:ext cx="1325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Diketahui </a:t>
            </a:r>
          </a:p>
        </p:txBody>
      </p:sp>
      <p:sp>
        <p:nvSpPr>
          <p:cNvPr id="36886" name="Rectangle 28"/>
          <p:cNvSpPr>
            <a:spLocks noChangeArrowheads="1"/>
          </p:cNvSpPr>
          <p:nvPr/>
        </p:nvSpPr>
        <p:spPr bwMode="auto">
          <a:xfrm>
            <a:off x="4479638" y="3049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1563" name="Object 27"/>
          <p:cNvGraphicFramePr>
            <a:graphicFrameLocks noChangeAspect="1"/>
          </p:cNvGraphicFramePr>
          <p:nvPr/>
        </p:nvGraphicFramePr>
        <p:xfrm>
          <a:off x="4977912" y="5157788"/>
          <a:ext cx="1189892" cy="736600"/>
        </p:xfrm>
        <a:graphic>
          <a:graphicData uri="http://schemas.openxmlformats.org/presentationml/2006/ole">
            <p:oleObj spid="_x0000_s37908" name="Equation" r:id="rId4" imgW="672808" imgH="393529" progId="Equation.3">
              <p:embed/>
            </p:oleObj>
          </a:graphicData>
        </a:graphic>
      </p:graphicFrame>
      <p:sp>
        <p:nvSpPr>
          <p:cNvPr id="321565" name="Text Box 29"/>
          <p:cNvSpPr txBox="1">
            <a:spLocks noChangeArrowheads="1"/>
          </p:cNvSpPr>
          <p:nvPr/>
        </p:nvSpPr>
        <p:spPr bwMode="auto">
          <a:xfrm>
            <a:off x="6231520" y="5291139"/>
            <a:ext cx="1362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Saat z = 5</a:t>
            </a:r>
          </a:p>
        </p:txBody>
      </p:sp>
      <p:sp>
        <p:nvSpPr>
          <p:cNvPr id="2" name="Rectangle 1"/>
          <p:cNvSpPr/>
          <p:nvPr/>
        </p:nvSpPr>
        <p:spPr>
          <a:xfrm>
            <a:off x="8232044" y="0"/>
            <a:ext cx="911956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886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2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2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3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2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3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3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3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32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0" grpId="0"/>
      <p:bldP spid="321541" grpId="0"/>
      <p:bldP spid="321542" grpId="0"/>
      <p:bldP spid="321543" grpId="0" animBg="1"/>
      <p:bldP spid="321544" grpId="0"/>
      <p:bldP spid="321545" grpId="0" animBg="1"/>
      <p:bldP spid="321546" grpId="0"/>
      <p:bldP spid="321550" grpId="0" animBg="1"/>
      <p:bldP spid="321551" grpId="0" animBg="1"/>
      <p:bldP spid="321553" grpId="0" animBg="1"/>
      <p:bldP spid="321556" grpId="0" animBg="1"/>
      <p:bldP spid="321557" grpId="0"/>
      <p:bldP spid="321558" grpId="0" animBg="1"/>
      <p:bldP spid="321559" grpId="0" animBg="1"/>
      <p:bldP spid="321560" grpId="0"/>
      <p:bldP spid="321561" grpId="0"/>
      <p:bldP spid="321562" grpId="0"/>
      <p:bldP spid="3215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nip Diagonal Corner Rectangle 1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nip Diagonal Corner Rectangle 1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789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0A07C38B-7533-4AE1-973C-B8B041949BD9}" type="slidenum">
              <a:rPr lang="en-US" sz="1200" smtClean="0">
                <a:latin typeface="Arial Black" pitchFamily="34" charset="0"/>
              </a:rPr>
              <a:pPr algn="r" eaLnBrk="1" hangingPunct="1"/>
              <a:t>45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508490" y="1131804"/>
            <a:ext cx="66733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400"/>
              <a:t>Dengan menggunakan dalil pythgoras diperoleh</a:t>
            </a:r>
          </a:p>
        </p:txBody>
      </p:sp>
      <p:sp>
        <p:nvSpPr>
          <p:cNvPr id="37897" name="Rectangle 6"/>
          <p:cNvSpPr>
            <a:spLocks noChangeArrowheads="1"/>
          </p:cNvSpPr>
          <p:nvPr/>
        </p:nvSpPr>
        <p:spPr bwMode="auto">
          <a:xfrm>
            <a:off x="4479638" y="349666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3589" name="Object 5"/>
          <p:cNvGraphicFramePr>
            <a:graphicFrameLocks noChangeAspect="1"/>
          </p:cNvGraphicFramePr>
          <p:nvPr/>
        </p:nvGraphicFramePr>
        <p:xfrm>
          <a:off x="1714500" y="1665203"/>
          <a:ext cx="1594338" cy="546100"/>
        </p:xfrm>
        <a:graphic>
          <a:graphicData uri="http://schemas.openxmlformats.org/presentationml/2006/ole">
            <p:oleObj spid="_x0000_s38986" name="Equation" r:id="rId4" imgW="723586" imgH="228501" progId="Equation.3">
              <p:embed/>
            </p:oleObj>
          </a:graphicData>
        </a:graphic>
      </p:graphicFrame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543273" y="2156046"/>
            <a:ext cx="35519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z = 5 </a:t>
            </a:r>
            <a:r>
              <a:rPr lang="en-US" sz="2400" dirty="0">
                <a:sym typeface="Wingdings" pitchFamily="2" charset="2"/>
              </a:rPr>
              <a:t> y = 4</a:t>
            </a:r>
            <a:endParaRPr lang="en-US" sz="2400" dirty="0"/>
          </a:p>
        </p:txBody>
      </p:sp>
      <p:sp>
        <p:nvSpPr>
          <p:cNvPr id="323592" name="Text Box 8"/>
          <p:cNvSpPr txBox="1">
            <a:spLocks noChangeArrowheads="1"/>
          </p:cNvSpPr>
          <p:nvPr/>
        </p:nvSpPr>
        <p:spPr bwMode="auto">
          <a:xfrm>
            <a:off x="593445" y="2617711"/>
            <a:ext cx="7957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/>
              <a:t>Dengan menggunakan turunan fungsi implisit didapatkan</a:t>
            </a:r>
          </a:p>
        </p:txBody>
      </p:sp>
      <p:sp>
        <p:nvSpPr>
          <p:cNvPr id="37900" name="Rectangle 10"/>
          <p:cNvSpPr>
            <a:spLocks noChangeArrowheads="1"/>
          </p:cNvSpPr>
          <p:nvPr/>
        </p:nvSpPr>
        <p:spPr bwMode="auto">
          <a:xfrm>
            <a:off x="4479638" y="34157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35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42879077"/>
              </p:ext>
            </p:extLst>
          </p:nvPr>
        </p:nvGraphicFramePr>
        <p:xfrm>
          <a:off x="1675774" y="3170153"/>
          <a:ext cx="1861038" cy="860425"/>
        </p:xfrm>
        <a:graphic>
          <a:graphicData uri="http://schemas.openxmlformats.org/presentationml/2006/ole">
            <p:oleObj spid="_x0000_s38987" name="Equation" r:id="rId5" imgW="914400" imgH="393700" progId="Equation.3">
              <p:embed/>
            </p:oleObj>
          </a:graphicData>
        </a:graphic>
      </p:graphicFrame>
      <p:sp>
        <p:nvSpPr>
          <p:cNvPr id="323595" name="Text Box 11"/>
          <p:cNvSpPr txBox="1">
            <a:spLocks noChangeArrowheads="1"/>
          </p:cNvSpPr>
          <p:nvPr/>
        </p:nvSpPr>
        <p:spPr bwMode="auto">
          <a:xfrm>
            <a:off x="648940" y="4108307"/>
            <a:ext cx="3923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Jika</a:t>
            </a:r>
            <a:r>
              <a:rPr lang="en-US" sz="2400" dirty="0"/>
              <a:t> data y = 4, z = 5,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</a:p>
        </p:txBody>
      </p:sp>
      <p:graphicFrame>
        <p:nvGraphicFramePr>
          <p:cNvPr id="323596" name="Object 12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xmlns="" val="2818532116"/>
              </p:ext>
            </p:extLst>
          </p:nvPr>
        </p:nvGraphicFramePr>
        <p:xfrm>
          <a:off x="4355976" y="3973220"/>
          <a:ext cx="1153257" cy="731837"/>
        </p:xfrm>
        <a:graphic>
          <a:graphicData uri="http://schemas.openxmlformats.org/presentationml/2006/ole">
            <p:oleObj spid="_x0000_s38988" name="Equation" r:id="rId6" imgW="672808" imgH="393529" progId="Equation.3">
              <p:embed/>
            </p:oleObj>
          </a:graphicData>
        </a:graphic>
      </p:graphicFrame>
      <p:sp>
        <p:nvSpPr>
          <p:cNvPr id="323598" name="Text Box 14"/>
          <p:cNvSpPr txBox="1">
            <a:spLocks noChangeArrowheads="1"/>
          </p:cNvSpPr>
          <p:nvPr/>
        </p:nvSpPr>
        <p:spPr bwMode="auto">
          <a:xfrm>
            <a:off x="5724128" y="4082905"/>
            <a:ext cx="3630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disubstitusikan</a:t>
            </a:r>
            <a:r>
              <a:rPr lang="en-US" sz="2400" dirty="0"/>
              <a:t>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</a:p>
        </p:txBody>
      </p:sp>
      <p:sp>
        <p:nvSpPr>
          <p:cNvPr id="37903" name="Rectangle 16"/>
          <p:cNvSpPr>
            <a:spLocks noChangeArrowheads="1"/>
          </p:cNvSpPr>
          <p:nvPr/>
        </p:nvSpPr>
        <p:spPr bwMode="auto">
          <a:xfrm>
            <a:off x="4479638" y="34157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235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87673990"/>
              </p:ext>
            </p:extLst>
          </p:nvPr>
        </p:nvGraphicFramePr>
        <p:xfrm>
          <a:off x="4460135" y="4921250"/>
          <a:ext cx="2261089" cy="717550"/>
        </p:xfrm>
        <a:graphic>
          <a:graphicData uri="http://schemas.openxmlformats.org/presentationml/2006/ole">
            <p:oleObj spid="_x0000_s38989" name="Equation" r:id="rId7" imgW="1333500" imgH="393700" progId="Equation.3">
              <p:embed/>
            </p:oleObj>
          </a:graphicData>
        </a:graphic>
      </p:graphicFrame>
      <p:sp>
        <p:nvSpPr>
          <p:cNvPr id="323601" name="Text Box 17"/>
          <p:cNvSpPr txBox="1">
            <a:spLocks noChangeArrowheads="1"/>
          </p:cNvSpPr>
          <p:nvPr/>
        </p:nvSpPr>
        <p:spPr bwMode="auto">
          <a:xfrm>
            <a:off x="720754" y="5049193"/>
            <a:ext cx="3779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sz="2400" dirty="0" err="1"/>
              <a:t>Kecepatan</a:t>
            </a:r>
            <a:r>
              <a:rPr lang="en-US" sz="2400" dirty="0"/>
              <a:t> </a:t>
            </a:r>
            <a:r>
              <a:rPr lang="en-US" sz="2400" dirty="0" err="1"/>
              <a:t>vertikal</a:t>
            </a:r>
            <a:r>
              <a:rPr lang="en-US" sz="2400" dirty="0"/>
              <a:t> </a:t>
            </a:r>
            <a:r>
              <a:rPr lang="en-US" sz="2400" dirty="0" err="1"/>
              <a:t>roket</a:t>
            </a:r>
            <a:r>
              <a:rPr lang="en-US" sz="2400" dirty="0"/>
              <a:t> =</a:t>
            </a:r>
          </a:p>
        </p:txBody>
      </p:sp>
      <p:sp>
        <p:nvSpPr>
          <p:cNvPr id="323602" name="Text Box 18"/>
          <p:cNvSpPr txBox="1">
            <a:spLocks noChangeArrowheads="1"/>
          </p:cNvSpPr>
          <p:nvPr/>
        </p:nvSpPr>
        <p:spPr bwMode="auto">
          <a:xfrm>
            <a:off x="6660232" y="5049193"/>
            <a:ext cx="12202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400"/>
              <a:t>km/jam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2044" y="0"/>
            <a:ext cx="911956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484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3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3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3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8" grpId="0"/>
      <p:bldP spid="323591" grpId="0"/>
      <p:bldP spid="323592" grpId="0"/>
      <p:bldP spid="323595" grpId="0"/>
      <p:bldP spid="323598" grpId="0"/>
      <p:bldP spid="323601" grpId="0"/>
      <p:bldP spid="32360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nip Diagonal Corner Rectangle 1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389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A7AA7E3D-2A4D-467C-8AA6-10CC394B273F}" type="slidenum">
              <a:rPr lang="en-US" sz="1200" smtClean="0">
                <a:latin typeface="Arial Black" pitchFamily="34" charset="0"/>
              </a:rPr>
              <a:pPr algn="r" eaLnBrk="1" hangingPunct="1"/>
              <a:t>46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38918" name="Text Box 4"/>
          <p:cNvSpPr txBox="1">
            <a:spLocks noChangeArrowheads="1"/>
          </p:cNvSpPr>
          <p:nvPr/>
        </p:nvSpPr>
        <p:spPr bwMode="auto">
          <a:xfrm>
            <a:off x="890909" y="1000264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/>
          </a:p>
        </p:txBody>
      </p:sp>
      <p:sp>
        <p:nvSpPr>
          <p:cNvPr id="333829" name="Text Box 5"/>
          <p:cNvSpPr txBox="1">
            <a:spLocks noChangeArrowheads="1"/>
          </p:cNvSpPr>
          <p:nvPr/>
        </p:nvSpPr>
        <p:spPr bwMode="auto">
          <a:xfrm>
            <a:off x="650635" y="974863"/>
            <a:ext cx="17764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b="1" dirty="0" err="1"/>
              <a:t>Soal</a:t>
            </a:r>
            <a:r>
              <a:rPr lang="en-US" b="1" dirty="0"/>
              <a:t> </a:t>
            </a:r>
            <a:r>
              <a:rPr lang="en-US" b="1" dirty="0" err="1"/>
              <a:t>Latihan</a:t>
            </a:r>
            <a:endParaRPr lang="en-US" b="1" dirty="0"/>
          </a:p>
        </p:txBody>
      </p:sp>
      <p:sp>
        <p:nvSpPr>
          <p:cNvPr id="333830" name="Text Box 6"/>
          <p:cNvSpPr txBox="1">
            <a:spLocks noChangeArrowheads="1"/>
          </p:cNvSpPr>
          <p:nvPr/>
        </p:nvSpPr>
        <p:spPr bwMode="auto">
          <a:xfrm>
            <a:off x="764935" y="1505089"/>
            <a:ext cx="691997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1.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yang </a:t>
            </a:r>
            <a:r>
              <a:rPr lang="en-US" dirty="0" err="1"/>
              <a:t>selisihya</a:t>
            </a:r>
            <a:r>
              <a:rPr lang="en-US" dirty="0"/>
              <a:t> 100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hasil</a:t>
            </a:r>
            <a:endParaRPr lang="en-US" dirty="0"/>
          </a:p>
          <a:p>
            <a:pPr algn="l"/>
            <a:r>
              <a:rPr lang="en-US" dirty="0"/>
              <a:t>    </a:t>
            </a:r>
            <a:r>
              <a:rPr lang="en-US" dirty="0" err="1"/>
              <a:t>kalinya</a:t>
            </a:r>
            <a:r>
              <a:rPr lang="en-US" dirty="0"/>
              <a:t> minimum</a:t>
            </a:r>
          </a:p>
        </p:txBody>
      </p:sp>
      <p:sp>
        <p:nvSpPr>
          <p:cNvPr id="333831" name="Text Box 7"/>
          <p:cNvSpPr txBox="1">
            <a:spLocks noChangeArrowheads="1"/>
          </p:cNvSpPr>
          <p:nvPr/>
        </p:nvSpPr>
        <p:spPr bwMode="auto">
          <a:xfrm>
            <a:off x="764931" y="2513151"/>
            <a:ext cx="76481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2.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1000          </a:t>
            </a:r>
            <a:r>
              <a:rPr lang="en-US" dirty="0" err="1"/>
              <a:t>dan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    </a:t>
            </a:r>
            <a:r>
              <a:rPr lang="en-US" dirty="0" err="1"/>
              <a:t>kelilingnya</a:t>
            </a:r>
            <a:r>
              <a:rPr lang="en-US" dirty="0"/>
              <a:t> minimum</a:t>
            </a:r>
          </a:p>
        </p:txBody>
      </p:sp>
      <p:sp>
        <p:nvSpPr>
          <p:cNvPr id="38922" name="Rectangle 9"/>
          <p:cNvSpPr>
            <a:spLocks noChangeArrowheads="1"/>
          </p:cNvSpPr>
          <p:nvPr/>
        </p:nvSpPr>
        <p:spPr bwMode="auto">
          <a:xfrm>
            <a:off x="4479638" y="33905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3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13562958"/>
              </p:ext>
            </p:extLst>
          </p:nvPr>
        </p:nvGraphicFramePr>
        <p:xfrm>
          <a:off x="7089316" y="2409894"/>
          <a:ext cx="583223" cy="457200"/>
        </p:xfrm>
        <a:graphic>
          <a:graphicData uri="http://schemas.openxmlformats.org/presentationml/2006/ole">
            <p:oleObj spid="_x0000_s39974" name="Equation" r:id="rId4" imgW="279279" imgH="203112" progId="Equation.3">
              <p:embed/>
            </p:oleObj>
          </a:graphicData>
        </a:graphic>
      </p:graphicFrame>
      <p:sp>
        <p:nvSpPr>
          <p:cNvPr id="333834" name="Text Box 10"/>
          <p:cNvSpPr txBox="1">
            <a:spLocks noChangeArrowheads="1"/>
          </p:cNvSpPr>
          <p:nvPr/>
        </p:nvSpPr>
        <p:spPr bwMode="auto">
          <a:xfrm>
            <a:off x="775190" y="3448189"/>
            <a:ext cx="77830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dirty="0"/>
              <a:t>3.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6x + y = 9 yang </a:t>
            </a:r>
            <a:r>
              <a:rPr lang="en-US" dirty="0" err="1"/>
              <a:t>terdekat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(-3,1)</a:t>
            </a:r>
          </a:p>
        </p:txBody>
      </p:sp>
      <p:sp>
        <p:nvSpPr>
          <p:cNvPr id="333835" name="Text Box 11"/>
          <p:cNvSpPr txBox="1">
            <a:spLocks noChangeArrowheads="1"/>
          </p:cNvSpPr>
          <p:nvPr/>
        </p:nvSpPr>
        <p:spPr bwMode="auto">
          <a:xfrm>
            <a:off x="783982" y="4168922"/>
            <a:ext cx="823796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4. Tentukan ukuran persegi panjang yang memiliki luas terbesar </a:t>
            </a:r>
          </a:p>
          <a:p>
            <a:pPr algn="l"/>
            <a:r>
              <a:rPr lang="en-US"/>
              <a:t>    dengan alas pada sumbu </a:t>
            </a:r>
            <a:r>
              <a:rPr lang="en-US" i="1"/>
              <a:t>x</a:t>
            </a:r>
            <a:r>
              <a:rPr lang="en-US"/>
              <a:t> serta dua titik sudutnya di atas sumbu </a:t>
            </a:r>
            <a:r>
              <a:rPr lang="en-US" i="1"/>
              <a:t>x</a:t>
            </a:r>
            <a:r>
              <a:rPr lang="en-US"/>
              <a:t> </a:t>
            </a:r>
          </a:p>
          <a:p>
            <a:pPr algn="l"/>
            <a:r>
              <a:rPr lang="en-US"/>
              <a:t>    serta terletak pada parabola</a:t>
            </a:r>
            <a:endParaRPr lang="en-US" i="1"/>
          </a:p>
        </p:txBody>
      </p:sp>
      <p:sp>
        <p:nvSpPr>
          <p:cNvPr id="38925" name="Rectangle 13"/>
          <p:cNvSpPr>
            <a:spLocks noChangeArrowheads="1"/>
          </p:cNvSpPr>
          <p:nvPr/>
        </p:nvSpPr>
        <p:spPr bwMode="auto">
          <a:xfrm>
            <a:off x="4479638" y="3376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lang="en-US"/>
          </a:p>
        </p:txBody>
      </p:sp>
      <p:graphicFrame>
        <p:nvGraphicFramePr>
          <p:cNvPr id="3338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25800680"/>
              </p:ext>
            </p:extLst>
          </p:nvPr>
        </p:nvGraphicFramePr>
        <p:xfrm>
          <a:off x="4371027" y="4778185"/>
          <a:ext cx="1063869" cy="406400"/>
        </p:xfrm>
        <a:graphic>
          <a:graphicData uri="http://schemas.openxmlformats.org/presentationml/2006/ole">
            <p:oleObj spid="_x0000_s39975" name="Equation" r:id="rId5" imgW="647700" imgH="228600" progId="Equation.3">
              <p:embed/>
            </p:oleObj>
          </a:graphicData>
        </a:graphic>
      </p:graphicFrame>
      <p:sp>
        <p:nvSpPr>
          <p:cNvPr id="333838" name="Text Box 14"/>
          <p:cNvSpPr txBox="1">
            <a:spLocks noChangeArrowheads="1"/>
          </p:cNvSpPr>
          <p:nvPr/>
        </p:nvSpPr>
        <p:spPr bwMode="auto">
          <a:xfrm>
            <a:off x="810358" y="5464314"/>
            <a:ext cx="771005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/>
              <a:t>5. Tentukan ukuran segitiga samakaki yang memiliki luas terbesar </a:t>
            </a:r>
          </a:p>
          <a:p>
            <a:pPr algn="l"/>
            <a:r>
              <a:rPr lang="en-US"/>
              <a:t>    sehingga dapat diletakkan dalam lingkaran berjari-jari </a:t>
            </a:r>
            <a:r>
              <a:rPr lang="en-US" i="1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xmlns="" val="187758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3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9" grpId="0"/>
      <p:bldP spid="333830" grpId="0"/>
      <p:bldP spid="333831" grpId="0"/>
      <p:bldP spid="333834" grpId="0"/>
      <p:bldP spid="333835" grpId="0"/>
      <p:bldP spid="3338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nip Diagonal Corner Rectangle 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3133344" cy="609600"/>
          </a:xfrm>
          <a:prstGeom prst="rect">
            <a:avLst/>
          </a:prstGeom>
        </p:spPr>
      </p:pic>
      <p:sp>
        <p:nvSpPr>
          <p:cNvPr id="501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ctr"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 eaLnBrk="1" hangingPunct="1"/>
            <a:fld id="{FBEB8CAD-4AA5-4D35-976C-AFC35B6B15A6}" type="slidenum">
              <a:rPr lang="en-US" sz="1200" smtClean="0">
                <a:latin typeface="Arial Black" pitchFamily="34" charset="0"/>
              </a:rPr>
              <a:pPr algn="r" eaLnBrk="1" hangingPunct="1"/>
              <a:t>47</a:t>
            </a:fld>
            <a:endParaRPr lang="en-US" sz="1200" smtClean="0">
              <a:latin typeface="Arial Black" pitchFamily="34" charset="0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19212"/>
            <a:ext cx="8229600" cy="302418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endParaRPr lang="en-US" sz="2000" dirty="0" smtClean="0">
              <a:solidFill>
                <a:srgbClr val="FF0066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6.</a:t>
            </a:r>
            <a:r>
              <a:rPr lang="en-US" sz="2000" dirty="0" smtClean="0">
                <a:solidFill>
                  <a:srgbClr val="FF0066"/>
                </a:solidFill>
              </a:rPr>
              <a:t> </a:t>
            </a:r>
            <a:r>
              <a:rPr lang="id-ID" sz="2000" dirty="0" smtClean="0"/>
              <a:t>Kota </a:t>
            </a:r>
            <a:r>
              <a:rPr lang="id-ID" sz="2000" i="1" dirty="0" smtClean="0"/>
              <a:t>A</a:t>
            </a:r>
            <a:r>
              <a:rPr lang="id-ID" sz="2000" dirty="0" smtClean="0"/>
              <a:t> terletak 3 km dari garis pantai yang lurus dan kota </a:t>
            </a:r>
            <a:r>
              <a:rPr lang="id-ID" sz="2000" i="1" dirty="0" smtClean="0"/>
              <a:t>B</a:t>
            </a:r>
            <a:r>
              <a:rPr lang="id-ID" sz="2000" dirty="0" smtClean="0"/>
              <a:t> 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</a:t>
            </a:r>
            <a:r>
              <a:rPr lang="id-ID" sz="2000" dirty="0" smtClean="0"/>
              <a:t>terletak 4 km dari titik di pantai yang terdekat dari </a:t>
            </a:r>
            <a:r>
              <a:rPr lang="id-ID" sz="2000" i="1" dirty="0" smtClean="0"/>
              <a:t>A.</a:t>
            </a:r>
            <a:r>
              <a:rPr lang="id-ID" sz="2000" dirty="0" smtClean="0"/>
              <a:t> Pemerintah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</a:t>
            </a:r>
            <a:r>
              <a:rPr lang="id-ID" sz="2000" dirty="0" smtClean="0"/>
              <a:t> Daerah setempat akan memasang kabel telepon dari kota </a:t>
            </a:r>
            <a:r>
              <a:rPr lang="id-ID" sz="2000" i="1" dirty="0" smtClean="0"/>
              <a:t>A</a:t>
            </a:r>
            <a:r>
              <a:rPr lang="id-ID" sz="2000" dirty="0" smtClean="0"/>
              <a:t> 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</a:t>
            </a:r>
            <a:r>
              <a:rPr lang="id-ID" sz="2000" dirty="0" smtClean="0"/>
              <a:t>ke kota </a:t>
            </a:r>
            <a:r>
              <a:rPr lang="id-ID" sz="2000" i="1" dirty="0" smtClean="0"/>
              <a:t>B</a:t>
            </a:r>
            <a:r>
              <a:rPr lang="id-ID" sz="2000" dirty="0" smtClean="0"/>
              <a:t>. Jika biaya pemasangan kabel dari </a:t>
            </a:r>
            <a:r>
              <a:rPr lang="id-ID" sz="2000" i="1" dirty="0" smtClean="0"/>
              <a:t>A</a:t>
            </a:r>
            <a:r>
              <a:rPr lang="id-ID" sz="2000" dirty="0" smtClean="0"/>
              <a:t> ke </a:t>
            </a:r>
            <a:r>
              <a:rPr lang="id-ID" sz="2000" i="1" dirty="0" smtClean="0"/>
              <a:t>B</a:t>
            </a:r>
            <a:r>
              <a:rPr lang="id-ID" sz="2000" dirty="0" smtClean="0"/>
              <a:t> untuk setiap 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</a:t>
            </a:r>
            <a:r>
              <a:rPr lang="id-ID" sz="2000" dirty="0" smtClean="0"/>
              <a:t>kilometer melewati jalan laut dua kali besarnya dibandingkan biaya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</a:t>
            </a:r>
            <a:r>
              <a:rPr lang="id-ID" sz="2000" dirty="0" smtClean="0"/>
              <a:t>pasang kabel lewat darat. Tentukan letak titik di pantai agar biaya</a:t>
            </a:r>
            <a:r>
              <a:rPr lang="en-US" sz="2000" dirty="0" smtClean="0"/>
              <a:t> </a:t>
            </a:r>
            <a:r>
              <a:rPr lang="id-ID" sz="2000" dirty="0" smtClean="0"/>
              <a:t>pemasangan kabel telepon dari </a:t>
            </a:r>
            <a:r>
              <a:rPr lang="id-ID" sz="2000" i="1" dirty="0" smtClean="0"/>
              <a:t>A</a:t>
            </a:r>
            <a:r>
              <a:rPr lang="id-ID" sz="2000" dirty="0" smtClean="0"/>
              <a:t> ke </a:t>
            </a:r>
            <a:r>
              <a:rPr lang="id-ID" sz="2000" i="1" dirty="0" smtClean="0"/>
              <a:t>B</a:t>
            </a:r>
            <a:r>
              <a:rPr lang="id-ID" sz="2000" dirty="0" smtClean="0"/>
              <a:t> semurah mungkin.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3552397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1_BPP Tel-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</TotalTime>
  <Words>1939</Words>
  <Application>Microsoft Office PowerPoint</Application>
  <PresentationFormat>On-screen Show (4:3)</PresentationFormat>
  <Paragraphs>571</Paragraphs>
  <Slides>47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Vapor Trail</vt:lpstr>
      <vt:lpstr>1_BPP Tel-U</vt:lpstr>
      <vt:lpstr>Equation</vt:lpstr>
      <vt:lpstr> Jurusan Teknik Komputer dan Informatika (POLBAN)</vt:lpstr>
      <vt:lpstr>Slide 2</vt:lpstr>
      <vt:lpstr>Tujuan PEMBELAJARAN</vt:lpstr>
      <vt:lpstr> 5.1 Menggambar grafik fungsi 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MK untuk FRI</dc:title>
  <dc:creator>team</dc:creator>
  <cp:lastModifiedBy>iman</cp:lastModifiedBy>
  <cp:revision>34</cp:revision>
  <dcterms:created xsi:type="dcterms:W3CDTF">2014-05-14T09:34:22Z</dcterms:created>
  <dcterms:modified xsi:type="dcterms:W3CDTF">2018-09-24T07:58:50Z</dcterms:modified>
</cp:coreProperties>
</file>