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7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7"/>
  </p:normalViewPr>
  <p:slideViewPr>
    <p:cSldViewPr snapToGrid="0" snapToObjects="1">
      <p:cViewPr varScale="1">
        <p:scale>
          <a:sx n="89" d="100"/>
          <a:sy n="89" d="100"/>
        </p:scale>
        <p:origin x="5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</a:t>
            </a:r>
            <a:r>
              <a:rPr lang="en-US" dirty="0" err="1"/>
              <a:t>engantar</a:t>
            </a:r>
            <a:br>
              <a:rPr lang="en-US" dirty="0"/>
            </a:br>
            <a:r>
              <a:rPr dirty="0"/>
              <a:t>Domain-Specific Language (DSL)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9E5C339-62AD-BF4F-923E-B9FC8800A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ID" sz="3850"/>
              <a:t>Motivasi: Mengapa DSL?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 fontScale="92500" lnSpcReduction="10000"/>
          </a:bodyPr>
          <a:lstStyle/>
          <a:p>
            <a:pPr marL="542925" indent="-531813">
              <a:lnSpc>
                <a:spcPct val="90000"/>
              </a:lnSpc>
              <a:buFont typeface="Wingdings" pitchFamily="2" charset="2"/>
              <a:buChar char="v"/>
            </a:pPr>
            <a:r>
              <a:rPr lang="en-ID" sz="2400" dirty="0"/>
              <a:t>Bahasa </a:t>
            </a:r>
            <a:r>
              <a:rPr lang="en-ID" sz="2400" dirty="0" err="1"/>
              <a:t>umum</a:t>
            </a:r>
            <a:r>
              <a:rPr lang="en-ID" sz="2400" dirty="0"/>
              <a:t> (GPL) </a:t>
            </a:r>
            <a:r>
              <a:rPr lang="en-ID" sz="2400" dirty="0" err="1"/>
              <a:t>seperti</a:t>
            </a:r>
            <a:r>
              <a:rPr lang="en-ID" sz="2400" dirty="0"/>
              <a:t> Java/Python </a:t>
            </a:r>
            <a:r>
              <a:rPr lang="en-ID" sz="2400" dirty="0" err="1"/>
              <a:t>fleksibel</a:t>
            </a:r>
            <a:r>
              <a:rPr lang="en-ID" sz="2400" dirty="0"/>
              <a:t> </a:t>
            </a:r>
            <a:r>
              <a:rPr lang="en-ID" sz="2400" dirty="0" err="1"/>
              <a:t>tapi</a:t>
            </a:r>
            <a:r>
              <a:rPr lang="en-ID" sz="2400" dirty="0"/>
              <a:t> verbose.</a:t>
            </a:r>
          </a:p>
          <a:p>
            <a:pPr marL="542925" indent="-531813">
              <a:lnSpc>
                <a:spcPct val="90000"/>
              </a:lnSpc>
              <a:buFont typeface="Wingdings" pitchFamily="2" charset="2"/>
              <a:buChar char="v"/>
            </a:pPr>
            <a:r>
              <a:rPr lang="en-ID" sz="2400" dirty="0"/>
              <a:t>DSL </a:t>
            </a:r>
            <a:r>
              <a:rPr lang="en-ID" sz="2400" dirty="0" err="1"/>
              <a:t>dibuat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domain </a:t>
            </a:r>
            <a:r>
              <a:rPr lang="en-ID" sz="2400" dirty="0" err="1"/>
              <a:t>tertentu</a:t>
            </a:r>
            <a:r>
              <a:rPr lang="en-ID" sz="2400" dirty="0"/>
              <a:t> agar:</a:t>
            </a:r>
          </a:p>
          <a:p>
            <a:pPr marL="808038" lvl="1" indent="0">
              <a:lnSpc>
                <a:spcPct val="90000"/>
              </a:lnSpc>
              <a:buNone/>
            </a:pPr>
            <a:r>
              <a:rPr lang="en-ID" sz="2400" dirty="0"/>
              <a:t>   –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ekspresif</a:t>
            </a:r>
            <a:r>
              <a:rPr lang="en-ID" sz="2400" dirty="0"/>
              <a:t> </a:t>
            </a:r>
            <a:r>
              <a:rPr lang="en-ID" sz="2400" dirty="0" err="1"/>
              <a:t>bagi</a:t>
            </a:r>
            <a:r>
              <a:rPr lang="en-ID" sz="2400" dirty="0"/>
              <a:t> </a:t>
            </a:r>
            <a:r>
              <a:rPr lang="en-ID" sz="2400" dirty="0" err="1"/>
              <a:t>pakar</a:t>
            </a:r>
            <a:r>
              <a:rPr lang="en-ID" sz="2400" dirty="0"/>
              <a:t> domain.</a:t>
            </a:r>
          </a:p>
          <a:p>
            <a:pPr marL="808038" lvl="1" indent="0">
              <a:lnSpc>
                <a:spcPct val="90000"/>
              </a:lnSpc>
              <a:buNone/>
            </a:pPr>
            <a:r>
              <a:rPr lang="en-ID" sz="2400" dirty="0"/>
              <a:t>   – </a:t>
            </a:r>
            <a:r>
              <a:rPr lang="en-ID" sz="2400" dirty="0" err="1"/>
              <a:t>Mengurangi</a:t>
            </a:r>
            <a:r>
              <a:rPr lang="en-ID" sz="2400" dirty="0"/>
              <a:t> detail </a:t>
            </a:r>
            <a:r>
              <a:rPr lang="en-ID" sz="2400" dirty="0" err="1"/>
              <a:t>teknis</a:t>
            </a:r>
            <a:r>
              <a:rPr lang="en-ID" sz="2400" dirty="0"/>
              <a:t>.</a:t>
            </a:r>
          </a:p>
          <a:p>
            <a:pPr marL="808038" lvl="1" indent="0">
              <a:lnSpc>
                <a:spcPct val="90000"/>
              </a:lnSpc>
              <a:buNone/>
            </a:pPr>
            <a:r>
              <a:rPr lang="en-ID" sz="2400" dirty="0"/>
              <a:t>   – </a:t>
            </a:r>
            <a:r>
              <a:rPr lang="en-ID" sz="2400" dirty="0" err="1"/>
              <a:t>Validasi</a:t>
            </a:r>
            <a:r>
              <a:rPr lang="en-ID" sz="2400" dirty="0"/>
              <a:t> domain </a:t>
            </a:r>
            <a:r>
              <a:rPr lang="en-ID" sz="2400" dirty="0" err="1"/>
              <a:t>lebih</a:t>
            </a:r>
            <a:r>
              <a:rPr lang="en-ID" sz="2400" dirty="0"/>
              <a:t> </a:t>
            </a:r>
            <a:r>
              <a:rPr lang="en-ID" sz="2400" dirty="0" err="1"/>
              <a:t>mudah</a:t>
            </a:r>
            <a:r>
              <a:rPr lang="en-ID" sz="2400" dirty="0"/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ID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ID" sz="2400" dirty="0" err="1"/>
              <a:t>Contoh</a:t>
            </a:r>
            <a:r>
              <a:rPr lang="en-ID" sz="24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2400" dirty="0"/>
              <a:t>SQL </a:t>
            </a:r>
            <a:r>
              <a:rPr lang="en-ID" sz="2400" dirty="0" err="1"/>
              <a:t>untuk</a:t>
            </a:r>
            <a:r>
              <a:rPr lang="en-ID" sz="2400" dirty="0"/>
              <a:t> database, HTML </a:t>
            </a:r>
            <a:r>
              <a:rPr lang="en-ID" sz="2400" dirty="0" err="1"/>
              <a:t>untuk</a:t>
            </a:r>
            <a:r>
              <a:rPr lang="en-ID" sz="2400" dirty="0"/>
              <a:t> web, Regex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pencocokan</a:t>
            </a:r>
            <a:r>
              <a:rPr lang="en-ID" sz="2400" dirty="0"/>
              <a:t> </a:t>
            </a:r>
            <a:r>
              <a:rPr lang="en-ID" sz="2400" dirty="0" err="1"/>
              <a:t>pola</a:t>
            </a:r>
            <a:r>
              <a:rPr lang="en-ID" sz="2400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97FDD73D-F497-14FD-C9E4-86070BFAF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018" y="687480"/>
            <a:ext cx="6200181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D" sz="3000" dirty="0" err="1"/>
              <a:t>Apa</a:t>
            </a:r>
            <a:r>
              <a:rPr lang="en-ID" sz="3000" dirty="0"/>
              <a:t> </a:t>
            </a:r>
            <a:r>
              <a:rPr lang="en-ID" sz="3000" dirty="0" err="1"/>
              <a:t>Itu</a:t>
            </a:r>
            <a:r>
              <a:rPr lang="en-ID" sz="3000" dirty="0"/>
              <a:t> Domain-Specific Language?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622300" indent="-622300">
              <a:lnSpc>
                <a:spcPct val="90000"/>
              </a:lnSpc>
              <a:buFont typeface="Wingdings" pitchFamily="2" charset="2"/>
              <a:buChar char="v"/>
            </a:pPr>
            <a:r>
              <a:rPr lang="en-ID" sz="2100"/>
              <a:t>DSL = bahasa yang dirancang untuk domain tertentu.</a:t>
            </a:r>
          </a:p>
          <a:p>
            <a:pPr marL="622300" indent="-622300">
              <a:lnSpc>
                <a:spcPct val="90000"/>
              </a:lnSpc>
              <a:buFont typeface="Wingdings" pitchFamily="2" charset="2"/>
              <a:buChar char="v"/>
            </a:pPr>
            <a:r>
              <a:rPr lang="en-ID" sz="2100"/>
              <a:t>Fokus: abstraksi domain, bukan fleksibilitas umum.</a:t>
            </a:r>
          </a:p>
          <a:p>
            <a:pPr marL="622300" indent="-622300">
              <a:lnSpc>
                <a:spcPct val="90000"/>
              </a:lnSpc>
              <a:buFont typeface="Wingdings" pitchFamily="2" charset="2"/>
              <a:buChar char="v"/>
            </a:pPr>
            <a:r>
              <a:rPr lang="en-ID" sz="2100"/>
              <a:t>Jenis DSL:</a:t>
            </a:r>
          </a:p>
          <a:p>
            <a:pPr marL="1030288" lvl="1" indent="-317500">
              <a:lnSpc>
                <a:spcPct val="90000"/>
              </a:lnSpc>
              <a:buFont typeface="Wingdings" pitchFamily="2" charset="2"/>
              <a:buChar char="§"/>
            </a:pPr>
            <a:r>
              <a:rPr lang="en-ID" sz="2100"/>
              <a:t>External DSL → punya grammar &amp; parser sendiri (misal SQL).</a:t>
            </a:r>
          </a:p>
          <a:p>
            <a:pPr marL="1030288" lvl="1" indent="-317500">
              <a:lnSpc>
                <a:spcPct val="90000"/>
              </a:lnSpc>
              <a:buFont typeface="Wingdings" pitchFamily="2" charset="2"/>
              <a:buChar char="§"/>
            </a:pPr>
            <a:r>
              <a:rPr lang="en-ID" sz="2100"/>
              <a:t>Internal DSL → tertanam di bahasa host (misal LINQ di C#).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2100"/>
              <a:t>Referensi: Martin Fowler (DSL Book, 2010); Mernik et al. (2005).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Disconnected">
            <a:extLst>
              <a:ext uri="{FF2B5EF4-FFF2-40B4-BE49-F238E27FC236}">
                <a16:creationId xmlns:a16="http://schemas.microsoft.com/office/drawing/2014/main" id="{F83278AA-1014-A11A-C760-90DCDE6E6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D" sz="3500">
                <a:solidFill>
                  <a:srgbClr val="FFFFFF"/>
                </a:solidFill>
              </a:rPr>
              <a:t>Domain Spesific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fontScale="92500"/>
          </a:bodyPr>
          <a:lstStyle/>
          <a:p>
            <a:pPr marL="0" indent="0">
              <a:buNone/>
            </a:pPr>
            <a:r>
              <a:rPr lang="en-ID" sz="2800" dirty="0"/>
              <a:t>Langkah </a:t>
            </a:r>
            <a:r>
              <a:rPr lang="en-ID" sz="2800" dirty="0" err="1"/>
              <a:t>desain</a:t>
            </a:r>
            <a:r>
              <a:rPr lang="en-ID" sz="2800" dirty="0"/>
              <a:t> DSL </a:t>
            </a:r>
            <a:r>
              <a:rPr lang="en-ID" sz="2800" dirty="0" err="1"/>
              <a:t>sama</a:t>
            </a:r>
            <a:r>
              <a:rPr lang="en-ID" sz="2800" dirty="0"/>
              <a:t> </a:t>
            </a:r>
            <a:r>
              <a:rPr lang="en-ID" sz="2800" dirty="0" err="1"/>
              <a:t>seperti</a:t>
            </a:r>
            <a:r>
              <a:rPr lang="en-ID" sz="2800" dirty="0"/>
              <a:t> proses </a:t>
            </a:r>
            <a:r>
              <a:rPr lang="en-ID" sz="2800" dirty="0" err="1"/>
              <a:t>kompilasi</a:t>
            </a:r>
            <a:r>
              <a:rPr lang="en-ID" sz="2800"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D" dirty="0"/>
              <a:t>Grammar DSL → </a:t>
            </a:r>
            <a:r>
              <a:rPr lang="en-ID" dirty="0" err="1"/>
              <a:t>mendefinisikan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domain.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D" dirty="0"/>
              <a:t>Parsing → </a:t>
            </a:r>
            <a:r>
              <a:rPr lang="en-ID" dirty="0" err="1"/>
              <a:t>membentuk</a:t>
            </a:r>
            <a:r>
              <a:rPr lang="en-ID" dirty="0"/>
              <a:t> AST yang </a:t>
            </a:r>
            <a:r>
              <a:rPr lang="en-ID" dirty="0" err="1"/>
              <a:t>berisi</a:t>
            </a:r>
            <a:r>
              <a:rPr lang="en-ID" dirty="0"/>
              <a:t> node domain.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D" dirty="0"/>
              <a:t>Semantic Analysis → </a:t>
            </a:r>
            <a:r>
              <a:rPr lang="en-ID" dirty="0" err="1"/>
              <a:t>validasi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domain.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ID" dirty="0" err="1"/>
              <a:t>Transformasi</a:t>
            </a:r>
            <a:r>
              <a:rPr lang="en-ID" dirty="0"/>
              <a:t>/</a:t>
            </a:r>
            <a:r>
              <a:rPr lang="en-ID" dirty="0" err="1"/>
              <a:t>Eksekusi</a:t>
            </a:r>
            <a:r>
              <a:rPr lang="en-ID" dirty="0"/>
              <a:t> → </a:t>
            </a:r>
            <a:r>
              <a:rPr lang="en-ID" dirty="0" err="1"/>
              <a:t>menjalankan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bentuk</a:t>
            </a:r>
            <a:r>
              <a:rPr lang="en-ID" dirty="0"/>
              <a:t> lain.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D" sz="3000"/>
              <a:t>Contoh Grammar DSL (Workflow)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D" sz="1800"/>
              <a:t>Grammar (BNF):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/>
              <a:t>workflow → 'workflow' ID '{' stmt* '}'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/>
              <a:t>stmt     → task | transition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/>
              <a:t>task     → 'task' ID '{' 'duration' ':' NUMBER '}'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/>
              <a:t>transition → ID '-&gt;' ID ';'</a:t>
            </a:r>
          </a:p>
          <a:p>
            <a:pPr>
              <a:lnSpc>
                <a:spcPct val="90000"/>
              </a:lnSpc>
            </a:pPr>
            <a:endParaRPr lang="en-ID" sz="1800"/>
          </a:p>
          <a:p>
            <a:pPr marL="0" indent="0">
              <a:lnSpc>
                <a:spcPct val="90000"/>
              </a:lnSpc>
              <a:buNone/>
            </a:pPr>
            <a:r>
              <a:rPr lang="en-ID" sz="1800">
                <a:latin typeface="Courier New" panose="02070309020205020404" pitchFamily="49" charset="0"/>
                <a:cs typeface="Courier New" panose="02070309020205020404" pitchFamily="49" charset="0"/>
              </a:rPr>
              <a:t>Program DSL: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>
                <a:latin typeface="Courier New" panose="02070309020205020404" pitchFamily="49" charset="0"/>
                <a:cs typeface="Courier New" panose="02070309020205020404" pitchFamily="49" charset="0"/>
              </a:rPr>
              <a:t>workflow Order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>
                <a:latin typeface="Courier New" panose="02070309020205020404" pitchFamily="49" charset="0"/>
                <a:cs typeface="Courier New" panose="02070309020205020404" pitchFamily="49" charset="0"/>
              </a:rPr>
              <a:t>  task A { duration: 5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>
                <a:latin typeface="Courier New" panose="02070309020205020404" pitchFamily="49" charset="0"/>
                <a:cs typeface="Courier New" panose="02070309020205020404" pitchFamily="49" charset="0"/>
              </a:rPr>
              <a:t>  task B { duration: 3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>
                <a:latin typeface="Courier New" panose="02070309020205020404" pitchFamily="49" charset="0"/>
                <a:cs typeface="Courier New" panose="02070309020205020404" pitchFamily="49" charset="0"/>
              </a:rPr>
              <a:t>  A -&gt; B;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D" sz="18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DF2DF766-A364-7013-E036-A7A78B7B1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320358"/>
            <a:ext cx="6412230" cy="1143000"/>
          </a:xfrm>
        </p:spPr>
        <p:txBody>
          <a:bodyPr>
            <a:normAutofit/>
          </a:bodyPr>
          <a:lstStyle/>
          <a:p>
            <a:r>
              <a:rPr dirty="0"/>
              <a:t>AST </a:t>
            </a:r>
            <a:r>
              <a:rPr dirty="0" err="1"/>
              <a:t>untuk</a:t>
            </a:r>
            <a:r>
              <a:rPr dirty="0"/>
              <a:t> DSL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" y="1600200"/>
            <a:ext cx="796671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AST:</a:t>
            </a:r>
          </a:p>
          <a:p>
            <a:pPr marL="0" indent="0">
              <a:buNone/>
            </a:pPr>
            <a:r>
              <a:rPr dirty="0"/>
              <a:t>Workflow(name='Order',</a:t>
            </a:r>
          </a:p>
          <a:p>
            <a:pPr marL="0" indent="0">
              <a:buNone/>
            </a:pPr>
            <a:r>
              <a:rPr dirty="0"/>
              <a:t>  tasks=[Task(name='A', dur=5), Task(name='B', dur=3)],</a:t>
            </a:r>
          </a:p>
          <a:p>
            <a:pPr marL="0" indent="0">
              <a:buNone/>
            </a:pPr>
            <a:r>
              <a:rPr dirty="0"/>
              <a:t>  transitions=[('A', 'B')]</a:t>
            </a:r>
          </a:p>
          <a:p>
            <a:pPr marL="0" indent="0">
              <a:buNone/>
            </a:pP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>
              <a:buFont typeface="Courier New" panose="02070309020205020404" pitchFamily="49" charset="0"/>
              <a:buChar char="o"/>
            </a:pPr>
            <a:r>
              <a:rPr dirty="0"/>
              <a:t>Node AST </a:t>
            </a:r>
            <a:r>
              <a:rPr dirty="0" err="1"/>
              <a:t>mewakili</a:t>
            </a:r>
            <a:r>
              <a:rPr dirty="0"/>
              <a:t> </a:t>
            </a:r>
            <a:r>
              <a:rPr dirty="0" err="1"/>
              <a:t>entitas</a:t>
            </a:r>
            <a:r>
              <a:rPr dirty="0"/>
              <a:t> domain.</a:t>
            </a:r>
            <a:endParaRPr lang="en-US" dirty="0"/>
          </a:p>
          <a:p>
            <a:pPr>
              <a:buFont typeface="Courier New" panose="02070309020205020404" pitchFamily="49" charset="0"/>
              <a:buChar char="o"/>
            </a:pPr>
            <a:r>
              <a:rPr dirty="0" err="1"/>
              <a:t>Struktur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sederhana</a:t>
            </a:r>
            <a:r>
              <a:rPr dirty="0"/>
              <a:t>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validasi</a:t>
            </a:r>
            <a:r>
              <a:rPr dirty="0"/>
              <a:t> dan </a:t>
            </a:r>
            <a:r>
              <a:rPr dirty="0" err="1"/>
              <a:t>transformasi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Aturan</a:t>
            </a:r>
            <a:r>
              <a:rPr dirty="0"/>
              <a:t> </a:t>
            </a:r>
            <a:r>
              <a:rPr dirty="0" err="1"/>
              <a:t>Semantik</a:t>
            </a:r>
            <a:r>
              <a:rPr dirty="0"/>
              <a:t> </a:t>
            </a:r>
            <a:r>
              <a:rPr dirty="0" err="1"/>
              <a:t>dalam</a:t>
            </a:r>
            <a:r>
              <a:rPr dirty="0"/>
              <a:t> DSL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260" y="1554480"/>
            <a:ext cx="7463790" cy="4525963"/>
          </a:xfrm>
        </p:spPr>
        <p:txBody>
          <a:bodyPr>
            <a:normAutofit fontScale="70000" lnSpcReduction="20000"/>
          </a:bodyPr>
          <a:lstStyle/>
          <a:p>
            <a:r>
              <a:rPr dirty="0" err="1"/>
              <a:t>Aturan</a:t>
            </a:r>
            <a:r>
              <a:rPr dirty="0"/>
              <a:t> </a:t>
            </a:r>
            <a:r>
              <a:rPr dirty="0" err="1"/>
              <a:t>semantik</a:t>
            </a:r>
            <a:r>
              <a:rPr dirty="0"/>
              <a:t> Workflow DSL:</a:t>
            </a:r>
          </a:p>
          <a:p>
            <a:r>
              <a:rPr dirty="0" err="1"/>
              <a:t>Semua</a:t>
            </a:r>
            <a:r>
              <a:rPr dirty="0"/>
              <a:t> transition </a:t>
            </a:r>
            <a:r>
              <a:rPr dirty="0" err="1"/>
              <a:t>harus</a:t>
            </a:r>
            <a:r>
              <a:rPr dirty="0"/>
              <a:t> </a:t>
            </a:r>
            <a:r>
              <a:rPr dirty="0" err="1"/>
              <a:t>merujuk</a:t>
            </a:r>
            <a:r>
              <a:rPr dirty="0"/>
              <a:t> task yang </a:t>
            </a:r>
            <a:r>
              <a:rPr dirty="0" err="1"/>
              <a:t>ada</a:t>
            </a:r>
            <a:r>
              <a:rPr dirty="0"/>
              <a:t>.</a:t>
            </a:r>
          </a:p>
          <a:p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boleh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siklus</a:t>
            </a:r>
            <a:r>
              <a:rPr dirty="0"/>
              <a:t> (workflow = DAG).</a:t>
            </a:r>
            <a:endParaRPr lang="en-US" dirty="0"/>
          </a:p>
          <a:p>
            <a:pPr lvl="1"/>
            <a:r>
              <a:rPr lang="en-ID" b="1" dirty="0"/>
              <a:t>DAG (Directed Acyclic Graph) ; Directed</a:t>
            </a:r>
            <a:r>
              <a:rPr lang="en-ID" dirty="0"/>
              <a:t> =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punya </a:t>
            </a:r>
            <a:r>
              <a:rPr lang="en-ID" dirty="0" err="1"/>
              <a:t>arah</a:t>
            </a:r>
            <a:r>
              <a:rPr lang="en-ID" dirty="0"/>
              <a:t> (mis. A → B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urutannya</a:t>
            </a:r>
            <a:r>
              <a:rPr lang="en-ID" dirty="0"/>
              <a:t> </a:t>
            </a:r>
            <a:r>
              <a:rPr lang="en-ID" dirty="0" err="1"/>
              <a:t>jelas</a:t>
            </a:r>
            <a:r>
              <a:rPr lang="en-ID" dirty="0"/>
              <a:t>). </a:t>
            </a:r>
            <a:r>
              <a:rPr lang="en-ID" b="1" dirty="0"/>
              <a:t>Acyclic</a:t>
            </a:r>
            <a:r>
              <a:rPr lang="en-ID" dirty="0"/>
              <a:t> =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i="1" dirty="0"/>
              <a:t>cycle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node </a:t>
            </a:r>
            <a:r>
              <a:rPr lang="en-ID" dirty="0" err="1"/>
              <a:t>sebelumnya</a:t>
            </a:r>
            <a:r>
              <a:rPr lang="en-ID" dirty="0"/>
              <a:t>). </a:t>
            </a:r>
            <a:r>
              <a:rPr lang="en-ID" b="1" dirty="0"/>
              <a:t>Graph</a:t>
            </a:r>
            <a:r>
              <a:rPr lang="en-ID" dirty="0"/>
              <a:t> = </a:t>
            </a:r>
            <a:r>
              <a:rPr lang="en-ID" dirty="0" err="1"/>
              <a:t>kumpulan</a:t>
            </a:r>
            <a:r>
              <a:rPr lang="en-ID" dirty="0"/>
              <a:t> </a:t>
            </a:r>
            <a:r>
              <a:rPr lang="en-ID" dirty="0" err="1"/>
              <a:t>simpul</a:t>
            </a:r>
            <a:r>
              <a:rPr lang="en-ID" dirty="0"/>
              <a:t> (task) dan </a:t>
            </a:r>
            <a:r>
              <a:rPr lang="en-ID" dirty="0" err="1"/>
              <a:t>panah</a:t>
            </a:r>
            <a:r>
              <a:rPr lang="en-ID" dirty="0"/>
              <a:t> (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task).</a:t>
            </a:r>
            <a:endParaRPr dirty="0"/>
          </a:p>
          <a:p>
            <a:r>
              <a:rPr dirty="0" err="1"/>
              <a:t>Durasi</a:t>
            </a:r>
            <a:r>
              <a:rPr dirty="0"/>
              <a:t> task &gt; 0.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Kesalahan</a:t>
            </a:r>
            <a:r>
              <a:rPr dirty="0"/>
              <a:t> </a:t>
            </a:r>
            <a:r>
              <a:rPr dirty="0" err="1"/>
              <a:t>semantik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– 'A -&gt; C;' → C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terdefinisi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– 'A -&gt; A;' → </a:t>
            </a:r>
            <a:r>
              <a:rPr dirty="0" err="1"/>
              <a:t>siklus</a:t>
            </a:r>
            <a:r>
              <a:rPr dirty="0"/>
              <a:t> </a:t>
            </a:r>
            <a:r>
              <a:rPr dirty="0" err="1"/>
              <a:t>diri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– 'task X { duration: -5 }' → </a:t>
            </a:r>
            <a:r>
              <a:rPr dirty="0" err="1"/>
              <a:t>durasi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valid.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Analisis DSL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" y="1600200"/>
            <a:ext cx="796671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Source DSL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pPr marL="0" indent="0">
              <a:buNone/>
            </a:pPr>
            <a:r>
              <a:rPr dirty="0"/>
              <a:t>Lexical Analysis (token domain)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pPr marL="0" indent="0">
              <a:buNone/>
            </a:pPr>
            <a:r>
              <a:rPr dirty="0"/>
              <a:t>Syntax Analysis (Grammar DSL → AST)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pPr marL="0" indent="0">
              <a:buNone/>
            </a:pPr>
            <a:r>
              <a:rPr dirty="0"/>
              <a:t>Semantic Analysis (</a:t>
            </a:r>
            <a:r>
              <a:rPr dirty="0" err="1"/>
              <a:t>aturan</a:t>
            </a:r>
            <a:r>
              <a:rPr dirty="0"/>
              <a:t> domain)</a:t>
            </a:r>
          </a:p>
          <a:p>
            <a:pPr marL="0" indent="0">
              <a:buNone/>
            </a:pPr>
            <a:r>
              <a:rPr dirty="0"/>
              <a:t>   ↓</a:t>
            </a:r>
          </a:p>
          <a:p>
            <a:pPr marL="0" indent="0">
              <a:buNone/>
            </a:pPr>
            <a:r>
              <a:rPr dirty="0"/>
              <a:t>Execution / Transformation (runtime / </a:t>
            </a:r>
            <a:r>
              <a:rPr dirty="0" err="1"/>
              <a:t>codegen</a:t>
            </a:r>
            <a:r>
              <a:rPr dirty="0"/>
              <a:t>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→ </a:t>
            </a:r>
            <a:r>
              <a:rPr dirty="0" err="1"/>
              <a:t>Tahapan</a:t>
            </a:r>
            <a:r>
              <a:rPr dirty="0"/>
              <a:t> </a:t>
            </a:r>
            <a:r>
              <a:rPr dirty="0" err="1"/>
              <a:t>identik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compiler </a:t>
            </a:r>
            <a:r>
              <a:rPr dirty="0" err="1"/>
              <a:t>umum</a:t>
            </a:r>
            <a:r>
              <a:rPr dirty="0"/>
              <a:t>, </a:t>
            </a:r>
            <a:r>
              <a:rPr dirty="0" err="1"/>
              <a:t>tapi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semantik</a:t>
            </a:r>
            <a:r>
              <a:rPr dirty="0"/>
              <a:t> domain.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DSL dari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48790"/>
            <a:ext cx="8046720" cy="4377373"/>
          </a:xfrm>
        </p:spPr>
        <p:txBody>
          <a:bodyPr>
            <a:normAutofit lnSpcReduction="10000"/>
          </a:bodyPr>
          <a:lstStyle/>
          <a:p>
            <a:r>
              <a:rPr dirty="0"/>
              <a:t>De </a:t>
            </a:r>
            <a:r>
              <a:rPr dirty="0" err="1"/>
              <a:t>Laet</a:t>
            </a:r>
            <a:r>
              <a:rPr dirty="0"/>
              <a:t> et al. (2013) – DSL for Geometric Relations in Robotics.</a:t>
            </a:r>
          </a:p>
          <a:p>
            <a:pPr lvl="1"/>
            <a:r>
              <a:rPr dirty="0"/>
              <a:t>Domain: </a:t>
            </a:r>
            <a:r>
              <a:rPr dirty="0" err="1"/>
              <a:t>relasi</a:t>
            </a:r>
            <a:r>
              <a:rPr dirty="0"/>
              <a:t> </a:t>
            </a:r>
            <a:r>
              <a:rPr dirty="0" err="1"/>
              <a:t>posisi</a:t>
            </a:r>
            <a:r>
              <a:rPr dirty="0"/>
              <a:t> &amp; </a:t>
            </a:r>
            <a:r>
              <a:rPr dirty="0" err="1"/>
              <a:t>orientasi</a:t>
            </a:r>
            <a:r>
              <a:rPr dirty="0"/>
              <a:t> </a:t>
            </a:r>
            <a:r>
              <a:rPr dirty="0" err="1"/>
              <a:t>objek</a:t>
            </a:r>
            <a:r>
              <a:rPr dirty="0"/>
              <a:t> rigid.</a:t>
            </a:r>
          </a:p>
          <a:p>
            <a:pPr lvl="1"/>
            <a:r>
              <a:rPr dirty="0"/>
              <a:t>Grammar + </a:t>
            </a:r>
            <a:r>
              <a:rPr dirty="0" err="1"/>
              <a:t>aturan</a:t>
            </a:r>
            <a:r>
              <a:rPr dirty="0"/>
              <a:t> </a:t>
            </a:r>
            <a:r>
              <a:rPr dirty="0" err="1"/>
              <a:t>semantik</a:t>
            </a:r>
            <a:r>
              <a:rPr dirty="0"/>
              <a:t> domain </a:t>
            </a:r>
            <a:r>
              <a:rPr dirty="0" err="1"/>
              <a:t>geometrik</a:t>
            </a:r>
            <a:r>
              <a:rPr dirty="0"/>
              <a:t>.</a:t>
            </a:r>
          </a:p>
          <a:p>
            <a:pPr lvl="1"/>
            <a:r>
              <a:rPr dirty="0"/>
              <a:t>DSL </a:t>
            </a:r>
            <a:r>
              <a:rPr dirty="0" err="1"/>
              <a:t>mendeteksi</a:t>
            </a:r>
            <a:r>
              <a:rPr dirty="0"/>
              <a:t> </a:t>
            </a:r>
            <a:r>
              <a:rPr dirty="0" err="1"/>
              <a:t>kesalahan</a:t>
            </a:r>
            <a:r>
              <a:rPr dirty="0"/>
              <a:t> </a:t>
            </a:r>
            <a:r>
              <a:rPr dirty="0" err="1"/>
              <a:t>fisika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runtime.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Menunjukkan</a:t>
            </a:r>
            <a:r>
              <a:rPr dirty="0"/>
              <a:t> </a:t>
            </a:r>
            <a:r>
              <a:rPr dirty="0" err="1"/>
              <a:t>bahwa</a:t>
            </a:r>
            <a:r>
              <a:rPr dirty="0"/>
              <a:t> DSL = grammar + </a:t>
            </a:r>
            <a:r>
              <a:rPr dirty="0" err="1"/>
              <a:t>semantik</a:t>
            </a:r>
            <a:r>
              <a:rPr dirty="0"/>
              <a:t> + </a:t>
            </a:r>
            <a:r>
              <a:rPr dirty="0" err="1"/>
              <a:t>validasi</a:t>
            </a:r>
            <a:r>
              <a:rPr dirty="0"/>
              <a:t> domain.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DSL: </a:t>
            </a:r>
            <a:r>
              <a:rPr dirty="0" err="1"/>
              <a:t>PromoLang</a:t>
            </a:r>
            <a:r>
              <a:rPr dirty="0"/>
              <a:t> (</a:t>
            </a:r>
            <a:r>
              <a:rPr dirty="0" err="1"/>
              <a:t>Aturan</a:t>
            </a:r>
            <a:r>
              <a:rPr dirty="0"/>
              <a:t> </a:t>
            </a:r>
            <a:r>
              <a:rPr dirty="0" err="1"/>
              <a:t>Diskon</a:t>
            </a:r>
            <a:r>
              <a:rPr dirty="0"/>
              <a:t> </a:t>
            </a:r>
            <a:r>
              <a:rPr dirty="0" err="1"/>
              <a:t>Toko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sz="4500" dirty="0"/>
              <a:t>Domain: </a:t>
            </a:r>
            <a:r>
              <a:rPr sz="4500" dirty="0" err="1"/>
              <a:t>Aturan</a:t>
            </a:r>
            <a:r>
              <a:rPr sz="4500" dirty="0"/>
              <a:t> </a:t>
            </a:r>
            <a:r>
              <a:rPr sz="4500" dirty="0" err="1"/>
              <a:t>diskon</a:t>
            </a:r>
            <a:r>
              <a:rPr sz="4500" dirty="0"/>
              <a:t> </a:t>
            </a:r>
            <a:r>
              <a:rPr sz="4500" dirty="0" err="1"/>
              <a:t>toko</a:t>
            </a:r>
            <a:r>
              <a:rPr sz="4500" dirty="0"/>
              <a:t> </a:t>
            </a:r>
            <a:r>
              <a:rPr sz="4500" dirty="0" err="1"/>
              <a:t>berdasarkan</a:t>
            </a:r>
            <a:r>
              <a:rPr sz="4500" dirty="0"/>
              <a:t> total </a:t>
            </a:r>
            <a:r>
              <a:rPr sz="4500" dirty="0" err="1"/>
              <a:t>belanja</a:t>
            </a:r>
            <a:r>
              <a:rPr sz="4500" dirty="0"/>
              <a:t>.</a:t>
            </a:r>
          </a:p>
          <a:p>
            <a:r>
              <a:rPr sz="4500" dirty="0" err="1"/>
              <a:t>Tujuan</a:t>
            </a:r>
            <a:r>
              <a:rPr sz="4500" dirty="0"/>
              <a:t> DSL: </a:t>
            </a:r>
            <a:r>
              <a:rPr sz="4500" dirty="0" err="1"/>
              <a:t>Memudahkan</a:t>
            </a:r>
            <a:r>
              <a:rPr sz="4500" dirty="0"/>
              <a:t> </a:t>
            </a:r>
            <a:r>
              <a:rPr sz="4500" dirty="0" err="1"/>
              <a:t>manajer</a:t>
            </a:r>
            <a:r>
              <a:rPr sz="4500" dirty="0"/>
              <a:t> </a:t>
            </a:r>
            <a:r>
              <a:rPr sz="4500" dirty="0" err="1"/>
              <a:t>toko</a:t>
            </a:r>
            <a:r>
              <a:rPr sz="4500" dirty="0"/>
              <a:t> </a:t>
            </a:r>
            <a:r>
              <a:rPr sz="4500" dirty="0" err="1"/>
              <a:t>menulis</a:t>
            </a:r>
            <a:r>
              <a:rPr sz="4500" dirty="0"/>
              <a:t> </a:t>
            </a:r>
            <a:r>
              <a:rPr sz="4500" dirty="0" err="1"/>
              <a:t>aturan</a:t>
            </a:r>
            <a:r>
              <a:rPr sz="4500" dirty="0"/>
              <a:t> promo </a:t>
            </a:r>
            <a:r>
              <a:rPr sz="4500" dirty="0" err="1"/>
              <a:t>tanpa</a:t>
            </a:r>
            <a:r>
              <a:rPr sz="4500" dirty="0"/>
              <a:t> </a:t>
            </a:r>
            <a:r>
              <a:rPr sz="4500" dirty="0" err="1"/>
              <a:t>kode</a:t>
            </a:r>
            <a:r>
              <a:rPr sz="4500" dirty="0"/>
              <a:t> program.</a:t>
            </a:r>
          </a:p>
          <a:p>
            <a:endParaRPr dirty="0"/>
          </a:p>
          <a:p>
            <a:pPr marL="361950" indent="0">
              <a:buNone/>
            </a:pP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Contoh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program DSL: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rule R1 {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when total &gt; 500000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then discount = 10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1950" indent="0">
              <a:buNone/>
            </a:pP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rule R2 {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when total &lt; 100000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 then discount = 0</a:t>
            </a:r>
          </a:p>
          <a:p>
            <a:pPr marL="361950" indent="0">
              <a:buNone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Grammar DSL (BNF)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program    → rule+</a:t>
            </a:r>
          </a:p>
          <a:p>
            <a:pPr marL="0" indent="0">
              <a:buNone/>
            </a:pPr>
            <a:r>
              <a:rPr dirty="0"/>
              <a:t>rule       → 'rule' ID '{' condition action '}'</a:t>
            </a:r>
          </a:p>
          <a:p>
            <a:pPr marL="0" indent="0">
              <a:buNone/>
            </a:pPr>
            <a:r>
              <a:rPr dirty="0"/>
              <a:t>condition  → 'when' expr</a:t>
            </a:r>
          </a:p>
          <a:p>
            <a:pPr marL="0" indent="0">
              <a:buNone/>
            </a:pPr>
            <a:r>
              <a:rPr dirty="0"/>
              <a:t>action     → 'then' assignment</a:t>
            </a:r>
          </a:p>
          <a:p>
            <a:pPr marL="0" indent="0">
              <a:buNone/>
            </a:pPr>
            <a:r>
              <a:rPr dirty="0"/>
              <a:t>assignment → ID '=' NUMBER</a:t>
            </a:r>
          </a:p>
          <a:p>
            <a:pPr marL="0" indent="0">
              <a:buNone/>
            </a:pPr>
            <a:r>
              <a:rPr dirty="0"/>
              <a:t>expr       → ID OP NUMBER</a:t>
            </a:r>
          </a:p>
          <a:p>
            <a:pPr marL="0" indent="0">
              <a:buNone/>
            </a:pPr>
            <a:r>
              <a:rPr dirty="0"/>
              <a:t>OP         → '&gt;' | '&lt;' | '==' | '&gt;=' | '&lt;='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Grammar </a:t>
            </a:r>
            <a:r>
              <a:rPr dirty="0" err="1"/>
              <a:t>ini</a:t>
            </a:r>
            <a:r>
              <a:rPr dirty="0"/>
              <a:t>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contoh</a:t>
            </a:r>
            <a:r>
              <a:rPr dirty="0"/>
              <a:t> Context-Free Grammar (CFG).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 (Abstract Syntax Tree)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AST </a:t>
            </a:r>
            <a:r>
              <a:rPr dirty="0" err="1"/>
              <a:t>untuk</a:t>
            </a:r>
            <a:r>
              <a:rPr dirty="0"/>
              <a:t> rule R1:</a:t>
            </a:r>
          </a:p>
          <a:p>
            <a:pPr marL="400050" lvl="1" indent="0">
              <a:buNone/>
            </a:pPr>
            <a:r>
              <a:rPr dirty="0"/>
              <a:t>Rule(name="R1",</a:t>
            </a:r>
            <a:endParaRPr lang="en-ID" dirty="0"/>
          </a:p>
          <a:p>
            <a:pPr marL="622300" lvl="1" indent="0">
              <a:buNone/>
            </a:pPr>
            <a:r>
              <a:rPr lang="en-ID" dirty="0"/>
              <a:t>condition = Condition(var="total", op="&gt;",  value=500000),</a:t>
            </a:r>
          </a:p>
          <a:p>
            <a:pPr marL="400050" lvl="1" indent="0">
              <a:buNone/>
            </a:pPr>
            <a:r>
              <a:rPr dirty="0"/>
              <a:t>  action = Assignment(var="discount", value=10)</a:t>
            </a:r>
          </a:p>
          <a:p>
            <a:pPr marL="400050" lvl="1" indent="0">
              <a:buNone/>
            </a:pP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Node AST </a:t>
            </a:r>
            <a:r>
              <a:rPr dirty="0" err="1"/>
              <a:t>mewakili</a:t>
            </a:r>
            <a:r>
              <a:rPr dirty="0"/>
              <a:t> </a:t>
            </a:r>
            <a:r>
              <a:rPr dirty="0" err="1"/>
              <a:t>konsep</a:t>
            </a:r>
            <a:r>
              <a:rPr dirty="0"/>
              <a:t> domain, </a:t>
            </a:r>
            <a:r>
              <a:rPr dirty="0" err="1"/>
              <a:t>bukan</a:t>
            </a:r>
            <a:r>
              <a:rPr dirty="0"/>
              <a:t> </a:t>
            </a:r>
            <a:r>
              <a:rPr dirty="0" err="1"/>
              <a:t>sekadar</a:t>
            </a:r>
            <a:r>
              <a:rPr dirty="0"/>
              <a:t> </a:t>
            </a:r>
            <a:r>
              <a:rPr dirty="0" err="1"/>
              <a:t>operasi</a:t>
            </a:r>
            <a:r>
              <a:rPr dirty="0"/>
              <a:t> </a:t>
            </a:r>
            <a:r>
              <a:rPr dirty="0" err="1"/>
              <a:t>aritmetika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Aturan Semantik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110" y="1600200"/>
            <a:ext cx="74295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Semantic rules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PromoLang</a:t>
            </a:r>
            <a:r>
              <a:rPr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 err="1"/>
              <a:t>Variabel</a:t>
            </a:r>
            <a:r>
              <a:rPr dirty="0"/>
              <a:t> yang </a:t>
            </a:r>
            <a:r>
              <a:rPr dirty="0" err="1"/>
              <a:t>digunakan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valid (total, discount).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Nilai </a:t>
            </a:r>
            <a:r>
              <a:rPr dirty="0" err="1"/>
              <a:t>diskon</a:t>
            </a:r>
            <a:r>
              <a:rPr dirty="0"/>
              <a:t> </a:t>
            </a:r>
            <a:r>
              <a:rPr dirty="0" err="1"/>
              <a:t>harus</a:t>
            </a:r>
            <a:r>
              <a:rPr dirty="0"/>
              <a:t> di </a:t>
            </a:r>
            <a:r>
              <a:rPr dirty="0" err="1"/>
              <a:t>antara</a:t>
            </a:r>
            <a:r>
              <a:rPr dirty="0"/>
              <a:t> 0–100.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boleh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</a:t>
            </a:r>
            <a:r>
              <a:rPr dirty="0" err="1"/>
              <a:t>aturan</a:t>
            </a:r>
            <a:r>
              <a:rPr dirty="0"/>
              <a:t> yang </a:t>
            </a:r>
            <a:r>
              <a:rPr dirty="0" err="1"/>
              <a:t>saling</a:t>
            </a:r>
            <a:r>
              <a:rPr dirty="0"/>
              <a:t> </a:t>
            </a:r>
            <a:r>
              <a:rPr dirty="0" err="1"/>
              <a:t>tumpang</a:t>
            </a:r>
            <a:r>
              <a:rPr dirty="0"/>
              <a:t> </a:t>
            </a:r>
            <a:r>
              <a:rPr dirty="0" err="1"/>
              <a:t>tindih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→ Sama </a:t>
            </a:r>
            <a:r>
              <a:rPr dirty="0" err="1"/>
              <a:t>seperti</a:t>
            </a:r>
            <a:r>
              <a:rPr dirty="0"/>
              <a:t> semantic analysis pada compiler, </a:t>
            </a:r>
            <a:r>
              <a:rPr dirty="0" err="1"/>
              <a:t>tapi</a:t>
            </a:r>
            <a:r>
              <a:rPr dirty="0"/>
              <a:t> </a:t>
            </a:r>
            <a:r>
              <a:rPr dirty="0" err="1"/>
              <a:t>berbasis</a:t>
            </a:r>
            <a:r>
              <a:rPr dirty="0"/>
              <a:t> domain </a:t>
            </a:r>
            <a:r>
              <a:rPr dirty="0" err="1"/>
              <a:t>bisnis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Semantic Checker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rules = [</a:t>
            </a:r>
          </a:p>
          <a:p>
            <a:pPr marL="0" indent="0">
              <a:buNone/>
            </a:pPr>
            <a:r>
              <a:rPr dirty="0"/>
              <a:t>  {"name": "R1", "</a:t>
            </a:r>
            <a:r>
              <a:rPr dirty="0" err="1"/>
              <a:t>cond</a:t>
            </a:r>
            <a:r>
              <a:rPr dirty="0"/>
              <a:t>": ("&gt;", 500000), "discount": 10},</a:t>
            </a:r>
          </a:p>
          <a:p>
            <a:pPr marL="0" indent="0">
              <a:buNone/>
            </a:pPr>
            <a:r>
              <a:rPr dirty="0"/>
              <a:t>  {"name": "R2", "</a:t>
            </a:r>
            <a:r>
              <a:rPr dirty="0" err="1"/>
              <a:t>cond</a:t>
            </a:r>
            <a:r>
              <a:rPr dirty="0"/>
              <a:t>": ("&lt;", 100000), "discount": 0}</a:t>
            </a:r>
          </a:p>
          <a:p>
            <a:pPr marL="0" indent="0">
              <a:buNone/>
            </a:pPr>
            <a:r>
              <a:rPr dirty="0"/>
              <a:t>]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def </a:t>
            </a:r>
            <a:r>
              <a:rPr dirty="0" err="1"/>
              <a:t>semantic_check</a:t>
            </a:r>
            <a:r>
              <a:rPr dirty="0"/>
              <a:t>(rules):</a:t>
            </a:r>
          </a:p>
          <a:p>
            <a:pPr marL="0" indent="0">
              <a:buNone/>
            </a:pPr>
            <a:r>
              <a:rPr dirty="0"/>
              <a:t>    for r in rules:</a:t>
            </a:r>
          </a:p>
          <a:p>
            <a:pPr marL="0" indent="0">
              <a:buNone/>
            </a:pPr>
            <a:r>
              <a:rPr dirty="0"/>
              <a:t>        if not (0 &lt;= r['discount'] &lt;= 100):</a:t>
            </a:r>
          </a:p>
          <a:p>
            <a:pPr marL="0" indent="0">
              <a:buNone/>
            </a:pPr>
            <a:r>
              <a:rPr dirty="0"/>
              <a:t>            print(</a:t>
            </a:r>
            <a:r>
              <a:rPr dirty="0" err="1"/>
              <a:t>f"Error</a:t>
            </a:r>
            <a:r>
              <a:rPr dirty="0"/>
              <a:t> in {r['name']}: invalid discount {r['discount']}")</a:t>
            </a:r>
          </a:p>
          <a:p>
            <a:pPr marL="0" indent="0">
              <a:buNone/>
            </a:pPr>
            <a:r>
              <a:rPr dirty="0"/>
              <a:t>    print('Check </a:t>
            </a:r>
            <a:r>
              <a:rPr dirty="0" err="1"/>
              <a:t>selesai</a:t>
            </a:r>
            <a:r>
              <a:rPr dirty="0"/>
              <a:t>.')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Proses </a:t>
            </a:r>
            <a:r>
              <a:rPr lang="en-US" dirty="0" err="1"/>
              <a:t>Kompilasi</a:t>
            </a:r>
            <a:r>
              <a:rPr lang="en-US" dirty="0"/>
              <a:t> pada </a:t>
            </a:r>
            <a:r>
              <a:rPr dirty="0"/>
              <a:t>DSL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 err="1"/>
              <a:t>Tahap</a:t>
            </a:r>
            <a:r>
              <a:rPr dirty="0"/>
              <a:t> DSL </a:t>
            </a:r>
            <a:r>
              <a:rPr dirty="0" err="1"/>
              <a:t>mirip</a:t>
            </a:r>
            <a:r>
              <a:rPr dirty="0"/>
              <a:t> proses </a:t>
            </a:r>
            <a:r>
              <a:rPr dirty="0" err="1"/>
              <a:t>kompilasi</a:t>
            </a:r>
            <a:r>
              <a:rPr dirty="0"/>
              <a:t>: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Lexical Analysis → </a:t>
            </a:r>
            <a:r>
              <a:rPr dirty="0" err="1"/>
              <a:t>mengenali</a:t>
            </a:r>
            <a:r>
              <a:rPr dirty="0"/>
              <a:t> token ('rule', 'when', ID, NUMBER)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Syntax Analysis → </a:t>
            </a:r>
            <a:r>
              <a:rPr dirty="0" err="1"/>
              <a:t>membentuk</a:t>
            </a:r>
            <a:r>
              <a:rPr dirty="0"/>
              <a:t> AST </a:t>
            </a:r>
            <a:r>
              <a:rPr dirty="0" err="1"/>
              <a:t>sesuai</a:t>
            </a:r>
            <a:r>
              <a:rPr dirty="0"/>
              <a:t> grammar DSL</a:t>
            </a:r>
          </a:p>
          <a:p>
            <a:pPr marL="914400" lvl="1" indent="-514350">
              <a:buFont typeface="+mj-lt"/>
              <a:buAutoNum type="arabicPeriod"/>
            </a:pPr>
            <a:r>
              <a:rPr dirty="0"/>
              <a:t>Semantic Analysis → </a:t>
            </a:r>
            <a:r>
              <a:rPr dirty="0" err="1"/>
              <a:t>memeriksa</a:t>
            </a:r>
            <a:r>
              <a:rPr dirty="0"/>
              <a:t> </a:t>
            </a:r>
            <a:r>
              <a:rPr dirty="0" err="1"/>
              <a:t>makna</a:t>
            </a:r>
            <a:r>
              <a:rPr dirty="0"/>
              <a:t> domain (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diskon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→ DSL = </a:t>
            </a:r>
            <a:r>
              <a:rPr dirty="0" err="1"/>
              <a:t>penerapan</a:t>
            </a:r>
            <a:r>
              <a:rPr dirty="0"/>
              <a:t> </a:t>
            </a:r>
            <a:r>
              <a:rPr dirty="0" err="1"/>
              <a:t>nyata</a:t>
            </a:r>
            <a:r>
              <a:rPr dirty="0"/>
              <a:t> </a:t>
            </a:r>
            <a:r>
              <a:rPr dirty="0" err="1"/>
              <a:t>teori</a:t>
            </a:r>
            <a:r>
              <a:rPr dirty="0"/>
              <a:t> </a:t>
            </a:r>
            <a:r>
              <a:rPr dirty="0" err="1"/>
              <a:t>kompilasi</a:t>
            </a:r>
            <a:r>
              <a:rPr dirty="0"/>
              <a:t> pada domain </a:t>
            </a:r>
            <a:r>
              <a:rPr dirty="0" err="1"/>
              <a:t>tertentu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B01D-1489-0444-A90F-494622FC0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Mendesain</a:t>
            </a:r>
            <a:r>
              <a:rPr lang="en-US" dirty="0"/>
              <a:t> Domain </a:t>
            </a:r>
            <a:r>
              <a:rPr lang="en-US" dirty="0" err="1"/>
              <a:t>Sederhana</a:t>
            </a:r>
            <a:r>
              <a:rPr lang="en-US" dirty="0"/>
              <a:t>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75C3-D33B-6648-A5CA-9A846FAC8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D" b="1" dirty="0"/>
              <a:t>Latihan 1.1 — </a:t>
            </a:r>
            <a:r>
              <a:rPr lang="en-ID" b="1" dirty="0" err="1"/>
              <a:t>Deskripsi</a:t>
            </a:r>
            <a:r>
              <a:rPr lang="en-ID" b="1" dirty="0"/>
              <a:t> Domain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ID" b="1" dirty="0" err="1"/>
              <a:t>Contoh</a:t>
            </a:r>
            <a:r>
              <a:rPr lang="en-ID" b="1" dirty="0"/>
              <a:t> domain: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Resep</a:t>
            </a:r>
            <a:r>
              <a:rPr lang="en-ID" dirty="0"/>
              <a:t> </a:t>
            </a:r>
            <a:r>
              <a:rPr lang="en-ID" dirty="0" err="1"/>
              <a:t>masakan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Jadwal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</a:t>
            </a:r>
            <a:r>
              <a:rPr lang="en-ID" dirty="0" err="1"/>
              <a:t>harian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Rencana</a:t>
            </a:r>
            <a:r>
              <a:rPr lang="en-ID" dirty="0"/>
              <a:t> </a:t>
            </a:r>
            <a:r>
              <a:rPr lang="en-ID" dirty="0" err="1"/>
              <a:t>perjalanan</a:t>
            </a:r>
            <a:r>
              <a:rPr lang="en-ID" dirty="0"/>
              <a:t> (itinerary)</a:t>
            </a:r>
          </a:p>
          <a:p>
            <a:pPr marL="0" indent="0">
              <a:buNone/>
            </a:pP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peminjaman</a:t>
            </a:r>
            <a:r>
              <a:rPr lang="en-ID" dirty="0"/>
              <a:t> </a:t>
            </a:r>
            <a:r>
              <a:rPr lang="en-ID" dirty="0" err="1"/>
              <a:t>buku</a:t>
            </a:r>
            <a:r>
              <a:rPr lang="en-ID" dirty="0"/>
              <a:t> di </a:t>
            </a:r>
            <a:r>
              <a:rPr lang="en-ID" dirty="0" err="1"/>
              <a:t>perpustakaan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 </a:t>
            </a:r>
            <a:r>
              <a:rPr lang="en-ID" dirty="0" err="1"/>
              <a:t>mahasiswa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Workflow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proyek</a:t>
            </a:r>
            <a:endParaRPr lang="en-ID" dirty="0"/>
          </a:p>
          <a:p>
            <a:pPr marL="0" indent="0">
              <a:buNone/>
            </a:pP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harga</a:t>
            </a:r>
            <a:r>
              <a:rPr lang="en-ID" dirty="0"/>
              <a:t> &amp; </a:t>
            </a:r>
            <a:r>
              <a:rPr lang="en-ID" dirty="0" err="1"/>
              <a:t>diskon</a:t>
            </a:r>
            <a:r>
              <a:rPr lang="en-ID" dirty="0"/>
              <a:t> toko</a:t>
            </a:r>
          </a:p>
          <a:p>
            <a:pPr marL="0" indent="0">
              <a:buNone/>
            </a:pPr>
            <a:endParaRPr lang="en-ID" b="1" dirty="0"/>
          </a:p>
          <a:p>
            <a:pPr marL="0" indent="0">
              <a:buNone/>
            </a:pPr>
            <a:r>
              <a:rPr lang="en-ID" b="1" dirty="0" err="1"/>
              <a:t>Pertanyaan</a:t>
            </a:r>
            <a:r>
              <a:rPr lang="en-ID" b="1" dirty="0"/>
              <a:t> </a:t>
            </a:r>
            <a:r>
              <a:rPr lang="en-ID" b="1" dirty="0" err="1"/>
              <a:t>panduan</a:t>
            </a:r>
            <a:r>
              <a:rPr lang="en-ID" b="1" dirty="0"/>
              <a:t>:</a:t>
            </a:r>
            <a:endParaRPr lang="en-ID" dirty="0"/>
          </a:p>
          <a:p>
            <a:pPr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dirty="0" err="1"/>
              <a:t>utamanya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i="1" dirty="0" err="1"/>
              <a:t>resep</a:t>
            </a:r>
            <a:r>
              <a:rPr lang="en-ID" dirty="0"/>
              <a:t>, </a:t>
            </a:r>
            <a:r>
              <a:rPr lang="en-ID" i="1" dirty="0" err="1"/>
              <a:t>bahan</a:t>
            </a:r>
            <a:r>
              <a:rPr lang="en-ID" dirty="0"/>
              <a:t>, </a:t>
            </a:r>
            <a:r>
              <a:rPr lang="en-ID" i="1" dirty="0" err="1"/>
              <a:t>langkah</a:t>
            </a:r>
            <a:r>
              <a:rPr lang="en-ID" dirty="0"/>
              <a:t>)?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relasinya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i="1" dirty="0" err="1"/>
              <a:t>langkah</a:t>
            </a:r>
            <a:r>
              <a:rPr lang="en-ID" i="1" dirty="0"/>
              <a:t> </a:t>
            </a:r>
            <a:r>
              <a:rPr lang="en-ID" i="1" dirty="0" err="1"/>
              <a:t>tergantung</a:t>
            </a:r>
            <a:r>
              <a:rPr lang="en-ID" i="1" dirty="0"/>
              <a:t> </a:t>
            </a:r>
            <a:r>
              <a:rPr lang="en-ID" i="1" dirty="0" err="1"/>
              <a:t>bahan</a:t>
            </a:r>
            <a:r>
              <a:rPr lang="en-ID" i="1" dirty="0"/>
              <a:t> </a:t>
            </a:r>
            <a:r>
              <a:rPr lang="en-ID" i="1" dirty="0" err="1"/>
              <a:t>tertentu</a:t>
            </a:r>
            <a:r>
              <a:rPr lang="en-ID" dirty="0"/>
              <a:t>)?</a:t>
            </a:r>
          </a:p>
          <a:p>
            <a:pPr>
              <a:buFont typeface="+mj-lt"/>
              <a:buAutoNum type="arabicPeriod"/>
            </a:pPr>
            <a:r>
              <a:rPr lang="en-ID" dirty="0" err="1"/>
              <a:t>Apa</a:t>
            </a:r>
            <a:r>
              <a:rPr lang="en-ID" dirty="0"/>
              <a:t> </a:t>
            </a:r>
            <a:r>
              <a:rPr lang="en-ID" dirty="0" err="1"/>
              <a:t>aturannya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i="1" dirty="0" err="1"/>
              <a:t>durasi</a:t>
            </a:r>
            <a:r>
              <a:rPr lang="en-ID" i="1" dirty="0"/>
              <a:t> </a:t>
            </a:r>
            <a:r>
              <a:rPr lang="en-ID" i="1" dirty="0" err="1"/>
              <a:t>harus</a:t>
            </a:r>
            <a:r>
              <a:rPr lang="en-ID" i="1" dirty="0"/>
              <a:t> </a:t>
            </a:r>
            <a:r>
              <a:rPr lang="en-ID" i="1" dirty="0" err="1"/>
              <a:t>positif</a:t>
            </a:r>
            <a:r>
              <a:rPr lang="en-ID" dirty="0"/>
              <a:t>, </a:t>
            </a:r>
            <a:r>
              <a:rPr lang="en-ID" i="1" dirty="0" err="1"/>
              <a:t>bahan</a:t>
            </a:r>
            <a:r>
              <a:rPr lang="en-ID" i="1" dirty="0"/>
              <a:t> </a:t>
            </a:r>
            <a:r>
              <a:rPr lang="en-ID" i="1" dirty="0" err="1"/>
              <a:t>harus</a:t>
            </a:r>
            <a:r>
              <a:rPr lang="en-ID" i="1" dirty="0"/>
              <a:t> </a:t>
            </a:r>
            <a:r>
              <a:rPr lang="en-ID" i="1" dirty="0" err="1"/>
              <a:t>didefinisikan</a:t>
            </a:r>
            <a:r>
              <a:rPr lang="en-ID" i="1" dirty="0"/>
              <a:t> </a:t>
            </a:r>
            <a:r>
              <a:rPr lang="en-ID" i="1" dirty="0" err="1"/>
              <a:t>dulu</a:t>
            </a:r>
            <a:r>
              <a:rPr lang="en-ID" dirty="0"/>
              <a:t>)?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278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4AA7-4C18-A043-8B78-6FEEA41C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Mendesain</a:t>
            </a:r>
            <a:r>
              <a:rPr lang="en-US" dirty="0"/>
              <a:t> Domain </a:t>
            </a:r>
            <a:r>
              <a:rPr lang="en-US" dirty="0" err="1"/>
              <a:t>Sederhana</a:t>
            </a:r>
            <a:r>
              <a:rPr lang="en-US" dirty="0"/>
              <a:t>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1B0B-C19C-C745-8B98-194178F7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b="1" dirty="0"/>
              <a:t>Latihan 2.1 — </a:t>
            </a:r>
            <a:r>
              <a:rPr lang="en-ID" b="1" dirty="0" err="1"/>
              <a:t>Definisikan</a:t>
            </a:r>
            <a:r>
              <a:rPr lang="en-ID" b="1" dirty="0"/>
              <a:t> Grammar DSL</a:t>
            </a:r>
          </a:p>
          <a:p>
            <a:pPr marL="0" indent="0">
              <a:buNone/>
            </a:pPr>
            <a:r>
              <a:rPr lang="en-ID" dirty="0"/>
              <a:t>Buat grammar (BNF) </a:t>
            </a:r>
            <a:r>
              <a:rPr lang="en-ID" dirty="0" err="1"/>
              <a:t>untuk</a:t>
            </a:r>
            <a:r>
              <a:rPr lang="en-ID" dirty="0"/>
              <a:t> domain yang </a:t>
            </a:r>
            <a:r>
              <a:rPr lang="en-ID" dirty="0" err="1"/>
              <a:t>dipilih</a:t>
            </a:r>
            <a:r>
              <a:rPr lang="en-ID" dirty="0"/>
              <a:t>.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program → recipe+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recipe → 'recipe' ID '{' ingredients steps '}'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ingredients → 'ingredients' '{' item+ '}'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item → ID ':' NUMBER UNIT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steps → 'steps' '{' step+ '}'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step → ID ':' STRING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164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BDE1-F825-734C-B65A-97A78F34B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Mendesain</a:t>
            </a:r>
            <a:r>
              <a:rPr lang="en-US" dirty="0"/>
              <a:t> Domain </a:t>
            </a:r>
            <a:r>
              <a:rPr lang="en-US" dirty="0" err="1"/>
              <a:t>Sederhana</a:t>
            </a:r>
            <a:r>
              <a:rPr lang="en-US" dirty="0"/>
              <a:t>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B3C4-C147-B349-B0BC-741F54606B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 err="1"/>
              <a:t>Contoh</a:t>
            </a:r>
            <a:r>
              <a:rPr lang="en-ID" dirty="0"/>
              <a:t> DSL-</a:t>
            </a:r>
            <a:r>
              <a:rPr lang="en-ID" dirty="0" err="1"/>
              <a:t>nya</a:t>
            </a:r>
            <a:r>
              <a:rPr lang="en-ID" dirty="0"/>
              <a:t>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292AE-7B51-824A-ACDA-C30CD6510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50" y="2227263"/>
            <a:ext cx="47879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72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8346-6277-DD48-9FF0-015499B8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Mendesain</a:t>
            </a:r>
            <a:r>
              <a:rPr lang="en-US" dirty="0"/>
              <a:t> Domain </a:t>
            </a:r>
            <a:r>
              <a:rPr lang="en-US" dirty="0" err="1"/>
              <a:t>Sederhana</a:t>
            </a:r>
            <a:r>
              <a:rPr lang="en-US" dirty="0"/>
              <a:t>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5321-9267-6641-A00C-BD393FCC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Latihan 3.1 — Gambar AST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4CD915-8C45-D140-9DFF-B179F1669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0" y="2413000"/>
            <a:ext cx="52070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705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4E9F-17B3-8045-9141-87100624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Mendesain</a:t>
            </a:r>
            <a:r>
              <a:rPr lang="en-US" dirty="0"/>
              <a:t> Domain </a:t>
            </a:r>
            <a:r>
              <a:rPr lang="en-US" dirty="0" err="1"/>
              <a:t>Sederhana</a:t>
            </a:r>
            <a:r>
              <a:rPr lang="en-US" dirty="0"/>
              <a:t> DSL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2F986-F06F-494B-B454-D1361506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sz="2600" dirty="0"/>
              <a:t>Latihan 4.1 — </a:t>
            </a:r>
            <a:r>
              <a:rPr lang="en-ID" sz="2600" dirty="0" err="1"/>
              <a:t>Tuliskan</a:t>
            </a:r>
            <a:r>
              <a:rPr lang="en-ID" sz="2600" dirty="0"/>
              <a:t> </a:t>
            </a:r>
            <a:r>
              <a:rPr lang="en-ID" sz="2600" dirty="0" err="1"/>
              <a:t>Aturan</a:t>
            </a:r>
            <a:r>
              <a:rPr lang="en-ID" sz="2600" dirty="0"/>
              <a:t> </a:t>
            </a:r>
            <a:r>
              <a:rPr lang="en-ID" sz="2600" dirty="0" err="1"/>
              <a:t>Semantik</a:t>
            </a:r>
            <a:r>
              <a:rPr lang="en-ID" sz="2600" dirty="0"/>
              <a:t> DSL</a:t>
            </a:r>
          </a:p>
          <a:p>
            <a:pPr marL="0" indent="0">
              <a:buNone/>
            </a:pPr>
            <a:r>
              <a:rPr lang="en-ID" sz="2600" b="1" dirty="0" err="1"/>
              <a:t>Contoh</a:t>
            </a:r>
            <a:r>
              <a:rPr lang="en-ID" sz="2600" b="1" dirty="0"/>
              <a:t> (</a:t>
            </a:r>
            <a:r>
              <a:rPr lang="en-ID" sz="2600" b="1" dirty="0" err="1"/>
              <a:t>Resep</a:t>
            </a:r>
            <a:r>
              <a:rPr lang="en-ID" sz="2600" b="1" dirty="0"/>
              <a:t> DSL):</a:t>
            </a:r>
            <a:endParaRPr lang="en-ID" sz="2600" dirty="0"/>
          </a:p>
          <a:p>
            <a:pPr lvl="1">
              <a:buFont typeface="+mj-lt"/>
              <a:buAutoNum type="arabicPeriod"/>
            </a:pPr>
            <a:r>
              <a:rPr lang="en-ID" sz="2200" dirty="0" err="1"/>
              <a:t>Semua</a:t>
            </a:r>
            <a:r>
              <a:rPr lang="en-ID" sz="2200" dirty="0"/>
              <a:t> item </a:t>
            </a:r>
            <a:r>
              <a:rPr lang="en-ID" sz="2200" dirty="0" err="1"/>
              <a:t>bahan</a:t>
            </a:r>
            <a:r>
              <a:rPr lang="en-ID" sz="2200" dirty="0"/>
              <a:t> </a:t>
            </a:r>
            <a:r>
              <a:rPr lang="en-ID" sz="2200" dirty="0" err="1"/>
              <a:t>harus</a:t>
            </a:r>
            <a:r>
              <a:rPr lang="en-ID" sz="2200" dirty="0"/>
              <a:t> punya </a:t>
            </a:r>
            <a:r>
              <a:rPr lang="en-ID" sz="2200" dirty="0" err="1"/>
              <a:t>satuan</a:t>
            </a:r>
            <a:r>
              <a:rPr lang="en-ID" sz="2200" dirty="0"/>
              <a:t> valid (pcs, gram, </a:t>
            </a:r>
            <a:r>
              <a:rPr lang="en-ID" sz="2200" dirty="0" err="1"/>
              <a:t>liter</a:t>
            </a:r>
            <a:r>
              <a:rPr lang="en-ID" sz="2200" dirty="0"/>
              <a:t>).</a:t>
            </a:r>
          </a:p>
          <a:p>
            <a:pPr lvl="1">
              <a:buFont typeface="+mj-lt"/>
              <a:buAutoNum type="arabicPeriod"/>
            </a:pPr>
            <a:r>
              <a:rPr lang="en-ID" sz="2200" dirty="0"/>
              <a:t>Langkah </a:t>
            </a:r>
            <a:r>
              <a:rPr lang="en-ID" sz="2200" dirty="0" err="1"/>
              <a:t>harus</a:t>
            </a:r>
            <a:r>
              <a:rPr lang="en-ID" sz="2200" dirty="0"/>
              <a:t> </a:t>
            </a:r>
            <a:r>
              <a:rPr lang="en-ID" sz="2200" dirty="0" err="1"/>
              <a:t>didefinisikan</a:t>
            </a:r>
            <a:r>
              <a:rPr lang="en-ID" sz="2200" dirty="0"/>
              <a:t> minimal </a:t>
            </a:r>
            <a:r>
              <a:rPr lang="en-ID" sz="2200" dirty="0" err="1"/>
              <a:t>satu</a:t>
            </a:r>
            <a:r>
              <a:rPr lang="en-ID" sz="22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boleh</a:t>
            </a:r>
            <a:r>
              <a:rPr lang="en-ID" sz="2200" dirty="0"/>
              <a:t> </a:t>
            </a:r>
            <a:r>
              <a:rPr lang="en-ID" sz="2200" dirty="0" err="1"/>
              <a:t>ada</a:t>
            </a:r>
            <a:r>
              <a:rPr lang="en-ID" sz="2200" dirty="0"/>
              <a:t> </a:t>
            </a:r>
            <a:r>
              <a:rPr lang="en-ID" sz="2200" dirty="0" err="1"/>
              <a:t>bahan</a:t>
            </a:r>
            <a:r>
              <a:rPr lang="en-ID" sz="2200" dirty="0"/>
              <a:t> </a:t>
            </a:r>
            <a:r>
              <a:rPr lang="en-ID" sz="2200" dirty="0" err="1"/>
              <a:t>duplikat</a:t>
            </a:r>
            <a:r>
              <a:rPr lang="en-ID" sz="22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ID" sz="2200" dirty="0" err="1"/>
              <a:t>Setiap</a:t>
            </a:r>
            <a:r>
              <a:rPr lang="en-ID" sz="2200" dirty="0"/>
              <a:t> </a:t>
            </a:r>
            <a:r>
              <a:rPr lang="en-ID" sz="2200" dirty="0" err="1"/>
              <a:t>langkah</a:t>
            </a:r>
            <a:r>
              <a:rPr lang="en-ID" sz="2200" dirty="0"/>
              <a:t> </a:t>
            </a:r>
            <a:r>
              <a:rPr lang="en-ID" sz="2200" dirty="0" err="1"/>
              <a:t>harus</a:t>
            </a:r>
            <a:r>
              <a:rPr lang="en-ID" sz="2200" dirty="0"/>
              <a:t> </a:t>
            </a:r>
            <a:r>
              <a:rPr lang="en-ID" sz="2200" dirty="0" err="1"/>
              <a:t>berisi</a:t>
            </a:r>
            <a:r>
              <a:rPr lang="en-ID" sz="2200" dirty="0"/>
              <a:t> </a:t>
            </a:r>
            <a:r>
              <a:rPr lang="en-ID" sz="2200" dirty="0" err="1"/>
              <a:t>teks</a:t>
            </a:r>
            <a:r>
              <a:rPr lang="en-ID" sz="2200" dirty="0"/>
              <a:t> non-</a:t>
            </a:r>
            <a:r>
              <a:rPr lang="en-ID" sz="2200" dirty="0" err="1"/>
              <a:t>kosong</a:t>
            </a:r>
            <a:r>
              <a:rPr lang="en-ID" sz="2200" dirty="0"/>
              <a:t>.</a:t>
            </a:r>
          </a:p>
          <a:p>
            <a:pPr marL="0" indent="0">
              <a:buNone/>
            </a:pPr>
            <a:r>
              <a:rPr lang="en-ID" sz="2600" b="1" dirty="0" err="1"/>
              <a:t>Contoh</a:t>
            </a:r>
            <a:r>
              <a:rPr lang="en-ID" sz="2600" b="1" dirty="0"/>
              <a:t> (</a:t>
            </a:r>
            <a:r>
              <a:rPr lang="en-ID" sz="2600" b="1" dirty="0" err="1"/>
              <a:t>Jadwal</a:t>
            </a:r>
            <a:r>
              <a:rPr lang="en-ID" sz="2600" b="1" dirty="0"/>
              <a:t> DSL):</a:t>
            </a:r>
            <a:endParaRPr lang="en-ID" sz="2600" dirty="0"/>
          </a:p>
          <a:p>
            <a:pPr lvl="1">
              <a:buFont typeface="+mj-lt"/>
              <a:buAutoNum type="arabicPeriod"/>
            </a:pPr>
            <a:r>
              <a:rPr lang="en-ID" sz="2200" dirty="0" err="1"/>
              <a:t>Durasi</a:t>
            </a:r>
            <a:r>
              <a:rPr lang="en-ID" sz="2200" dirty="0"/>
              <a:t> </a:t>
            </a:r>
            <a:r>
              <a:rPr lang="en-ID" sz="2200" dirty="0" err="1"/>
              <a:t>kegiatan</a:t>
            </a:r>
            <a:r>
              <a:rPr lang="en-ID" sz="2200" dirty="0"/>
              <a:t> &gt; 0.</a:t>
            </a:r>
          </a:p>
          <a:p>
            <a:pPr lvl="1">
              <a:buFont typeface="+mj-lt"/>
              <a:buAutoNum type="arabicPeriod"/>
            </a:pPr>
            <a:r>
              <a:rPr lang="en-ID" sz="2200" dirty="0" err="1"/>
              <a:t>Tidak</a:t>
            </a:r>
            <a:r>
              <a:rPr lang="en-ID" sz="2200" dirty="0"/>
              <a:t> </a:t>
            </a:r>
            <a:r>
              <a:rPr lang="en-ID" sz="2200" dirty="0" err="1"/>
              <a:t>boleh</a:t>
            </a:r>
            <a:r>
              <a:rPr lang="en-ID" sz="2200" dirty="0"/>
              <a:t> </a:t>
            </a:r>
            <a:r>
              <a:rPr lang="en-ID" sz="2200" dirty="0" err="1"/>
              <a:t>ada</a:t>
            </a:r>
            <a:r>
              <a:rPr lang="en-ID" sz="2200" dirty="0"/>
              <a:t> </a:t>
            </a:r>
            <a:r>
              <a:rPr lang="en-ID" sz="2200" dirty="0" err="1"/>
              <a:t>dua</a:t>
            </a:r>
            <a:r>
              <a:rPr lang="en-ID" sz="2200" dirty="0"/>
              <a:t> </a:t>
            </a:r>
            <a:r>
              <a:rPr lang="en-ID" sz="2200" dirty="0" err="1"/>
              <a:t>kegiatan</a:t>
            </a:r>
            <a:r>
              <a:rPr lang="en-ID" sz="2200" dirty="0"/>
              <a:t> di </a:t>
            </a:r>
            <a:r>
              <a:rPr lang="en-ID" sz="2200" dirty="0" err="1"/>
              <a:t>waktu</a:t>
            </a:r>
            <a:r>
              <a:rPr lang="en-ID" sz="2200" dirty="0"/>
              <a:t> yang </a:t>
            </a:r>
            <a:r>
              <a:rPr lang="en-ID" sz="2200" dirty="0" err="1"/>
              <a:t>sama</a:t>
            </a:r>
            <a:r>
              <a:rPr lang="en-ID" sz="2200" dirty="0"/>
              <a:t>.</a:t>
            </a:r>
          </a:p>
          <a:p>
            <a:pPr lvl="1">
              <a:buFont typeface="+mj-lt"/>
              <a:buAutoNum type="arabicPeriod"/>
            </a:pPr>
            <a:r>
              <a:rPr lang="en-ID" sz="2200" dirty="0" err="1"/>
              <a:t>Urutan</a:t>
            </a:r>
            <a:r>
              <a:rPr lang="en-ID" sz="2200" dirty="0"/>
              <a:t> </a:t>
            </a:r>
            <a:r>
              <a:rPr lang="en-ID" sz="2200" dirty="0" err="1"/>
              <a:t>waktu</a:t>
            </a:r>
            <a:r>
              <a:rPr lang="en-ID" sz="2200" dirty="0"/>
              <a:t> </a:t>
            </a:r>
            <a:r>
              <a:rPr lang="en-ID" sz="2200" dirty="0" err="1"/>
              <a:t>harus</a:t>
            </a:r>
            <a:r>
              <a:rPr lang="en-ID" sz="2200" dirty="0"/>
              <a:t> </a:t>
            </a:r>
            <a:r>
              <a:rPr lang="en-ID" sz="2200" dirty="0" err="1"/>
              <a:t>meningkat</a:t>
            </a:r>
            <a:r>
              <a:rPr lang="en-ID" sz="2200" dirty="0"/>
              <a:t>.</a:t>
            </a:r>
          </a:p>
          <a:p>
            <a:pPr marL="0" indent="0">
              <a:buNone/>
            </a:pPr>
            <a:r>
              <a:rPr lang="en-ID" dirty="0" err="1"/>
              <a:t>Aturan-aturan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= </a:t>
            </a:r>
            <a:r>
              <a:rPr lang="en-ID" dirty="0" err="1"/>
              <a:t>bentuk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b="1" dirty="0"/>
              <a:t>semantic analysis</a:t>
            </a:r>
            <a:r>
              <a:rPr lang="en-ID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0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1144</Words>
  <Application>Microsoft Macintosh PowerPoint</Application>
  <PresentationFormat>On-screen Show (4:3)</PresentationFormat>
  <Paragraphs>172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Wingdings</vt:lpstr>
      <vt:lpstr>Office Theme</vt:lpstr>
      <vt:lpstr>Pengantar Domain-Specific Language (DSL)</vt:lpstr>
      <vt:lpstr>Motivasi: Mengapa DSL?</vt:lpstr>
      <vt:lpstr>Apa Itu Domain-Specific Language?</vt:lpstr>
      <vt:lpstr>Domain Spesific Language</vt:lpstr>
      <vt:lpstr>Contoh Grammar DSL (Workflow)</vt:lpstr>
      <vt:lpstr>AST untuk DSL Workflow</vt:lpstr>
      <vt:lpstr>Aturan Semantik dalam DSL</vt:lpstr>
      <vt:lpstr>Pipeline Analisis DSL</vt:lpstr>
      <vt:lpstr>Contoh DSL dari Penelitian</vt:lpstr>
      <vt:lpstr>DSL: PromoLang (Aturan Diskon Toko)</vt:lpstr>
      <vt:lpstr>Grammar DSL (BNF)</vt:lpstr>
      <vt:lpstr>AST (Abstract Syntax Tree)</vt:lpstr>
      <vt:lpstr>Aturan Semantik Domain</vt:lpstr>
      <vt:lpstr>Contoh Semantic Checker (Python)</vt:lpstr>
      <vt:lpstr>Proses Kompilasi pada DSL</vt:lpstr>
      <vt:lpstr>Mendesain Domain Sederhana DSL</vt:lpstr>
      <vt:lpstr>Mendesain Domain Sederhana DSL</vt:lpstr>
      <vt:lpstr>Mendesain Domain Sederhana DSL</vt:lpstr>
      <vt:lpstr>Mendesain Domain Sederhana DSL</vt:lpstr>
      <vt:lpstr>Mendesain Domain Sederhana DSL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Pengantar Domain-Specific Language (DSL)</dc:title>
  <dc:subject/>
  <dc:creator/>
  <cp:keywords/>
  <dc:description>generated using python-pptx</dc:description>
  <cp:lastModifiedBy>Rahil Jumiyani</cp:lastModifiedBy>
  <cp:revision>2</cp:revision>
  <dcterms:created xsi:type="dcterms:W3CDTF">2013-01-27T09:14:16Z</dcterms:created>
  <dcterms:modified xsi:type="dcterms:W3CDTF">2025-10-14T02:27:16Z</dcterms:modified>
  <cp:category/>
</cp:coreProperties>
</file>